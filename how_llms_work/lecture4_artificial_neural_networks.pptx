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3"/>
  </p:notesMasterIdLst>
  <p:sldIdLst>
    <p:sldId id="256" r:id="rId2"/>
    <p:sldId id="424" r:id="rId3"/>
    <p:sldId id="441" r:id="rId4"/>
    <p:sldId id="425" r:id="rId5"/>
    <p:sldId id="426" r:id="rId6"/>
    <p:sldId id="427" r:id="rId7"/>
    <p:sldId id="428" r:id="rId8"/>
    <p:sldId id="429" r:id="rId9"/>
    <p:sldId id="430" r:id="rId10"/>
    <p:sldId id="431" r:id="rId11"/>
    <p:sldId id="43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32C"/>
    <a:srgbClr val="FF552E"/>
    <a:srgbClr val="FFEAE8"/>
    <a:srgbClr val="FFD2CD"/>
    <a:srgbClr val="E84A27"/>
    <a:srgbClr val="FFEAE9"/>
    <a:srgbClr val="9DBBA6"/>
    <a:srgbClr val="131F33"/>
    <a:srgbClr val="132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4"/>
    <p:restoredTop sz="70340"/>
  </p:normalViewPr>
  <p:slideViewPr>
    <p:cSldViewPr snapToGrid="0" snapToObjects="1">
      <p:cViewPr varScale="1">
        <p:scale>
          <a:sx n="83" d="100"/>
          <a:sy n="83" d="100"/>
        </p:scale>
        <p:origin x="2016" y="208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27BB7B-08EE-CB4F-8754-6730DF777C4A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9A92AD4D-7F4D-D042-9F16-C52F2D48F6CF}">
      <dgm:prSet phldrT="[Text]"/>
      <dgm:spPr/>
      <dgm:t>
        <a:bodyPr/>
        <a:lstStyle/>
        <a:p>
          <a:r>
            <a:rPr lang="en-US"/>
            <a:t>Language</a:t>
          </a:r>
          <a:br>
            <a:rPr lang="en-US"/>
          </a:br>
          <a:r>
            <a:rPr lang="en-US"/>
            <a:t>Models</a:t>
          </a:r>
        </a:p>
      </dgm:t>
    </dgm:pt>
    <dgm:pt modelId="{89EE9AF8-CE8B-F644-A1E0-E0F1B3DA9895}" type="parTrans" cxnId="{0A2D4D6C-EA1C-EE4F-BE8E-1105DCF1CEAD}">
      <dgm:prSet/>
      <dgm:spPr/>
      <dgm:t>
        <a:bodyPr/>
        <a:lstStyle/>
        <a:p>
          <a:endParaRPr lang="en-US"/>
        </a:p>
      </dgm:t>
    </dgm:pt>
    <dgm:pt modelId="{3A35D6E0-811F-2940-897B-A1DC29AB01B9}" type="sibTrans" cxnId="{0A2D4D6C-EA1C-EE4F-BE8E-1105DCF1CEAD}">
      <dgm:prSet/>
      <dgm:spPr/>
      <dgm:t>
        <a:bodyPr/>
        <a:lstStyle/>
        <a:p>
          <a:endParaRPr lang="en-US"/>
        </a:p>
      </dgm:t>
    </dgm:pt>
    <dgm:pt modelId="{0FE1D946-1FF0-D84C-B5BF-5C6E11EC811B}">
      <dgm:prSet phldrT="[Text]"/>
      <dgm:spPr>
        <a:ln w="63500">
          <a:solidFill>
            <a:schemeClr val="accent6">
              <a:lumMod val="10000"/>
            </a:schemeClr>
          </a:solidFill>
        </a:ln>
      </dgm:spPr>
      <dgm:t>
        <a:bodyPr/>
        <a:lstStyle/>
        <a:p>
          <a:r>
            <a:rPr lang="en-US"/>
            <a:t>Artificial Neural Networks</a:t>
          </a:r>
        </a:p>
      </dgm:t>
    </dgm:pt>
    <dgm:pt modelId="{D1F241E3-91BD-C54D-ABBC-7A41B50C52E7}" type="parTrans" cxnId="{7C14EFEF-0BF3-B04C-8D30-69A3A3B73625}">
      <dgm:prSet/>
      <dgm:spPr/>
      <dgm:t>
        <a:bodyPr/>
        <a:lstStyle/>
        <a:p>
          <a:endParaRPr lang="en-US"/>
        </a:p>
      </dgm:t>
    </dgm:pt>
    <dgm:pt modelId="{31FD5B61-2229-054F-8E7A-F18DF9728D05}" type="sibTrans" cxnId="{7C14EFEF-0BF3-B04C-8D30-69A3A3B73625}">
      <dgm:prSet/>
      <dgm:spPr/>
      <dgm:t>
        <a:bodyPr/>
        <a:lstStyle/>
        <a:p>
          <a:endParaRPr lang="en-US"/>
        </a:p>
      </dgm:t>
    </dgm:pt>
    <dgm:pt modelId="{D8809C03-E204-B847-B9B7-34B54E218CC8}">
      <dgm:prSet phldrT="[Text]"/>
      <dgm:spPr/>
      <dgm:t>
        <a:bodyPr/>
        <a:lstStyle/>
        <a:p>
          <a:r>
            <a:rPr lang="en-US" dirty="0"/>
            <a:t>Distributional Knowledge</a:t>
          </a:r>
        </a:p>
      </dgm:t>
    </dgm:pt>
    <dgm:pt modelId="{63DB7361-376E-8F44-9912-6E1B502058CA}" type="parTrans" cxnId="{9ACFCF02-4E22-5346-B203-676D398B7324}">
      <dgm:prSet/>
      <dgm:spPr/>
      <dgm:t>
        <a:bodyPr/>
        <a:lstStyle/>
        <a:p>
          <a:endParaRPr lang="en-US"/>
        </a:p>
      </dgm:t>
    </dgm:pt>
    <dgm:pt modelId="{D41CB43B-19B0-694F-AE40-5970004B857D}" type="sibTrans" cxnId="{9ACFCF02-4E22-5346-B203-676D398B7324}">
      <dgm:prSet/>
      <dgm:spPr/>
      <dgm:t>
        <a:bodyPr/>
        <a:lstStyle/>
        <a:p>
          <a:endParaRPr lang="en-US"/>
        </a:p>
      </dgm:t>
    </dgm:pt>
    <dgm:pt modelId="{B7BC4DDB-B6CD-0343-8C23-F3C88B70C40E}" type="pres">
      <dgm:prSet presAssocID="{5527BB7B-08EE-CB4F-8754-6730DF777C4A}" presName="compositeShape" presStyleCnt="0">
        <dgm:presLayoutVars>
          <dgm:chMax val="7"/>
          <dgm:dir/>
          <dgm:resizeHandles val="exact"/>
        </dgm:presLayoutVars>
      </dgm:prSet>
      <dgm:spPr/>
    </dgm:pt>
    <dgm:pt modelId="{DAFC9798-A29F-FB41-9156-9B3CAF4EE9F7}" type="pres">
      <dgm:prSet presAssocID="{9A92AD4D-7F4D-D042-9F16-C52F2D48F6CF}" presName="circ1" presStyleLbl="vennNode1" presStyleIdx="0" presStyleCnt="3"/>
      <dgm:spPr/>
    </dgm:pt>
    <dgm:pt modelId="{BC26F006-3743-0345-B62B-958F4B0DCEF6}" type="pres">
      <dgm:prSet presAssocID="{9A92AD4D-7F4D-D042-9F16-C52F2D48F6C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57F53B3-CCC8-8644-9DC4-4FE9B62BFF9B}" type="pres">
      <dgm:prSet presAssocID="{0FE1D946-1FF0-D84C-B5BF-5C6E11EC811B}" presName="circ2" presStyleLbl="vennNode1" presStyleIdx="1" presStyleCnt="3"/>
      <dgm:spPr/>
    </dgm:pt>
    <dgm:pt modelId="{AF2E5719-6BC0-F64F-8DEF-1496E8BF24F2}" type="pres">
      <dgm:prSet presAssocID="{0FE1D946-1FF0-D84C-B5BF-5C6E11EC811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CB0259C-99F4-714C-AE25-B2CE70CA1641}" type="pres">
      <dgm:prSet presAssocID="{D8809C03-E204-B847-B9B7-34B54E218CC8}" presName="circ3" presStyleLbl="vennNode1" presStyleIdx="2" presStyleCnt="3"/>
      <dgm:spPr/>
    </dgm:pt>
    <dgm:pt modelId="{EFF4213F-5BFE-7843-A602-ED33E4A1400D}" type="pres">
      <dgm:prSet presAssocID="{D8809C03-E204-B847-B9B7-34B54E218CC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9ACFCF02-4E22-5346-B203-676D398B7324}" srcId="{5527BB7B-08EE-CB4F-8754-6730DF777C4A}" destId="{D8809C03-E204-B847-B9B7-34B54E218CC8}" srcOrd="2" destOrd="0" parTransId="{63DB7361-376E-8F44-9912-6E1B502058CA}" sibTransId="{D41CB43B-19B0-694F-AE40-5970004B857D}"/>
    <dgm:cxn modelId="{1DF15222-C275-FB4F-8A7D-8672FA1CE874}" type="presOf" srcId="{5527BB7B-08EE-CB4F-8754-6730DF777C4A}" destId="{B7BC4DDB-B6CD-0343-8C23-F3C88B70C40E}" srcOrd="0" destOrd="0" presId="urn:microsoft.com/office/officeart/2005/8/layout/venn1"/>
    <dgm:cxn modelId="{5A315455-8392-AF47-A75F-C380D0937E14}" type="presOf" srcId="{0FE1D946-1FF0-D84C-B5BF-5C6E11EC811B}" destId="{AF2E5719-6BC0-F64F-8DEF-1496E8BF24F2}" srcOrd="1" destOrd="0" presId="urn:microsoft.com/office/officeart/2005/8/layout/venn1"/>
    <dgm:cxn modelId="{4F786F69-B31E-D64D-8C1B-917B05CDFEF7}" type="presOf" srcId="{D8809C03-E204-B847-B9B7-34B54E218CC8}" destId="{FCB0259C-99F4-714C-AE25-B2CE70CA1641}" srcOrd="0" destOrd="0" presId="urn:microsoft.com/office/officeart/2005/8/layout/venn1"/>
    <dgm:cxn modelId="{0A2D4D6C-EA1C-EE4F-BE8E-1105DCF1CEAD}" srcId="{5527BB7B-08EE-CB4F-8754-6730DF777C4A}" destId="{9A92AD4D-7F4D-D042-9F16-C52F2D48F6CF}" srcOrd="0" destOrd="0" parTransId="{89EE9AF8-CE8B-F644-A1E0-E0F1B3DA9895}" sibTransId="{3A35D6E0-811F-2940-897B-A1DC29AB01B9}"/>
    <dgm:cxn modelId="{5F05037E-5733-9D48-AE07-9C6AA95F8FAD}" type="presOf" srcId="{0FE1D946-1FF0-D84C-B5BF-5C6E11EC811B}" destId="{A57F53B3-CCC8-8644-9DC4-4FE9B62BFF9B}" srcOrd="0" destOrd="0" presId="urn:microsoft.com/office/officeart/2005/8/layout/venn1"/>
    <dgm:cxn modelId="{21D20594-B278-EE42-A893-0599C09B492E}" type="presOf" srcId="{D8809C03-E204-B847-B9B7-34B54E218CC8}" destId="{EFF4213F-5BFE-7843-A602-ED33E4A1400D}" srcOrd="1" destOrd="0" presId="urn:microsoft.com/office/officeart/2005/8/layout/venn1"/>
    <dgm:cxn modelId="{31FAE795-40C3-A646-A4AC-27397C7C1E49}" type="presOf" srcId="{9A92AD4D-7F4D-D042-9F16-C52F2D48F6CF}" destId="{DAFC9798-A29F-FB41-9156-9B3CAF4EE9F7}" srcOrd="0" destOrd="0" presId="urn:microsoft.com/office/officeart/2005/8/layout/venn1"/>
    <dgm:cxn modelId="{7C14EFEF-0BF3-B04C-8D30-69A3A3B73625}" srcId="{5527BB7B-08EE-CB4F-8754-6730DF777C4A}" destId="{0FE1D946-1FF0-D84C-B5BF-5C6E11EC811B}" srcOrd="1" destOrd="0" parTransId="{D1F241E3-91BD-C54D-ABBC-7A41B50C52E7}" sibTransId="{31FD5B61-2229-054F-8E7A-F18DF9728D05}"/>
    <dgm:cxn modelId="{367442FF-5C2F-384D-885C-A514C1808DBC}" type="presOf" srcId="{9A92AD4D-7F4D-D042-9F16-C52F2D48F6CF}" destId="{BC26F006-3743-0345-B62B-958F4B0DCEF6}" srcOrd="1" destOrd="0" presId="urn:microsoft.com/office/officeart/2005/8/layout/venn1"/>
    <dgm:cxn modelId="{7E07C2E5-DA3C-7342-9077-AAF8F41D09F1}" type="presParOf" srcId="{B7BC4DDB-B6CD-0343-8C23-F3C88B70C40E}" destId="{DAFC9798-A29F-FB41-9156-9B3CAF4EE9F7}" srcOrd="0" destOrd="0" presId="urn:microsoft.com/office/officeart/2005/8/layout/venn1"/>
    <dgm:cxn modelId="{7EF5FA5D-1CC9-9648-B8FA-9C3F2053B34B}" type="presParOf" srcId="{B7BC4DDB-B6CD-0343-8C23-F3C88B70C40E}" destId="{BC26F006-3743-0345-B62B-958F4B0DCEF6}" srcOrd="1" destOrd="0" presId="urn:microsoft.com/office/officeart/2005/8/layout/venn1"/>
    <dgm:cxn modelId="{B765D673-79A0-5746-85C9-8AD661DC9494}" type="presParOf" srcId="{B7BC4DDB-B6CD-0343-8C23-F3C88B70C40E}" destId="{A57F53B3-CCC8-8644-9DC4-4FE9B62BFF9B}" srcOrd="2" destOrd="0" presId="urn:microsoft.com/office/officeart/2005/8/layout/venn1"/>
    <dgm:cxn modelId="{5FEF2525-ABB0-FC4D-9FA8-A95B0DCBDF58}" type="presParOf" srcId="{B7BC4DDB-B6CD-0343-8C23-F3C88B70C40E}" destId="{AF2E5719-6BC0-F64F-8DEF-1496E8BF24F2}" srcOrd="3" destOrd="0" presId="urn:microsoft.com/office/officeart/2005/8/layout/venn1"/>
    <dgm:cxn modelId="{B112D356-4057-714E-B87B-D1BCF7502A27}" type="presParOf" srcId="{B7BC4DDB-B6CD-0343-8C23-F3C88B70C40E}" destId="{FCB0259C-99F4-714C-AE25-B2CE70CA1641}" srcOrd="4" destOrd="0" presId="urn:microsoft.com/office/officeart/2005/8/layout/venn1"/>
    <dgm:cxn modelId="{1DDB1935-C0D6-A149-9056-683EDB77497E}" type="presParOf" srcId="{B7BC4DDB-B6CD-0343-8C23-F3C88B70C40E}" destId="{EFF4213F-5BFE-7843-A602-ED33E4A1400D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FC9798-A29F-FB41-9156-9B3CAF4EE9F7}">
      <dsp:nvSpPr>
        <dsp:cNvPr id="0" name=""/>
        <dsp:cNvSpPr/>
      </dsp:nvSpPr>
      <dsp:spPr>
        <a:xfrm>
          <a:off x="2650039" y="63962"/>
          <a:ext cx="3070198" cy="30701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Language</a:t>
          </a:r>
          <a:br>
            <a:rPr lang="en-US" sz="2600" kern="1200"/>
          </a:br>
          <a:r>
            <a:rPr lang="en-US" sz="2600" kern="1200"/>
            <a:t>Models</a:t>
          </a:r>
        </a:p>
      </dsp:txBody>
      <dsp:txXfrm>
        <a:off x="3059399" y="601247"/>
        <a:ext cx="2251478" cy="1381589"/>
      </dsp:txXfrm>
    </dsp:sp>
    <dsp:sp modelId="{A57F53B3-CCC8-8644-9DC4-4FE9B62BFF9B}">
      <dsp:nvSpPr>
        <dsp:cNvPr id="0" name=""/>
        <dsp:cNvSpPr/>
      </dsp:nvSpPr>
      <dsp:spPr>
        <a:xfrm>
          <a:off x="3757869" y="1982836"/>
          <a:ext cx="3070198" cy="30701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63500" cap="flat" cmpd="sng" algn="ctr">
          <a:solidFill>
            <a:schemeClr val="accent6">
              <a:lumMod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Artificial Neural Networks</a:t>
          </a:r>
        </a:p>
      </dsp:txBody>
      <dsp:txXfrm>
        <a:off x="4696838" y="2775970"/>
        <a:ext cx="1842118" cy="1688609"/>
      </dsp:txXfrm>
    </dsp:sp>
    <dsp:sp modelId="{FCB0259C-99F4-714C-AE25-B2CE70CA1641}">
      <dsp:nvSpPr>
        <dsp:cNvPr id="0" name=""/>
        <dsp:cNvSpPr/>
      </dsp:nvSpPr>
      <dsp:spPr>
        <a:xfrm>
          <a:off x="1542209" y="1982836"/>
          <a:ext cx="3070198" cy="30701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Distributional Knowledge</a:t>
          </a:r>
        </a:p>
      </dsp:txBody>
      <dsp:txXfrm>
        <a:off x="1831319" y="2775970"/>
        <a:ext cx="1842118" cy="16886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D3E08-CD1E-6345-BF3D-6B539ADC114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32C59-1409-2640-866F-4A1083575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7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52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EC87-B281-2A84-D3DA-525F6679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5DBF5-DD1A-3A7C-9309-271A8AA98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2F98A-4CAE-D1F8-7E7E-DB215302D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02D94-F341-224F-69A3-656B0F839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49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64F60-4A06-0174-DC81-1B3FD55B2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63409C-5A48-C9A0-A91F-27ACB10ED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F65A6-0211-27D8-E1A1-A3B76783F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CE89F-866E-AC18-1DEB-6D50F7280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10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5B550-382D-84AF-7F59-8A1B5A32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E3CC0-F489-2D2B-DA86-95C7104F2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23D5A-DDF9-2B89-004B-F825C4D05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8FFAB-57BD-3200-454F-AE3BA3064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96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DF2CB-11D7-7585-F9DD-7F1FC5AE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EF96C-06B9-BBFD-F874-359D446F0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C48BC-41E1-FE69-0D5F-C2D3721EF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FF72A-3E31-96CD-81B4-3A933DFB1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91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7A2E-BF95-079C-CF3B-EC9DBBB81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3A61D-29CA-2F47-E9A3-F3B27E78A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B865C-E977-30B1-B19D-8FDB380AC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6CFEC-DC23-E9A7-30E4-9E060D2A5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02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18CD9-8F24-CB85-8AB3-B7DADC58C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683B6-E40F-104C-04DB-EF70DCD14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176FA-6A95-004B-141B-80F2B5E08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C4CEA-169B-2295-038C-50D35C951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03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DDD31-26E0-E8DA-138C-83C4E198B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D8DD9-AB56-1F9F-94B1-150C165A8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D8746-C9B2-446E-D1AD-302AF6DF6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C41F9-B7FA-E825-2840-FC29C86A7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40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1E76F-25DA-1330-B6BD-5ED430EFA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B5E01D-78E6-FA3F-FD75-2C7F65F28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E3911-387B-014F-A186-F29CBB833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E3BA7-F03E-230D-1D17-6DFFC853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62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2E951-375E-50DC-593A-E15D679C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EDFF35-F02E-E71B-E40D-76E1EB6BE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C1F26-7E81-EEA3-A766-53362C43A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B795E-D91B-F5E8-4076-4987D2039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80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902FB-0A7B-F41B-5B4C-BAA65E0C3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D2B3D-C6A5-284A-BA3F-746A17BEE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E839C-F2C6-443F-4805-65AE115C1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4D4C1-D3B2-196B-52E0-24712C427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97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4809-F69F-0D48-97F8-9CF76A5308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340" y="1122363"/>
            <a:ext cx="5785769" cy="238760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Title Here:</a:t>
            </a:r>
            <a:b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</a:br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Tell Your</a:t>
            </a:r>
            <a:b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</a:br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Illinois Story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A99F5-1DAB-644E-87BD-7B2BE337D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1340" y="3602038"/>
            <a:ext cx="5785769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E86B4-4E28-5743-B958-4D04BD32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A9BA8F-BF67-344F-9BFA-A8262A79BC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37075" y="5718264"/>
            <a:ext cx="3117850" cy="80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2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210D-E74D-9F46-BBEB-61CE8DBF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7874" y="6095093"/>
            <a:ext cx="2743200" cy="365125"/>
          </a:xfrm>
        </p:spPr>
        <p:txBody>
          <a:bodyPr/>
          <a:lstStyle/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4261-61FB-7142-9417-2F78D3797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23" y="365125"/>
            <a:ext cx="9614263" cy="1325563"/>
          </a:xfrm>
        </p:spPr>
        <p:txBody>
          <a:bodyPr/>
          <a:lstStyle>
            <a:lvl1pPr algn="ctr">
              <a:defRPr b="1" i="0">
                <a:solidFill>
                  <a:srgbClr val="E84A2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Hello.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12F32-5110-BE43-86BA-CB778EC42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23" y="1690688"/>
            <a:ext cx="9614263" cy="3625895"/>
          </a:xfrm>
        </p:spPr>
        <p:txBody>
          <a:bodyPr/>
          <a:lstStyle>
            <a:lvl1pPr>
              <a:defRPr>
                <a:solidFill>
                  <a:srgbClr val="13294B"/>
                </a:solidFill>
              </a:defRPr>
            </a:lvl1pPr>
            <a:lvl2pPr>
              <a:defRPr>
                <a:solidFill>
                  <a:srgbClr val="13294B"/>
                </a:solidFill>
              </a:defRPr>
            </a:lvl2pPr>
            <a:lvl3pPr>
              <a:defRPr>
                <a:solidFill>
                  <a:srgbClr val="13294B"/>
                </a:solidFill>
              </a:defRPr>
            </a:lvl3pPr>
            <a:lvl4pPr>
              <a:defRPr>
                <a:solidFill>
                  <a:srgbClr val="13294B"/>
                </a:solidFill>
              </a:defRPr>
            </a:lvl4pPr>
            <a:lvl5pPr>
              <a:defRPr>
                <a:solidFill>
                  <a:srgbClr val="13294B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6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26ADA6-32C7-6D47-94AB-D149FA9C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FDBC8-5F1C-654A-9325-61F424413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1FB5C-A5C2-4C44-A9DF-4F6A196EC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8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E84A27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3294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3294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3294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294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294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5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83CDB9E-798C-A842-B031-6BFA04385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9571" y="773546"/>
            <a:ext cx="5935859" cy="272025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0000" dirty="0">
                <a:latin typeface="Calibri"/>
                <a:cs typeface="Calibri"/>
              </a:rPr>
              <a:t>PSYC 496</a:t>
            </a:r>
            <a:endParaRPr lang="en-US" sz="1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2F9A5BC-DE40-064D-98AE-B1AA2F27430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017406" y="3472201"/>
            <a:ext cx="8283862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Calibri"/>
                <a:cs typeface="Calibri"/>
              </a:rPr>
              <a:t>Lecture 4: Artificial Neural Networks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87BCB3F-D51B-11CA-8A5C-B653C02DD655}"/>
              </a:ext>
            </a:extLst>
          </p:cNvPr>
          <p:cNvSpPr/>
          <p:nvPr/>
        </p:nvSpPr>
        <p:spPr>
          <a:xfrm>
            <a:off x="443346" y="126307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96C562F-8F13-2516-D9AF-45E75A96A3C5}"/>
              </a:ext>
            </a:extLst>
          </p:cNvPr>
          <p:cNvSpPr/>
          <p:nvPr/>
        </p:nvSpPr>
        <p:spPr>
          <a:xfrm>
            <a:off x="1505528" y="3248890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052EBC-2E12-F996-BB1F-41F23E64F1BE}"/>
              </a:ext>
            </a:extLst>
          </p:cNvPr>
          <p:cNvSpPr/>
          <p:nvPr/>
        </p:nvSpPr>
        <p:spPr>
          <a:xfrm>
            <a:off x="443345" y="331816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4D7291-4D5A-9593-1D85-950EBFC1FF07}"/>
              </a:ext>
            </a:extLst>
          </p:cNvPr>
          <p:cNvSpPr/>
          <p:nvPr/>
        </p:nvSpPr>
        <p:spPr>
          <a:xfrm>
            <a:off x="443346" y="5246253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E91675-03DF-90EE-942D-06C70F754DEE}"/>
              </a:ext>
            </a:extLst>
          </p:cNvPr>
          <p:cNvCxnSpPr/>
          <p:nvPr/>
        </p:nvCxnSpPr>
        <p:spPr>
          <a:xfrm>
            <a:off x="867642" y="2172278"/>
            <a:ext cx="1052944" cy="11106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D74029-D6FE-2938-F6DF-602FCD9AA658}"/>
              </a:ext>
            </a:extLst>
          </p:cNvPr>
          <p:cNvCxnSpPr>
            <a:cxnSpLocks/>
          </p:cNvCxnSpPr>
          <p:nvPr/>
        </p:nvCxnSpPr>
        <p:spPr>
          <a:xfrm>
            <a:off x="879187" y="2172278"/>
            <a:ext cx="25400" cy="11799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831A33E-2612-45D1-F1F0-57371C01F8AB}"/>
              </a:ext>
            </a:extLst>
          </p:cNvPr>
          <p:cNvSpPr/>
          <p:nvPr/>
        </p:nvSpPr>
        <p:spPr>
          <a:xfrm>
            <a:off x="1505528" y="5246253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65D7F4-2920-5911-7086-757F822A07E3}"/>
              </a:ext>
            </a:extLst>
          </p:cNvPr>
          <p:cNvSpPr/>
          <p:nvPr/>
        </p:nvSpPr>
        <p:spPr>
          <a:xfrm>
            <a:off x="2694709" y="524625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E6F4CE-E239-70EB-26D3-C8CB8E270185}"/>
              </a:ext>
            </a:extLst>
          </p:cNvPr>
          <p:cNvCxnSpPr>
            <a:cxnSpLocks/>
          </p:cNvCxnSpPr>
          <p:nvPr/>
        </p:nvCxnSpPr>
        <p:spPr>
          <a:xfrm>
            <a:off x="1941369" y="4169641"/>
            <a:ext cx="1168399" cy="108758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727C65-F6C0-78C9-A469-40AAD8018B82}"/>
              </a:ext>
            </a:extLst>
          </p:cNvPr>
          <p:cNvCxnSpPr>
            <a:cxnSpLocks/>
          </p:cNvCxnSpPr>
          <p:nvPr/>
        </p:nvCxnSpPr>
        <p:spPr>
          <a:xfrm flipH="1">
            <a:off x="1955223" y="4158096"/>
            <a:ext cx="9238" cy="10875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7C2072-1E04-8B83-DAA8-B48C97536A6F}"/>
              </a:ext>
            </a:extLst>
          </p:cNvPr>
          <p:cNvCxnSpPr>
            <a:cxnSpLocks/>
          </p:cNvCxnSpPr>
          <p:nvPr/>
        </p:nvCxnSpPr>
        <p:spPr>
          <a:xfrm>
            <a:off x="890732" y="4227368"/>
            <a:ext cx="13855" cy="101831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58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2B0A-C15A-BFBD-5F93-B950BF3AB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E9AFBAEF-C094-7B1F-7D03-E70859A830A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Distributional Knowledge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39134-A87F-4F01-1A37-0308586B5547}"/>
              </a:ext>
            </a:extLst>
          </p:cNvPr>
          <p:cNvSpPr txBox="1"/>
          <p:nvPr/>
        </p:nvSpPr>
        <p:spPr>
          <a:xfrm>
            <a:off x="307982" y="1136065"/>
            <a:ext cx="11884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Discussion Question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9BB5FD-B663-7D37-E348-897EE4EFBE90}"/>
              </a:ext>
            </a:extLst>
          </p:cNvPr>
          <p:cNvSpPr txBox="1"/>
          <p:nvPr/>
        </p:nvSpPr>
        <p:spPr>
          <a:xfrm>
            <a:off x="307982" y="1757759"/>
            <a:ext cx="1143385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If a learning system (human or AI) had memorized every sequence of language ever produced by all human beings who ever existed, would it be: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good at predicting new sequences of words?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good at answering all questions you could ask it?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good at problems that require intelligence or reasoning?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r>
              <a:rPr lang="en-US" sz="2400" dirty="0"/>
              <a:t>Why or why not?</a:t>
            </a:r>
          </a:p>
        </p:txBody>
      </p:sp>
    </p:spTree>
    <p:extLst>
      <p:ext uri="{BB962C8B-B14F-4D97-AF65-F5344CB8AC3E}">
        <p14:creationId xmlns:p14="http://schemas.microsoft.com/office/powerpoint/2010/main" val="2650086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C1682-3839-856B-657A-A5DEE279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20E35410-839D-048F-FECF-B7E03728670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Big picture: LLMs Sit at an Intersection</a:t>
            </a:r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C4FCF2D-7F9C-46B6-12FE-D4271525AA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482024"/>
              </p:ext>
            </p:extLst>
          </p:nvPr>
        </p:nvGraphicFramePr>
        <p:xfrm>
          <a:off x="2096085" y="735162"/>
          <a:ext cx="8370277" cy="5116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88835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5DFF-CA68-4F8A-D1C2-533292100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B4DD1F11-514F-BD01-31EE-8B29AB6E27F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Artificial Neural Networks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5914A-A3A1-C178-2F13-72698A831F21}"/>
              </a:ext>
            </a:extLst>
          </p:cNvPr>
          <p:cNvSpPr txBox="1"/>
          <p:nvPr/>
        </p:nvSpPr>
        <p:spPr>
          <a:xfrm>
            <a:off x="0" y="763234"/>
            <a:ext cx="11884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Neural networks as function learners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20A35E-F4BC-2F1F-CF2E-63CED1BA0864}"/>
              </a:ext>
            </a:extLst>
          </p:cNvPr>
          <p:cNvSpPr txBox="1"/>
          <p:nvPr/>
        </p:nvSpPr>
        <p:spPr>
          <a:xfrm>
            <a:off x="128791" y="1785894"/>
            <a:ext cx="48970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neural network is a parameterized function that maps inputs to outputs.</a:t>
            </a:r>
          </a:p>
          <a:p>
            <a:endParaRPr lang="en-US" sz="2400" dirty="0"/>
          </a:p>
          <a:p>
            <a:r>
              <a:rPr lang="en-US" sz="2400" dirty="0"/>
              <a:t>Learning means adjusting many weights to reduce prediction error on a training objective.</a:t>
            </a:r>
          </a:p>
          <a:p>
            <a:endParaRPr lang="en-US" sz="2400" dirty="0"/>
          </a:p>
          <a:p>
            <a:r>
              <a:rPr lang="en-US" sz="2400" dirty="0"/>
              <a:t>The key shift is that the system can learn intermediate representations that make the task easier.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CED2C5-D7CB-EC56-BA13-520B27B20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193" y="60667"/>
            <a:ext cx="4063381" cy="24515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7A889F-5385-1D03-C944-183152DF4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570" y="2587715"/>
            <a:ext cx="4635696" cy="435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1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A7FBE-C814-2FB2-E3C3-9D3C35FE8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F817E291-9C67-EEED-6050-84D9AE14592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Artificial Neural Networks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990A6C-61DD-1F12-48D4-1781DE775119}"/>
              </a:ext>
            </a:extLst>
          </p:cNvPr>
          <p:cNvSpPr txBox="1"/>
          <p:nvPr/>
        </p:nvSpPr>
        <p:spPr>
          <a:xfrm>
            <a:off x="153991" y="613019"/>
            <a:ext cx="11884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Example: Sentiment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93568-D525-3F4C-E2CB-A7E9F8A61336}"/>
              </a:ext>
            </a:extLst>
          </p:cNvPr>
          <p:cNvSpPr txBox="1"/>
          <p:nvPr/>
        </p:nvSpPr>
        <p:spPr>
          <a:xfrm>
            <a:off x="371645" y="1136239"/>
            <a:ext cx="48970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Take a passage of text, and give it a score for positive or negative sentiment.</a:t>
            </a:r>
          </a:p>
          <a:p>
            <a:endParaRPr lang="en-US" sz="2400" dirty="0"/>
          </a:p>
          <a:p>
            <a:r>
              <a:rPr lang="en-US" sz="2400" dirty="0"/>
              <a:t>The dessert was great.</a:t>
            </a:r>
          </a:p>
          <a:p>
            <a:r>
              <a:rPr lang="en-US" sz="2400" dirty="0"/>
              <a:t>The dessert was not so great.</a:t>
            </a:r>
          </a:p>
          <a:p>
            <a:r>
              <a:rPr lang="en-US" sz="2400" dirty="0"/>
              <a:t>He didn’t think that the dessert was great.</a:t>
            </a:r>
          </a:p>
          <a:p>
            <a:r>
              <a:rPr lang="en-US" sz="2400" dirty="0"/>
              <a:t>The liar said the dessert was great.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87CBBF-3E4D-BED2-848C-2D9A7B743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329" y="735162"/>
            <a:ext cx="67945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584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A23FE-E27C-C0C2-C69B-1520DCD8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2D7DD833-2D43-80E7-4E7F-4A76A14292F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Artificial Neural Networks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BE8695-2335-0A99-1735-323E2B46BC7B}"/>
              </a:ext>
            </a:extLst>
          </p:cNvPr>
          <p:cNvSpPr txBox="1"/>
          <p:nvPr/>
        </p:nvSpPr>
        <p:spPr>
          <a:xfrm>
            <a:off x="307982" y="824961"/>
            <a:ext cx="11884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Example: Sentiment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2984B1-2E07-FA69-8AF3-9F10E21DD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42" y="1813853"/>
            <a:ext cx="6172167" cy="32302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42FD02-B7B1-DA83-1A65-5780F9DD3F33}"/>
              </a:ext>
            </a:extLst>
          </p:cNvPr>
          <p:cNvSpPr txBox="1"/>
          <p:nvPr/>
        </p:nvSpPr>
        <p:spPr>
          <a:xfrm>
            <a:off x="0" y="1348181"/>
            <a:ext cx="5591530" cy="4481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Hidden layer</a:t>
            </a:r>
          </a:p>
          <a:p>
            <a:pPr>
              <a:buNone/>
            </a:pPr>
            <a:r>
              <a:rPr lang="en-US" dirty="0"/>
              <a:t>A set of intermediate units between input and output that learns internal features of the data, transforming the input into a representation that makes prediction easier.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Distributed representation</a:t>
            </a:r>
          </a:p>
          <a:p>
            <a:pPr>
              <a:buNone/>
            </a:pPr>
            <a:r>
              <a:rPr lang="en-US" dirty="0"/>
              <a:t>A way of encoding information as a pattern of activation across many units (or dimensions), so no single unit corresponds to a whole concept and similarity reflects overlap in patterns.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Error-driven learning</a:t>
            </a:r>
          </a:p>
          <a:p>
            <a:pPr>
              <a:buNone/>
            </a:pPr>
            <a:r>
              <a:rPr lang="en-US" dirty="0"/>
              <a:t>A learning process that updates parameters to reduce a measured mismatch between the model’s output and a target signal, using that error as the feedback signal for improvement.</a:t>
            </a:r>
          </a:p>
        </p:txBody>
      </p:sp>
    </p:spTree>
    <p:extLst>
      <p:ext uri="{BB962C8B-B14F-4D97-AF65-F5344CB8AC3E}">
        <p14:creationId xmlns:p14="http://schemas.microsoft.com/office/powerpoint/2010/main" val="1660379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8A470-E776-0D80-2A4E-1DCF0BACE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390820FE-2430-559E-3ED3-F350028D76D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Artificial Neural Networks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2AC1F-0F95-6824-4FAA-D66C56FB38C4}"/>
              </a:ext>
            </a:extLst>
          </p:cNvPr>
          <p:cNvSpPr txBox="1"/>
          <p:nvPr/>
        </p:nvSpPr>
        <p:spPr>
          <a:xfrm>
            <a:off x="307982" y="824961"/>
            <a:ext cx="11884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Example: Sentiment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1C81A9-A971-BB1F-1F05-744032D3F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42" y="1813853"/>
            <a:ext cx="6172167" cy="32302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9C1CD8-AA56-D775-7491-89675C1BD657}"/>
              </a:ext>
            </a:extLst>
          </p:cNvPr>
          <p:cNvSpPr txBox="1"/>
          <p:nvPr/>
        </p:nvSpPr>
        <p:spPr>
          <a:xfrm>
            <a:off x="0" y="1348181"/>
            <a:ext cx="5591530" cy="4481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Hidden layer</a:t>
            </a:r>
          </a:p>
          <a:p>
            <a:pPr>
              <a:buNone/>
            </a:pPr>
            <a:r>
              <a:rPr lang="en-US" dirty="0"/>
              <a:t>A set of intermediate units between input and output that learns internal features of the data, transforming the input into a representation that makes prediction easier.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Distributed representation</a:t>
            </a:r>
          </a:p>
          <a:p>
            <a:pPr>
              <a:buNone/>
            </a:pPr>
            <a:r>
              <a:rPr lang="en-US" dirty="0"/>
              <a:t>A way of encoding information as a pattern of activation across many units (or dimensions), so no single unit corresponds to a whole concept and similarity reflects overlap in patterns.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Error-driven learning</a:t>
            </a:r>
          </a:p>
          <a:p>
            <a:pPr>
              <a:buNone/>
            </a:pPr>
            <a:r>
              <a:rPr lang="en-US" dirty="0"/>
              <a:t>A learning process that updates parameters to reduce a measured mismatch between the model’s output and a target signal, using that error as the feedback signal for improvement.</a:t>
            </a:r>
          </a:p>
        </p:txBody>
      </p:sp>
    </p:spTree>
    <p:extLst>
      <p:ext uri="{BB962C8B-B14F-4D97-AF65-F5344CB8AC3E}">
        <p14:creationId xmlns:p14="http://schemas.microsoft.com/office/powerpoint/2010/main" val="40523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E3513-30A1-15F2-0B29-2961132CE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A65E163B-6F5F-C87F-7C1D-F34884886AD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Artificial Neural Networks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A8062-8332-A389-3D50-E34E79A1793A}"/>
              </a:ext>
            </a:extLst>
          </p:cNvPr>
          <p:cNvSpPr txBox="1"/>
          <p:nvPr/>
        </p:nvSpPr>
        <p:spPr>
          <a:xfrm>
            <a:off x="307982" y="3568293"/>
            <a:ext cx="1117426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Representation learning: hidden layers do work you didn’t hand-code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Instead of specifying features by hand, networks can learn internal features that are useful for the objective.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Those internal features can be reused across many contexts and tasks, which supports generalization.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This changes what “knowledge” looks like: it is often distributed across many weights rather than stored as explicit rules.</a:t>
            </a:r>
          </a:p>
        </p:txBody>
      </p:sp>
      <p:pic>
        <p:nvPicPr>
          <p:cNvPr id="5122" name="Picture 2" descr="Representation Learning 101 for Software Engineers">
            <a:extLst>
              <a:ext uri="{FF2B5EF4-FFF2-40B4-BE49-F238E27FC236}">
                <a16:creationId xmlns:a16="http://schemas.microsoft.com/office/drawing/2014/main" id="{8650835E-946F-06C8-4EF5-BB49F3EF3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565" y="735162"/>
            <a:ext cx="9927102" cy="2877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569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9C00F-D324-3270-EC16-679E4707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29F70652-19D3-B5E0-7D87-381A28BDF9A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Artificial Neural Networks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0A6716-9539-4242-60E8-FF75631C8A37}"/>
              </a:ext>
            </a:extLst>
          </p:cNvPr>
          <p:cNvSpPr txBox="1"/>
          <p:nvPr/>
        </p:nvSpPr>
        <p:spPr>
          <a:xfrm>
            <a:off x="307983" y="1134450"/>
            <a:ext cx="578801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Distributed representations and graded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Neural nets naturally encourage distributed codes where concepts are patterns across units, not single symbols.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supports graded similarity and partial overlap, which fits many cognitive phenomena.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But it also makes interpretation harder because there may be no single “place” where a rule or concept lives.</a:t>
            </a:r>
          </a:p>
        </p:txBody>
      </p:sp>
      <p:pic>
        <p:nvPicPr>
          <p:cNvPr id="4098" name="Picture 2" descr="Difference between localist and distributed representations | Download  Scientific Diagram">
            <a:extLst>
              <a:ext uri="{FF2B5EF4-FFF2-40B4-BE49-F238E27FC236}">
                <a16:creationId xmlns:a16="http://schemas.microsoft.com/office/drawing/2014/main" id="{B15E3BC2-33D5-1EDF-E56A-ACF59F16E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315" y="863220"/>
            <a:ext cx="5307073" cy="4820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529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B5600-81B0-DCA6-AFD4-C328D2771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24606874-6444-4360-7892-F81162C8C37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Artificial Neural Networks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568A12-ECF3-7C9E-445D-2A1A4FE8FABF}"/>
              </a:ext>
            </a:extLst>
          </p:cNvPr>
          <p:cNvSpPr txBox="1"/>
          <p:nvPr/>
        </p:nvSpPr>
        <p:spPr>
          <a:xfrm>
            <a:off x="307982" y="1134450"/>
            <a:ext cx="11311931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Generalization, inductive bias, and what error-driven learning buys you</a:t>
            </a:r>
          </a:p>
          <a:p>
            <a:endParaRPr lang="en-US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Networks generalize by exploiting regularities and compressing patterns, but what they generalize depends on architecture and training.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Error-driven learning gives a clear metric for improvement, but it can reward shortcuts that fit the data without capturing the intended structure.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sets up a recurring question: when is performance evidence of the right internal structure versus an accidental heuristic?</a:t>
            </a:r>
          </a:p>
        </p:txBody>
      </p:sp>
    </p:spTree>
    <p:extLst>
      <p:ext uri="{BB962C8B-B14F-4D97-AF65-F5344CB8AC3E}">
        <p14:creationId xmlns:p14="http://schemas.microsoft.com/office/powerpoint/2010/main" val="3200800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442A9-5892-3521-3A37-F0903B330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60E310DB-13EA-6DD3-53B0-BF97B7F924C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Artificial Neural Networks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76675E-3D74-946B-E764-D51456126828}"/>
              </a:ext>
            </a:extLst>
          </p:cNvPr>
          <p:cNvSpPr txBox="1"/>
          <p:nvPr/>
        </p:nvSpPr>
        <p:spPr>
          <a:xfrm>
            <a:off x="307982" y="1134450"/>
            <a:ext cx="11311931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Connectionism and the symbolic challenge</a:t>
            </a:r>
          </a:p>
          <a:p>
            <a:endParaRPr lang="en-US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Connectionist models historically competed with symbolic accounts about whether rules and compositional structure require explicit symbols.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Neural systems can show systematic behavior, but the conditions under which they do are an empirical question.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modern view often treats this as a spectrum: explicit symbolic structure is one possible solution, learned distributed structure is another.</a:t>
            </a:r>
          </a:p>
        </p:txBody>
      </p:sp>
    </p:spTree>
    <p:extLst>
      <p:ext uri="{BB962C8B-B14F-4D97-AF65-F5344CB8AC3E}">
        <p14:creationId xmlns:p14="http://schemas.microsoft.com/office/powerpoint/2010/main" val="207002046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5">
      <a:dk1>
        <a:srgbClr val="13284B"/>
      </a:dk1>
      <a:lt1>
        <a:srgbClr val="FFFFFF"/>
      </a:lt1>
      <a:dk2>
        <a:srgbClr val="1E3877"/>
      </a:dk2>
      <a:lt2>
        <a:srgbClr val="F8FAFC"/>
      </a:lt2>
      <a:accent1>
        <a:srgbClr val="FF552E"/>
      </a:accent1>
      <a:accent2>
        <a:srgbClr val="1D58A7"/>
      </a:accent2>
      <a:accent3>
        <a:srgbClr val="F5821E"/>
      </a:accent3>
      <a:accent4>
        <a:srgbClr val="009FD3"/>
      </a:accent4>
      <a:accent5>
        <a:srgbClr val="DD3403"/>
      </a:accent5>
      <a:accent6>
        <a:srgbClr val="D2D2D2"/>
      </a:accent6>
      <a:hlink>
        <a:srgbClr val="1D58A7"/>
      </a:hlink>
      <a:folHlink>
        <a:srgbClr val="DD340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EB6B2FBE-53CE-AE45-9D18-D10FBF4063E0}" vid="{7AC8A834-0896-8341-9AC3-2DE1C842C7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45751</TotalTime>
  <Words>694</Words>
  <Application>Microsoft Macintosh PowerPoint</Application>
  <PresentationFormat>Widescreen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Custom Design</vt:lpstr>
      <vt:lpstr>PSYC 496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Here</dc:title>
  <dc:creator>Willits, Jon Anthony</dc:creator>
  <cp:lastModifiedBy>Willits, Jon Anthony</cp:lastModifiedBy>
  <cp:revision>538</cp:revision>
  <cp:lastPrinted>2025-11-07T13:39:49Z</cp:lastPrinted>
  <dcterms:created xsi:type="dcterms:W3CDTF">2022-08-22T20:35:14Z</dcterms:created>
  <dcterms:modified xsi:type="dcterms:W3CDTF">2026-02-12T20:06:14Z</dcterms:modified>
</cp:coreProperties>
</file>