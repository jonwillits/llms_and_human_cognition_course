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399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41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2C"/>
    <a:srgbClr val="FF552E"/>
    <a:srgbClr val="FFEAE8"/>
    <a:srgbClr val="FFD2CD"/>
    <a:srgbClr val="E84A27"/>
    <a:srgbClr val="FFEAE9"/>
    <a:srgbClr val="9DBBA6"/>
    <a:srgbClr val="131F33"/>
    <a:srgbClr val="13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70340"/>
  </p:normalViewPr>
  <p:slideViewPr>
    <p:cSldViewPr snapToGrid="0" snapToObjects="1">
      <p:cViewPr varScale="1">
        <p:scale>
          <a:sx n="83" d="100"/>
          <a:sy n="83" d="100"/>
        </p:scale>
        <p:origin x="2016" y="20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D3E08-CD1E-6345-BF3D-6B539ADC114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32C59-1409-2640-866F-4A1083575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7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5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FFE1-083F-07E5-968B-1000A37E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B72C7-F31C-3E95-385A-0A10F2CDD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D07AA-7B57-08A6-4E18-33F7BB750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their core, large language models are trained to perform one task: predict the next token in a sequence of text.</a:t>
            </a:r>
          </a:p>
          <a:p>
            <a:r>
              <a:rPr lang="en-US" dirty="0"/>
              <a:t>The model sees a string of words or </a:t>
            </a:r>
            <a:r>
              <a:rPr lang="en-US" dirty="0" err="1"/>
              <a:t>subwords</a:t>
            </a:r>
            <a:r>
              <a:rPr lang="en-US" dirty="0"/>
              <a:t> and assigns probabilities to what is most likely to come next.</a:t>
            </a:r>
          </a:p>
          <a:p>
            <a:r>
              <a:rPr lang="en-US" dirty="0"/>
              <a:t>This objective is deceptively simple, but language is richly structured, so solving it well requires capturing syntax, semantics, and discourse patterns.</a:t>
            </a:r>
          </a:p>
          <a:p>
            <a:r>
              <a:rPr lang="en-US" dirty="0"/>
              <a:t>This means LLMs learn much more than surface-level associations when optimizing for prediction accuracy.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task forces the model to internalize patterns of grammar.</a:t>
            </a:r>
          </a:p>
          <a:p>
            <a:r>
              <a:rPr lang="en-US" dirty="0"/>
              <a:t>To predict the next word in a sentence, the model must learn agreement, ordering, and the dependencies that connect distant parts of a phrase.</a:t>
            </a:r>
          </a:p>
          <a:p>
            <a:r>
              <a:rPr lang="en-US" dirty="0"/>
              <a:t>It discovers these features implicitly, not through explicit rules but by minimizing prediction error across enormous text corpora.</a:t>
            </a:r>
          </a:p>
          <a:p>
            <a:r>
              <a:rPr lang="en-US" dirty="0"/>
              <a:t>In this sense, the learning process resembles earlier material we covered on distributed representations and learned feature hierarchies.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Prediction also requires the model to develop approximate semantic knowledge.</a:t>
            </a:r>
          </a:p>
          <a:p>
            <a:r>
              <a:rPr lang="en-US" dirty="0"/>
              <a:t>If a sentence begins with “The doctor examined the…,” predicting the next tokens requires understanding roles, contexts, and common continuations.</a:t>
            </a:r>
          </a:p>
          <a:p>
            <a:r>
              <a:rPr lang="en-US" dirty="0"/>
              <a:t>The model learns associations among words, topics, and events simply because these relationships support accurate next-token predictions.</a:t>
            </a:r>
          </a:p>
          <a:p>
            <a:r>
              <a:rPr lang="en-US" dirty="0"/>
              <a:t>This leads to behavior that </a:t>
            </a:r>
            <a:r>
              <a:rPr lang="en-US" i="1" dirty="0"/>
              <a:t>resembles</a:t>
            </a:r>
            <a:r>
              <a:rPr lang="en-US" dirty="0"/>
              <a:t> understanding, despite being grounded in pattern learning rather than explicit reasoning.</a:t>
            </a:r>
          </a:p>
          <a:p>
            <a:endParaRPr lang="en-US" dirty="0"/>
          </a:p>
          <a:p>
            <a:r>
              <a:rPr lang="en-US" dirty="0"/>
              <a:t>This predictive objective helps explain both the strengths and limitations of LLMs.</a:t>
            </a:r>
          </a:p>
          <a:p>
            <a:r>
              <a:rPr lang="en-US" dirty="0"/>
              <a:t>They are excellent at tasks that align with language patterns but struggle </a:t>
            </a:r>
          </a:p>
          <a:p>
            <a:r>
              <a:rPr lang="en-US" dirty="0"/>
              <a:t>	when deep reasoning or real-world grounding is needed.</a:t>
            </a:r>
          </a:p>
          <a:p>
            <a:r>
              <a:rPr lang="en-US" dirty="0"/>
              <a:t>Understanding this training goal clarifies why LLMs excel at fluency and generalization </a:t>
            </a:r>
          </a:p>
          <a:p>
            <a:r>
              <a:rPr lang="en-US" dirty="0"/>
              <a:t>	yet can fail unexpectedly at tasks requiring external reference or causal inference.</a:t>
            </a:r>
          </a:p>
          <a:p>
            <a:r>
              <a:rPr lang="en-US" dirty="0"/>
              <a:t>Grasping this fundamental objective prepares us to examine the architectures that support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0C1DC-96CA-F3E3-5A69-1B3CF5C8B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59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EBFB-A1EF-0255-6FA8-EA06CB48F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85543-2594-AAB3-DD24-445DF4D5E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FD28F-8711-BC17-14CC-E1E1587F3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Tokenization gives us the basic </a:t>
            </a:r>
            <a:r>
              <a:rPr lang="en-US" i="1" dirty="0"/>
              <a:t>units</a:t>
            </a:r>
            <a:r>
              <a:rPr lang="en-US" dirty="0"/>
              <a:t> an LLM learns over, but the architecture determines how relationships among those units are actually represented.</a:t>
            </a:r>
          </a:p>
          <a:p>
            <a:r>
              <a:rPr lang="en-US" dirty="0"/>
              <a:t>Different architectures impose different constraints on what kinds of patterns can be learned—syntactic, semantic, or long-range contextual.</a:t>
            </a:r>
          </a:p>
          <a:p>
            <a:r>
              <a:rPr lang="en-US" dirty="0"/>
              <a:t>Before transformers, the dominant architecture for sequence learning was the Recurrent Neural Network (RNN), which processes information one step at a time.</a:t>
            </a:r>
          </a:p>
          <a:p>
            <a:r>
              <a:rPr lang="en-US" dirty="0"/>
              <a:t>Understanding RNNs helps us see why later architectures were needed to scale to modern language modeling.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RNNs were influential because they maintain an internal state that evolves with each new input.</a:t>
            </a:r>
          </a:p>
          <a:p>
            <a:r>
              <a:rPr lang="en-US" dirty="0"/>
              <a:t>This made them appealing as models of human cognitive processes like working memory, temporal context, and incremental interpretation.</a:t>
            </a:r>
          </a:p>
          <a:p>
            <a:r>
              <a:rPr lang="en-US" dirty="0"/>
              <a:t>In cognitive science, researchers used them to study sentence comprehension, phonology, category learning, and developmental sequences.</a:t>
            </a:r>
          </a:p>
          <a:p>
            <a:r>
              <a:rPr lang="en-US" dirty="0"/>
              <a:t>RNNs represented one of the first serious attempts to capture the </a:t>
            </a:r>
            <a:r>
              <a:rPr lang="en-US" i="1" dirty="0"/>
              <a:t>dynamics</a:t>
            </a:r>
            <a:r>
              <a:rPr lang="en-US" dirty="0"/>
              <a:t> of cognition using connectionist models.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Gated variants such as LSTMs and GRUs emerged to address the core limitation of basic RNNs: difficulty carrying information across long distances in a sequence.</a:t>
            </a:r>
          </a:p>
          <a:p>
            <a:r>
              <a:rPr lang="en-US" dirty="0"/>
              <a:t>These architectures incorporated explicit control mechanisms to preserve or forget information, making them better at modeling language-like dependencies.</a:t>
            </a:r>
          </a:p>
          <a:p>
            <a:r>
              <a:rPr lang="en-US" dirty="0"/>
              <a:t>This allowed them to handle longer sentences, nested structure, and more complex tasks than simple RNNs could.</a:t>
            </a:r>
          </a:p>
          <a:p>
            <a:r>
              <a:rPr lang="en-US" dirty="0"/>
              <a:t>For many years, LSTMs were state-of-the-art in both AI and cognitive modeling.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But despite their cognitive plausibility, RNNs had practical shortcomings that became severe as datasets and model sizes grew.</a:t>
            </a:r>
          </a:p>
          <a:p>
            <a:r>
              <a:rPr lang="en-US" dirty="0"/>
              <a:t>They process sequences strictly in order, which limits parallelization and makes training extremely slow at scale.</a:t>
            </a:r>
          </a:p>
          <a:p>
            <a:r>
              <a:rPr lang="en-US" dirty="0"/>
              <a:t>They still struggled with very long-range dependencies, even with gating mechanisms.</a:t>
            </a:r>
          </a:p>
          <a:p>
            <a:r>
              <a:rPr lang="en-US" dirty="0"/>
              <a:t>These limitations set the stage for the transformer architecture, which took a fundamentally different approach to sequence modeling.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7CFB0-C4DB-CEBA-90DE-101496C7F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16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A35C-5C2A-B332-5245-496EBAF66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7A2F1-F515-E792-5F19-B498650D3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982CD-0F4F-039E-D25A-E7984AE29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Despite their cognitive appeal, RNNs turned out to be poorly suited for the scale and speed needed in modern AI systems.</a:t>
            </a:r>
          </a:p>
          <a:p>
            <a:r>
              <a:rPr lang="en-US" dirty="0"/>
              <a:t>Because they process tokens one at a time, information flows only forward through the sequence, creating a strict bottleneck.</a:t>
            </a:r>
          </a:p>
          <a:p>
            <a:r>
              <a:rPr lang="en-US" dirty="0"/>
              <a:t>This sequential dependency makes training extremely slow—every step must wait for the one before it.</a:t>
            </a:r>
          </a:p>
          <a:p>
            <a:r>
              <a:rPr lang="en-US" dirty="0"/>
              <a:t>As data and models grew, this limitation became a major barrier.</a:t>
            </a:r>
            <a:br>
              <a:rPr lang="en-US" dirty="0"/>
            </a:br>
            <a:endParaRPr lang="en-US" dirty="0"/>
          </a:p>
          <a:p>
            <a:r>
              <a:rPr lang="en-US" dirty="0"/>
              <a:t>RNNs also struggled with long-range dependencies, even with enhancements like LSTMs or GRUs.</a:t>
            </a:r>
          </a:p>
          <a:p>
            <a:r>
              <a:rPr lang="en-US" dirty="0"/>
              <a:t>Information from early in a sequence decayed or was overwritten as new inputs arrived, making it difficult for the model to use distant context.</a:t>
            </a:r>
          </a:p>
          <a:p>
            <a:r>
              <a:rPr lang="en-US" dirty="0"/>
              <a:t>Many linguistic phenomena—coreference, discourse structure, long-distance agreement—require integrating information across large spans of text.</a:t>
            </a:r>
          </a:p>
          <a:p>
            <a:r>
              <a:rPr lang="en-US" dirty="0"/>
              <a:t>RNNs could approximate this, but not reliably or efficiently.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Another challenge was the instability of training.</a:t>
            </a:r>
          </a:p>
          <a:p>
            <a:r>
              <a:rPr lang="en-US" dirty="0"/>
              <a:t>RNNs often suffered from vanishing or exploding gradients, requiring careful initialization, clipping, or gating mechanisms to maintain stability.</a:t>
            </a:r>
          </a:p>
          <a:p>
            <a:r>
              <a:rPr lang="en-US" dirty="0"/>
              <a:t>This made them difficult to scale to very deep models or very long sequences.</a:t>
            </a:r>
          </a:p>
          <a:p>
            <a:r>
              <a:rPr lang="en-US" dirty="0"/>
              <a:t>The engineering effort needed to keep them functioning well increased dramatically with model size.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These issues mattered precisely because tokenization gives the system discrete units, but the architecture must learn relationships </a:t>
            </a:r>
            <a:r>
              <a:rPr lang="en-US" i="1" dirty="0"/>
              <a:t>between</a:t>
            </a:r>
            <a:r>
              <a:rPr lang="en-US" dirty="0"/>
              <a:t> those units.</a:t>
            </a:r>
          </a:p>
          <a:p>
            <a:r>
              <a:rPr lang="en-US" dirty="0"/>
              <a:t>RNNs were good at modeling local dependencies but poor at handling global ones, and their sequential bottleneck made large-scale training impractical.</a:t>
            </a:r>
          </a:p>
          <a:p>
            <a:r>
              <a:rPr lang="en-US" dirty="0"/>
              <a:t>Researchers needed an architecture that could use long-range context, train in parallel, and scale smoothly with increasing data.</a:t>
            </a:r>
          </a:p>
          <a:p>
            <a:r>
              <a:rPr lang="en-US" dirty="0"/>
              <a:t>That solution was the </a:t>
            </a:r>
            <a:r>
              <a:rPr lang="en-US" b="1" dirty="0"/>
              <a:t>transformer</a:t>
            </a:r>
            <a:r>
              <a:rPr lang="en-US" dirty="0"/>
              <a:t>, which we introduce next.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E8E1B-4874-5ED0-F1C1-95094DBCE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9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2826-6BB0-EC5F-5113-488D27A0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57309-717B-E4C9-957E-4061A5957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34C64-E41C-8B77-5574-195C3EC9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transformer architecture was introduced as a solution to the bottlenecks and memory limits of recurrent networks.</a:t>
            </a:r>
          </a:p>
          <a:p>
            <a:r>
              <a:rPr lang="en-US" dirty="0"/>
              <a:t>Instead of processing tokens one by one, transformers take in an entire sequence at once, allowing the model to compute relationships among all positions simultaneously.</a:t>
            </a:r>
          </a:p>
          <a:p>
            <a:r>
              <a:rPr lang="en-US" dirty="0"/>
              <a:t>This parallel processing makes training dramatically faster on modern hardware and enables much larger models.</a:t>
            </a:r>
          </a:p>
          <a:p>
            <a:r>
              <a:rPr lang="en-US" dirty="0"/>
              <a:t>It was this shift—from sequential to parallel computation—that unlocked the current wave of large-scale language models.</a:t>
            </a:r>
          </a:p>
          <a:p>
            <a:endParaRPr lang="en-US" dirty="0"/>
          </a:p>
          <a:p>
            <a:r>
              <a:rPr lang="en-US" dirty="0"/>
              <a:t>In a transformer, the core operation is </a:t>
            </a:r>
            <a:r>
              <a:rPr lang="en-US" b="1" dirty="0"/>
              <a:t>attention</a:t>
            </a:r>
            <a:r>
              <a:rPr lang="en-US" dirty="0"/>
              <a:t>, a mechanism that determines how much each token should focus on every other token in the sequence.</a:t>
            </a:r>
          </a:p>
          <a:p>
            <a:r>
              <a:rPr lang="en-US" dirty="0"/>
              <a:t>This allows the model to integrate information from anywhere in the input, regardless of distance.</a:t>
            </a:r>
          </a:p>
          <a:p>
            <a:r>
              <a:rPr lang="en-US" dirty="0"/>
              <a:t>Long-range dependencies, such as subject–verb agreement across clauses or resolving pronouns in earlier sentences, become far easier to represent.</a:t>
            </a:r>
          </a:p>
          <a:p>
            <a:r>
              <a:rPr lang="en-US" dirty="0"/>
              <a:t>Transformers thus overcome the memory and scaling limitations inherent in RNN-based architectures.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key consequence of this design is that transformers operate over </a:t>
            </a:r>
            <a:r>
              <a:rPr lang="en-US" b="1" dirty="0"/>
              <a:t>extremely large context windows</a:t>
            </a:r>
            <a:r>
              <a:rPr lang="en-US" dirty="0"/>
              <a:t>—thousands or even tens of thousands of tokens—far larger than what human working memory can maintain.</a:t>
            </a:r>
          </a:p>
          <a:p>
            <a:r>
              <a:rPr lang="en-US" dirty="0"/>
              <a:t>Humans rely on compressed, structured representations, chunking, and active maintenance of only a few items at a time.</a:t>
            </a:r>
          </a:p>
          <a:p>
            <a:r>
              <a:rPr lang="en-US" dirty="0"/>
              <a:t>Transformers, by contrast, can access all prior tokens simultaneously, using brute-force parallel computation to track patterns across vast spans of text.</a:t>
            </a:r>
          </a:p>
          <a:p>
            <a:r>
              <a:rPr lang="en-US" dirty="0"/>
              <a:t>This makes them powerful predictors, but also highlights how computationally </a:t>
            </a:r>
            <a:r>
              <a:rPr lang="en-US" i="1" dirty="0"/>
              <a:t>un-human</a:t>
            </a:r>
            <a:r>
              <a:rPr lang="en-US" dirty="0"/>
              <a:t> their memory systems really are.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transformer layer also includes a feedforward component that applies learned transformations to each token’s representation.</a:t>
            </a:r>
          </a:p>
          <a:p>
            <a:r>
              <a:rPr lang="en-US" dirty="0"/>
              <a:t>Stacked layers alternate between attention blocks and feedforward networks, gradually building up abstractions.</a:t>
            </a:r>
          </a:p>
          <a:p>
            <a:r>
              <a:rPr lang="en-US" dirty="0"/>
              <a:t>Lower layers focus more on surface structure, while higher layers encode more semantic or discourse-level patterns.</a:t>
            </a:r>
          </a:p>
          <a:p>
            <a:r>
              <a:rPr lang="en-US" dirty="0"/>
              <a:t>This hierarchical organization resembles what we saw in CNNs, but applied to text rather than images.</a:t>
            </a:r>
          </a:p>
          <a:p>
            <a:endParaRPr lang="en-US" dirty="0"/>
          </a:p>
          <a:p>
            <a:r>
              <a:rPr lang="en-US" dirty="0"/>
              <a:t>Importantly, transformers are not cognitively realistic in many respects: they do not use recurrence, they process entire sequences simultaneously, and they require enormous computational resources.</a:t>
            </a:r>
          </a:p>
          <a:p>
            <a:r>
              <a:rPr lang="en-US" dirty="0"/>
              <a:t>But they are extremely effective engineering solutions to the scaling demands of modern AI.</a:t>
            </a:r>
          </a:p>
          <a:p>
            <a:r>
              <a:rPr lang="en-US" dirty="0"/>
              <a:t>Their success underscores a recurring theme across the course: biological plausibility and computational efficiency do not always align.</a:t>
            </a:r>
          </a:p>
          <a:p>
            <a:r>
              <a:rPr lang="en-US" dirty="0"/>
              <a:t>Next, we explore attention—the mechanism that makes transformers powerful.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F925E-144F-017F-3742-0D058C054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81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0753-E47C-F54E-B8FA-01D34E62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2E3AF-12DA-5D9A-5B45-429692DC9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7B904-B6BD-8849-445A-301E379D2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is the mechanism that lets each token decide which other tokens matter for interpreting the current one.</a:t>
            </a:r>
          </a:p>
          <a:p>
            <a:r>
              <a:rPr lang="en-US" dirty="0"/>
              <a:t>Instead of treating all context as equally important, the model assigns </a:t>
            </a:r>
            <a:r>
              <a:rPr lang="en-US" b="1" dirty="0"/>
              <a:t>weights</a:t>
            </a:r>
            <a:r>
              <a:rPr lang="en-US" dirty="0"/>
              <a:t> that reflect relevance—much like how people focus selectively on certain words when interpreting a sentence.</a:t>
            </a:r>
          </a:p>
          <a:p>
            <a:r>
              <a:rPr lang="en-US" dirty="0"/>
              <a:t>These weights determine how information flows across the sequence and how each token updates its representation.</a:t>
            </a:r>
          </a:p>
          <a:p>
            <a:r>
              <a:rPr lang="en-US" dirty="0"/>
              <a:t>At a high level, attention is a learned pattern of “who should listen to whom.”</a:t>
            </a:r>
          </a:p>
          <a:p>
            <a:endParaRPr lang="en-US" dirty="0"/>
          </a:p>
          <a:p>
            <a:r>
              <a:rPr lang="en-US" dirty="0"/>
              <a:t>A useful metaphor is that each token asks a question (“What am I trying to understand?”), compares itself to other tokens (“Who can help me answer it?”), and gathers weighted information from those that match.</a:t>
            </a:r>
          </a:p>
          <a:p>
            <a:r>
              <a:rPr lang="en-US" dirty="0"/>
              <a:t>This allows the model to integrate syntax, semantics, and discourse cues flexibly.</a:t>
            </a:r>
          </a:p>
          <a:p>
            <a:r>
              <a:rPr lang="en-US" dirty="0"/>
              <a:t>Pronouns can attend to their antecedents; verbs can attend to subjects; adjectives can attend to the nouns they modify.</a:t>
            </a:r>
          </a:p>
          <a:p>
            <a:r>
              <a:rPr lang="en-US" dirty="0"/>
              <a:t>RNNs struggled with these long-distance patterns, but attention handles them naturally.</a:t>
            </a:r>
          </a:p>
          <a:p>
            <a:endParaRPr lang="en-US" dirty="0"/>
          </a:p>
          <a:p>
            <a:r>
              <a:rPr lang="en-US" dirty="0"/>
              <a:t>Attention is also </a:t>
            </a:r>
            <a:r>
              <a:rPr lang="en-US" b="1" dirty="0"/>
              <a:t>context-sensitive</a:t>
            </a:r>
            <a:r>
              <a:rPr lang="en-US" dirty="0"/>
              <a:t>.</a:t>
            </a:r>
          </a:p>
          <a:p>
            <a:r>
              <a:rPr lang="en-US" dirty="0"/>
              <a:t>The relevance of a token can shift depending on what the model is trying to predict.</a:t>
            </a:r>
          </a:p>
          <a:p>
            <a:r>
              <a:rPr lang="en-US" dirty="0"/>
              <a:t>For example, “bank” in “the boat drifted toward the bank” will attend to different context words than “bank” in “she cashed a check at the bank.”</a:t>
            </a:r>
          </a:p>
          <a:p>
            <a:r>
              <a:rPr lang="en-US" dirty="0"/>
              <a:t>This dynamic re-weighting gives transformers a powerful ability to represent ambiguity and resolve it based on surrounding cues.</a:t>
            </a:r>
          </a:p>
          <a:p>
            <a:endParaRPr lang="en-US" dirty="0"/>
          </a:p>
          <a:p>
            <a:r>
              <a:rPr lang="en-US" dirty="0"/>
              <a:t>An important contrast with humans, however, is that transformer attention is massively parallel.</a:t>
            </a:r>
          </a:p>
          <a:p>
            <a:r>
              <a:rPr lang="en-US" dirty="0"/>
              <a:t>Humans can shift attention, but we cannot simultaneously compute relevance across hundreds of words.</a:t>
            </a:r>
          </a:p>
          <a:p>
            <a:r>
              <a:rPr lang="en-US" dirty="0"/>
              <a:t>Transformers can evaluate these relationships all at once, using computational resources unavailable to biological systems.</a:t>
            </a:r>
          </a:p>
          <a:p>
            <a:r>
              <a:rPr lang="en-US" dirty="0"/>
              <a:t>This difference helps explain their fluid long-context processing—and also why they sometimes fail at tasks requiring structured, human-like 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42F64-A0DF-5CE8-BA69-9F23097C8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49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EA8B9-C349-5F03-81CA-39ECA3FE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1BD2D-21B5-E79E-D4D9-7D1833EAD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6B615-CA37-E715-9A63-0958E8936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Transformers consist of many repeated layers, each containing attention and feedforward components.</a:t>
            </a:r>
          </a:p>
          <a:p>
            <a:r>
              <a:rPr lang="en-US" dirty="0"/>
              <a:t>Early layers tend to represent more local, surface-level patterns: token identity, adjacent word relationships, and simple syntactic cues.</a:t>
            </a:r>
          </a:p>
          <a:p>
            <a:r>
              <a:rPr lang="en-US" dirty="0"/>
              <a:t>As information flows upward, layers progressively refine these patterns into richer abstractions.</a:t>
            </a:r>
          </a:p>
          <a:p>
            <a:r>
              <a:rPr lang="en-US" dirty="0"/>
              <a:t>This layered processing mirrors how deep networks in vision build edges → shapes → objects, but here it applies to linguistic structure.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In the middle layers, the model begins to capture broader syntactic dependencies.</a:t>
            </a:r>
          </a:p>
          <a:p>
            <a:r>
              <a:rPr lang="en-US" dirty="0"/>
              <a:t>These layers can represent grammatical roles, constituent boundaries, and patterns like agreement or subcategorization.</a:t>
            </a:r>
          </a:p>
          <a:p>
            <a:r>
              <a:rPr lang="en-US" dirty="0"/>
              <a:t>Because each attention block can connect distant parts of a sentence, these representations integrate both local and global cues.</a:t>
            </a:r>
          </a:p>
          <a:p>
            <a:r>
              <a:rPr lang="en-US" dirty="0"/>
              <a:t>This makes middle layers especially important for behaviors like translation, summarization, or question answering.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Higher layers encode patterns that resemble semantics, discourse structure, topic, and even elements of pragmatic inference.</a:t>
            </a:r>
          </a:p>
          <a:p>
            <a:r>
              <a:rPr lang="en-US" dirty="0"/>
              <a:t>They integrate multiple levels of information from earlier layers, producing representations that correlate with meaning or conceptual similarity.</a:t>
            </a:r>
          </a:p>
          <a:p>
            <a:r>
              <a:rPr lang="en-US" dirty="0"/>
              <a:t>The model does not “understand” these patterns the way humans do, but it organizes language into abstract structures that support fluent prediction.</a:t>
            </a:r>
          </a:p>
          <a:p>
            <a:r>
              <a:rPr lang="en-US" dirty="0"/>
              <a:t>These emergent abstractions are a key reason transformers outperform earlier architectures.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Depth also supports flexible generalization.</a:t>
            </a:r>
          </a:p>
          <a:p>
            <a:r>
              <a:rPr lang="en-US" dirty="0"/>
              <a:t>Because each layer transforms the representation in different ways, the model can reuse lower-level features for many tasks while refining higher-level features for context-specific behavior.</a:t>
            </a:r>
          </a:p>
          <a:p>
            <a:r>
              <a:rPr lang="en-US" dirty="0"/>
              <a:t>This is analogous to how cognitive systems reuse perceptual or syntactic representations across different linguistic or conceptual tasks.</a:t>
            </a:r>
          </a:p>
          <a:p>
            <a:r>
              <a:rPr lang="en-US" dirty="0"/>
              <a:t>Understanding this flow of abstraction sets the stage for examining how training shapes these layers and the behaviors they enable.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3D819-C08D-4BA3-5FC5-2E21B943D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34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E8A1-46D4-3C59-D372-025F406A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9BD84-6B4C-D855-36C0-E59414617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E6767-D733-C7C9-7689-B294D9F30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most surprising discoveries in modern AI is that performance follows predictable </a:t>
            </a:r>
            <a:r>
              <a:rPr lang="en-US" b="1" dirty="0"/>
              <a:t>scaling laws</a:t>
            </a:r>
            <a:r>
              <a:rPr lang="en-US" dirty="0"/>
              <a:t>.</a:t>
            </a:r>
          </a:p>
          <a:p>
            <a:r>
              <a:rPr lang="en-US" dirty="0"/>
              <a:t>As model size, dataset size, and compute increase, error rates decrease along remarkably smooth curves.</a:t>
            </a:r>
          </a:p>
          <a:p>
            <a:r>
              <a:rPr lang="en-US" dirty="0"/>
              <a:t>This empirical regularity holds across many architectures, datasets, and tasks, suggesting that model capacity and data volume interact in systematic ways.</a:t>
            </a:r>
          </a:p>
          <a:p>
            <a:r>
              <a:rPr lang="en-US" dirty="0"/>
              <a:t>Scaling laws helped shift the field toward building very large models rather than focusing solely on algorithmic innovations.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Scaling also changes the </a:t>
            </a:r>
            <a:r>
              <a:rPr lang="en-US" i="1" dirty="0"/>
              <a:t>kind</a:t>
            </a:r>
            <a:r>
              <a:rPr lang="en-US" dirty="0"/>
              <a:t> of patterns a model can learn.</a:t>
            </a:r>
          </a:p>
          <a:p>
            <a:r>
              <a:rPr lang="en-US" dirty="0"/>
              <a:t>Smaller models capture local statistics but struggle with longer-range dependencies or more abstract regularities.</a:t>
            </a:r>
          </a:p>
          <a:p>
            <a:r>
              <a:rPr lang="en-US" dirty="0"/>
              <a:t>As capacity grows, models can store richer representations, integrate broader context, and model more complex distributions.</a:t>
            </a:r>
          </a:p>
          <a:p>
            <a:r>
              <a:rPr lang="en-US" dirty="0"/>
              <a:t>These improvements occur even when the training objective remains the same simple next-token prediction.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An especially striking outcome is the emergence of qualitatively new abilities at certain scales.</a:t>
            </a:r>
          </a:p>
          <a:p>
            <a:r>
              <a:rPr lang="en-US" dirty="0"/>
              <a:t>Models suddenly begin handling arithmetic-like tasks, analogy-making, multi-step reasoning, or syntactic repair that smaller models fail to exhibit.</a:t>
            </a:r>
          </a:p>
          <a:p>
            <a:r>
              <a:rPr lang="en-US" dirty="0"/>
              <a:t>These “emergent abilities” are not explicitly programmed; they arise from the accumulation of representational capacity and training data.</a:t>
            </a:r>
          </a:p>
          <a:p>
            <a:r>
              <a:rPr lang="en-US" dirty="0"/>
              <a:t>This challenges long-standing assumptions about how much structure must be built into a cognitive or linguistic system.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Scaling also reinforces a major theme from Lecture 2: the role of </a:t>
            </a:r>
            <a:r>
              <a:rPr lang="en-US" b="1" dirty="0"/>
              <a:t>data</a:t>
            </a:r>
            <a:r>
              <a:rPr lang="en-US" dirty="0"/>
              <a:t> is as important as the architecture.</a:t>
            </a:r>
          </a:p>
          <a:p>
            <a:r>
              <a:rPr lang="en-US" dirty="0"/>
              <a:t>Even the most powerful model cannot exceed the limits of its training corpus, and many weaknesses stem from gaps in the kinds of input available.</a:t>
            </a:r>
          </a:p>
          <a:p>
            <a:r>
              <a:rPr lang="en-US" dirty="0"/>
              <a:t>Understanding scaling helps us see why larger models behave differently—not because their mechanisms change, but because the scope of what they can encode expands.</a:t>
            </a:r>
          </a:p>
          <a:p>
            <a:r>
              <a:rPr lang="en-US" dirty="0"/>
              <a:t>With that in mind, we now turn to the nature of the data these models actually train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4544-4D47-AA3B-F7F5-C8F6B5587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41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356F6-C183-0F42-8450-6788C76D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EC89F-127D-3C3A-0520-1829D7CE6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06DD-8E2F-9D2E-1358-668818213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LLMs learn only from the text they are exposed to, which means the training corpus plays a central role in determining their strengths and weaknesses.</a:t>
            </a:r>
          </a:p>
          <a:p>
            <a:r>
              <a:rPr lang="en-US" dirty="0"/>
              <a:t>Most modern models are trained primarily on large collections of </a:t>
            </a:r>
            <a:r>
              <a:rPr lang="en-US" b="1" dirty="0"/>
              <a:t>internet text</a:t>
            </a:r>
            <a:r>
              <a:rPr lang="en-US" dirty="0"/>
              <a:t>, books, and other publicly available written sources.</a:t>
            </a:r>
          </a:p>
          <a:p>
            <a:r>
              <a:rPr lang="en-US" dirty="0"/>
              <a:t>This provides immense linguistic diversity, but it also reflects the biases, omissions, and distortions of online language.</a:t>
            </a:r>
          </a:p>
          <a:p>
            <a:r>
              <a:rPr lang="en-US" dirty="0"/>
              <a:t>The model therefore learns a world filtered through the lens of what people choose to write and publish.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Crucially, this text-based training regime excludes enormous portions of human experience.</a:t>
            </a:r>
          </a:p>
          <a:p>
            <a:r>
              <a:rPr lang="en-US" dirty="0"/>
              <a:t>Models do not see the perceptual, spatial, emotional, or sensory contexts that ground meaning in real life.</a:t>
            </a:r>
          </a:p>
          <a:p>
            <a:r>
              <a:rPr lang="en-US" dirty="0"/>
              <a:t>They also do not participate in dialogue the way children do—they receive no gestures, prosody, shared attention, or physical environment.</a:t>
            </a:r>
          </a:p>
          <a:p>
            <a:r>
              <a:rPr lang="en-US" dirty="0"/>
              <a:t>As a result, their understanding of language is shaped entirely by statistical patterns in text, not by interactions with the world.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Another limitation is that the data is </a:t>
            </a:r>
            <a:r>
              <a:rPr lang="en-US" b="1" dirty="0"/>
              <a:t>highly curated</a:t>
            </a:r>
            <a:r>
              <a:rPr lang="en-US" dirty="0"/>
              <a:t> relative to everyday experience.</a:t>
            </a:r>
          </a:p>
          <a:p>
            <a:r>
              <a:rPr lang="en-US" dirty="0"/>
              <a:t>Images and videos used in multimodal models tend to be polished, framed, and centered on salient objects, rather than the messy stream of sensorimotor data a child encounters.</a:t>
            </a:r>
          </a:p>
          <a:p>
            <a:r>
              <a:rPr lang="en-US" dirty="0"/>
              <a:t>Robotic experience data is scarce, meaning models lack grounding in action, manipulation, and physics.</a:t>
            </a:r>
          </a:p>
          <a:p>
            <a:r>
              <a:rPr lang="en-US" dirty="0"/>
              <a:t>This limits their ability to generalize to embodied tasks, even though they may describe such tasks fluently.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Finally, the distribution of data strongly influences model behavior.</a:t>
            </a:r>
          </a:p>
          <a:p>
            <a:r>
              <a:rPr lang="en-US" dirty="0"/>
              <a:t>Common topics receive disproportionately rich representation, while marginalized dialects, rare technical vocabularies, or informal speech varieties may be fragmented or underrepresented.</a:t>
            </a:r>
          </a:p>
          <a:p>
            <a:r>
              <a:rPr lang="en-US" dirty="0"/>
              <a:t>These gaps affect fluency, bias patterns, and the robustness of downstream applications.</a:t>
            </a:r>
          </a:p>
          <a:p>
            <a:r>
              <a:rPr lang="en-US" dirty="0"/>
              <a:t>Understanding how data shapes learning prepares us to discuss fine-tuning, alignment, and methods for reshaping model behavior after initial training.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C4BA0-B43B-19B1-8D1B-1441FF937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9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670E-CFB8-AE34-D4D0-E14A80CC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C6459-2393-B2E9-C5A0-8AEC4E6C2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DC1B1-AB15-A47B-05E6-5F82142D4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large-scale pretraining, LLMs undergo additional steps to adapt them for real-world use.</a:t>
            </a:r>
          </a:p>
          <a:p>
            <a:r>
              <a:rPr lang="en-US" b="1" dirty="0"/>
              <a:t>Fine-tuning</a:t>
            </a:r>
            <a:r>
              <a:rPr lang="en-US" dirty="0"/>
              <a:t> trains the model on smaller, curated datasets to specialize it for tasks like question answering, summarization, or dialogue.</a:t>
            </a:r>
          </a:p>
          <a:p>
            <a:r>
              <a:rPr lang="en-US" dirty="0"/>
              <a:t>This step adjusts the pretrained representations without starting learning from scratch.</a:t>
            </a:r>
          </a:p>
          <a:p>
            <a:r>
              <a:rPr lang="en-US" dirty="0"/>
              <a:t>Fine-tuning allows models to acquire task-specific behavior that the general-purpose training objective cannot provide.</a:t>
            </a:r>
          </a:p>
          <a:p>
            <a:endParaRPr lang="en-US" dirty="0"/>
          </a:p>
          <a:p>
            <a:r>
              <a:rPr lang="en-US" dirty="0"/>
              <a:t>Another critical method is </a:t>
            </a:r>
            <a:r>
              <a:rPr lang="en-US" b="1" dirty="0"/>
              <a:t>Reinforcement Learning from Human Feedback (RLHF)</a:t>
            </a:r>
            <a:r>
              <a:rPr lang="en-US" dirty="0"/>
              <a:t>.</a:t>
            </a:r>
          </a:p>
          <a:p>
            <a:r>
              <a:rPr lang="en-US" dirty="0"/>
              <a:t>Here, human evaluators rank multiple model outputs, and a reward model is trained to predict which responses humans prefer.</a:t>
            </a:r>
          </a:p>
          <a:p>
            <a:r>
              <a:rPr lang="en-US" dirty="0"/>
              <a:t>The LLM is then optimized to produce outputs that maximize predicted human approval.</a:t>
            </a:r>
          </a:p>
          <a:p>
            <a:r>
              <a:rPr lang="en-US" dirty="0"/>
              <a:t>This process helps reduce harmful content, increase helpfulness, and shape the model’s tone and style.</a:t>
            </a:r>
          </a:p>
          <a:p>
            <a:endParaRPr lang="en-US" dirty="0"/>
          </a:p>
          <a:p>
            <a:r>
              <a:rPr lang="en-US" dirty="0"/>
              <a:t>RLHF profoundly alters how the model behaves.</a:t>
            </a:r>
          </a:p>
          <a:p>
            <a:r>
              <a:rPr lang="en-US" dirty="0"/>
              <a:t>It shifts the system from raw next-token prediction toward producing responses that align with human conversational norms.</a:t>
            </a:r>
          </a:p>
          <a:p>
            <a:r>
              <a:rPr lang="en-US" dirty="0"/>
              <a:t>In practice, RLHF teaches the model to avoid certain failure modes, such as rambling, refusal to answer simple questions, or giving unsafe content.</a:t>
            </a:r>
          </a:p>
          <a:p>
            <a:r>
              <a:rPr lang="en-US" dirty="0"/>
              <a:t>However, it also introduces a layer of human subjectivity, making the model reflect the values, biases, and preferences of annotators.</a:t>
            </a:r>
          </a:p>
          <a:p>
            <a:endParaRPr lang="en-US" dirty="0"/>
          </a:p>
          <a:p>
            <a:r>
              <a:rPr lang="en-US" dirty="0"/>
              <a:t>These methods highlight that LLMs are not “finished” after pretraining.</a:t>
            </a:r>
          </a:p>
          <a:p>
            <a:r>
              <a:rPr lang="en-US" dirty="0"/>
              <a:t>They undergo significant transformation through targeted updates designed to make them safer, more useful, and more agreeable.</a:t>
            </a:r>
          </a:p>
          <a:p>
            <a:r>
              <a:rPr lang="en-US" dirty="0"/>
              <a:t>Fine-tuning and RLHF demonstrate how post-training interventions can reshape a model’s behavior without altering the underlying architecture.</a:t>
            </a:r>
          </a:p>
          <a:p>
            <a:r>
              <a:rPr lang="en-US" dirty="0"/>
              <a:t>Next, we examine </a:t>
            </a:r>
            <a:r>
              <a:rPr lang="en-US" b="1" dirty="0"/>
              <a:t>chain-of-thought prompting</a:t>
            </a:r>
            <a:r>
              <a:rPr lang="en-US" dirty="0"/>
              <a:t>, another important technique that modifies how models generate reasoning-like responses.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540AF-ABB2-82B5-1997-6740AAA48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45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D4A5-B550-5E29-F2E6-24540B27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11BA4-44DF-FD55-9F76-5DBDB0758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BA499-A46B-869E-DE91-F91FFF3E8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Chain-of-thought prompting is a technique that encourages LLMs to produce intermediate reasoning steps rather than jumping directly to a final answer.</a:t>
            </a:r>
          </a:p>
          <a:p>
            <a:r>
              <a:rPr lang="en-US" dirty="0"/>
              <a:t>By asking the model to “think step by step,” we nudge it to unfold its internal associations in a more structured way.</a:t>
            </a:r>
          </a:p>
          <a:p>
            <a:r>
              <a:rPr lang="en-US" dirty="0"/>
              <a:t>This often improves performance on math problems, logic puzzles, and multi-step reasoning tasks.</a:t>
            </a:r>
          </a:p>
          <a:p>
            <a:r>
              <a:rPr lang="en-US" dirty="0"/>
              <a:t>Importantly, the model is not </a:t>
            </a:r>
            <a:r>
              <a:rPr lang="en-US" i="1" dirty="0"/>
              <a:t>actually</a:t>
            </a:r>
            <a:r>
              <a:rPr lang="en-US" dirty="0"/>
              <a:t> reasoning in a human sense—it is learning a pattern of producing explanations that correlate with correct answers.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This method works because LLMs have implicitly learned statistical regularities from examples of human explanations in their training data.</a:t>
            </a:r>
          </a:p>
          <a:p>
            <a:r>
              <a:rPr lang="en-US" dirty="0"/>
              <a:t>When prompted to elaborate, they draw on these patterns to produce sequences that resemble justification, decomposition, or intermediate inference.</a:t>
            </a:r>
          </a:p>
          <a:p>
            <a:r>
              <a:rPr lang="en-US" dirty="0"/>
              <a:t>These stepwise outputs help the model avoid premature commitments to incorrect answers.</a:t>
            </a:r>
          </a:p>
          <a:p>
            <a:r>
              <a:rPr lang="en-US" dirty="0"/>
              <a:t>In effect, chain-of-thought exposes some of the model’s internal heuristics in a more interpretable form.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There are also other prompting strategies that shape model behavior.</a:t>
            </a:r>
          </a:p>
          <a:p>
            <a:r>
              <a:rPr lang="en-US" dirty="0"/>
              <a:t>“Few-shot prompting” gives examples to guide the model’s pattern of response, while “self-consistency” methods sample multiple chains of thought and choose the most common answer.</a:t>
            </a:r>
          </a:p>
          <a:p>
            <a:r>
              <a:rPr lang="en-US" dirty="0"/>
              <a:t>Techniques like “Tree-of-Thought” prompting or “deliberate decoding” push the model toward more structured exploration of solution spaces.</a:t>
            </a:r>
          </a:p>
          <a:p>
            <a:r>
              <a:rPr lang="en-US" dirty="0"/>
              <a:t>These methods operate at the interface between user and model rather than inside the training pipeline.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Taken together, these optimizations illustrate how much control we have over </a:t>
            </a:r>
            <a:r>
              <a:rPr lang="en-US" i="1" dirty="0"/>
              <a:t>how</a:t>
            </a:r>
            <a:r>
              <a:rPr lang="en-US" dirty="0"/>
              <a:t> models generate answers without changing the underlying architecture.</a:t>
            </a:r>
          </a:p>
          <a:p>
            <a:r>
              <a:rPr lang="en-US" dirty="0"/>
              <a:t>They also highlight a broader theme: model performance depends heavily on how we interact with it, not just on its internal mechanisms.</a:t>
            </a:r>
          </a:p>
          <a:p>
            <a:r>
              <a:rPr lang="en-US" dirty="0"/>
              <a:t>Prompt engineering can bring out latent capabilities or suppress unhelpful tendencies.</a:t>
            </a:r>
          </a:p>
          <a:p>
            <a:r>
              <a:rPr lang="en-US" dirty="0"/>
              <a:t>With the foundations of architecture and training now established, we turn to what emerges from these systems at scale.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5926F-FDA8-23CF-45C3-2911F955D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9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4809-F69F-0D48-97F8-9CF76A5308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340" y="1122363"/>
            <a:ext cx="5785769" cy="23876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Title Here: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Tell Your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Illinois Story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99F5-1DAB-644E-87BD-7B2BE337D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340" y="3602038"/>
            <a:ext cx="5785769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86B4-4E28-5743-B958-4D04BD3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9BA8F-BF67-344F-9BFA-A8262A79BC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37075" y="5718264"/>
            <a:ext cx="3117850" cy="8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210D-E74D-9F46-BBEB-61CE8DBF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7874" y="6095093"/>
            <a:ext cx="2743200" cy="365125"/>
          </a:xfrm>
        </p:spPr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4261-61FB-7142-9417-2F78D3797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23" y="365125"/>
            <a:ext cx="9614263" cy="1325563"/>
          </a:xfrm>
        </p:spPr>
        <p:txBody>
          <a:bodyPr/>
          <a:lstStyle>
            <a:lvl1pPr algn="ctr">
              <a:defRPr b="1" i="0">
                <a:solidFill>
                  <a:srgbClr val="E84A2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Hello.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12F32-5110-BE43-86BA-CB778EC4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1690688"/>
            <a:ext cx="9614263" cy="3625895"/>
          </a:xfrm>
        </p:spPr>
        <p:txBody>
          <a:bodyPr/>
          <a:lstStyle>
            <a:lvl1pPr>
              <a:defRPr>
                <a:solidFill>
                  <a:srgbClr val="13294B"/>
                </a:solidFill>
              </a:defRPr>
            </a:lvl1pPr>
            <a:lvl2pPr>
              <a:defRPr>
                <a:solidFill>
                  <a:srgbClr val="13294B"/>
                </a:solidFill>
              </a:defRPr>
            </a:lvl2pPr>
            <a:lvl3pPr>
              <a:defRPr>
                <a:solidFill>
                  <a:srgbClr val="13294B"/>
                </a:solidFill>
              </a:defRPr>
            </a:lvl3pPr>
            <a:lvl4pPr>
              <a:defRPr>
                <a:solidFill>
                  <a:srgbClr val="13294B"/>
                </a:solidFill>
              </a:defRPr>
            </a:lvl4pPr>
            <a:lvl5pPr>
              <a:defRPr>
                <a:solidFill>
                  <a:srgbClr val="13294B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6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6ADA6-32C7-6D47-94AB-D149FA9C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FDBC8-5F1C-654A-9325-61F424413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1FB5C-A5C2-4C44-A9DF-4F6A196E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E84A27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3294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3294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3294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5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3CDB9E-798C-A842-B031-6BFA0438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9571" y="773546"/>
            <a:ext cx="5935859" cy="27202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0000" dirty="0">
                <a:latin typeface="Calibri"/>
                <a:cs typeface="Calibri"/>
              </a:rPr>
              <a:t>PSYC 496</a:t>
            </a:r>
            <a:endParaRPr lang="en-US" sz="1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F9A5BC-DE40-064D-98AE-B1AA2F2743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017406" y="3472201"/>
            <a:ext cx="828386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Calibri"/>
                <a:cs typeface="Calibri"/>
              </a:rPr>
              <a:t>Lecture 6: The Transformer Architecture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7BCB3F-D51B-11CA-8A5C-B653C02DD655}"/>
              </a:ext>
            </a:extLst>
          </p:cNvPr>
          <p:cNvSpPr/>
          <p:nvPr/>
        </p:nvSpPr>
        <p:spPr>
          <a:xfrm>
            <a:off x="443346" y="126307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6C562F-8F13-2516-D9AF-45E75A96A3C5}"/>
              </a:ext>
            </a:extLst>
          </p:cNvPr>
          <p:cNvSpPr/>
          <p:nvPr/>
        </p:nvSpPr>
        <p:spPr>
          <a:xfrm>
            <a:off x="1505528" y="3248890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052EBC-2E12-F996-BB1F-41F23E64F1BE}"/>
              </a:ext>
            </a:extLst>
          </p:cNvPr>
          <p:cNvSpPr/>
          <p:nvPr/>
        </p:nvSpPr>
        <p:spPr>
          <a:xfrm>
            <a:off x="443345" y="331816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4D7291-4D5A-9593-1D85-950EBFC1FF07}"/>
              </a:ext>
            </a:extLst>
          </p:cNvPr>
          <p:cNvSpPr/>
          <p:nvPr/>
        </p:nvSpPr>
        <p:spPr>
          <a:xfrm>
            <a:off x="443346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E91675-03DF-90EE-942D-06C70F754DEE}"/>
              </a:ext>
            </a:extLst>
          </p:cNvPr>
          <p:cNvCxnSpPr/>
          <p:nvPr/>
        </p:nvCxnSpPr>
        <p:spPr>
          <a:xfrm>
            <a:off x="867642" y="2172278"/>
            <a:ext cx="1052944" cy="11106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D74029-D6FE-2938-F6DF-602FCD9AA658}"/>
              </a:ext>
            </a:extLst>
          </p:cNvPr>
          <p:cNvCxnSpPr>
            <a:cxnSpLocks/>
          </p:cNvCxnSpPr>
          <p:nvPr/>
        </p:nvCxnSpPr>
        <p:spPr>
          <a:xfrm>
            <a:off x="879187" y="2172278"/>
            <a:ext cx="25400" cy="1179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31A33E-2612-45D1-F1F0-57371C01F8AB}"/>
              </a:ext>
            </a:extLst>
          </p:cNvPr>
          <p:cNvSpPr/>
          <p:nvPr/>
        </p:nvSpPr>
        <p:spPr>
          <a:xfrm>
            <a:off x="1505528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65D7F4-2920-5911-7086-757F822A07E3}"/>
              </a:ext>
            </a:extLst>
          </p:cNvPr>
          <p:cNvSpPr/>
          <p:nvPr/>
        </p:nvSpPr>
        <p:spPr>
          <a:xfrm>
            <a:off x="2694709" y="524625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6F4CE-E239-70EB-26D3-C8CB8E270185}"/>
              </a:ext>
            </a:extLst>
          </p:cNvPr>
          <p:cNvCxnSpPr>
            <a:cxnSpLocks/>
          </p:cNvCxnSpPr>
          <p:nvPr/>
        </p:nvCxnSpPr>
        <p:spPr>
          <a:xfrm>
            <a:off x="1941369" y="4169641"/>
            <a:ext cx="1168399" cy="10875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727C65-F6C0-78C9-A469-40AAD8018B82}"/>
              </a:ext>
            </a:extLst>
          </p:cNvPr>
          <p:cNvCxnSpPr>
            <a:cxnSpLocks/>
          </p:cNvCxnSpPr>
          <p:nvPr/>
        </p:nvCxnSpPr>
        <p:spPr>
          <a:xfrm flipH="1">
            <a:off x="1955223" y="4158096"/>
            <a:ext cx="9238" cy="1087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7C2072-1E04-8B83-DAA8-B48C97536A6F}"/>
              </a:ext>
            </a:extLst>
          </p:cNvPr>
          <p:cNvCxnSpPr>
            <a:cxnSpLocks/>
          </p:cNvCxnSpPr>
          <p:nvPr/>
        </p:nvCxnSpPr>
        <p:spPr>
          <a:xfrm>
            <a:off x="890732" y="4227368"/>
            <a:ext cx="13855" cy="101831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8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EBF2-2C25-9B2C-CD8B-6F2756F75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CCE30A50-FDB4-914D-AF99-682BD5A6A4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E7FC0-AD0A-995A-76A4-D473D0A4EC9B}"/>
              </a:ext>
            </a:extLst>
          </p:cNvPr>
          <p:cNvSpPr txBox="1"/>
          <p:nvPr/>
        </p:nvSpPr>
        <p:spPr>
          <a:xfrm>
            <a:off x="215153" y="1398655"/>
            <a:ext cx="442408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Problem Do LLMs Actually Solve?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Reveal limits of human assumptions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Show prediction as powerful mechanism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Test theories of mind and language</a:t>
            </a:r>
          </a:p>
        </p:txBody>
      </p:sp>
      <p:pic>
        <p:nvPicPr>
          <p:cNvPr id="2050" name="Picture 2" descr="Large Language Models Explained - At a High Level LLMs such as GPT-4, Bard  and LLama appear magical and have displayed emergent human-like  intelligence Fundamentally, the work on a pretty simple principle -">
            <a:extLst>
              <a:ext uri="{FF2B5EF4-FFF2-40B4-BE49-F238E27FC236}">
                <a16:creationId xmlns:a16="http://schemas.microsoft.com/office/drawing/2014/main" id="{1C96D86D-0424-028D-8F1D-FF07C1668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369" y="1177812"/>
            <a:ext cx="7668631" cy="450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6AF58A-D809-23F7-9F2C-5E0FFAECBEE4}"/>
              </a:ext>
            </a:extLst>
          </p:cNvPr>
          <p:cNvSpPr txBox="1"/>
          <p:nvPr/>
        </p:nvSpPr>
        <p:spPr>
          <a:xfrm>
            <a:off x="4772937" y="1550942"/>
            <a:ext cx="968188" cy="32316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An</a:t>
            </a:r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r>
              <a:rPr lang="en-US" sz="2000" dirty="0"/>
              <a:t>eagle</a:t>
            </a:r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r>
              <a:rPr lang="en-US" sz="2000" dirty="0"/>
              <a:t>is</a:t>
            </a:r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r>
              <a:rPr lang="en-US" sz="2000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F8128-B4A0-AE1C-206F-86F8B5CBCE4B}"/>
              </a:ext>
            </a:extLst>
          </p:cNvPr>
          <p:cNvSpPr txBox="1"/>
          <p:nvPr/>
        </p:nvSpPr>
        <p:spPr>
          <a:xfrm>
            <a:off x="10854628" y="2563953"/>
            <a:ext cx="62762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bird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C40BC-39A3-169B-2105-D58F97203856}"/>
              </a:ext>
            </a:extLst>
          </p:cNvPr>
          <p:cNvSpPr txBox="1"/>
          <p:nvPr/>
        </p:nvSpPr>
        <p:spPr>
          <a:xfrm>
            <a:off x="10227005" y="2394676"/>
            <a:ext cx="62762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very   </a:t>
            </a:r>
          </a:p>
        </p:txBody>
      </p:sp>
    </p:spTree>
    <p:extLst>
      <p:ext uri="{BB962C8B-B14F-4D97-AF65-F5344CB8AC3E}">
        <p14:creationId xmlns:p14="http://schemas.microsoft.com/office/powerpoint/2010/main" val="266481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0A2B8-8EB8-9EA6-33F5-9D1F4D9F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85DF551C-8063-3686-8EDF-48BAC59B53F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EF282-EDF0-E946-10DB-2087D6460F82}"/>
              </a:ext>
            </a:extLst>
          </p:cNvPr>
          <p:cNvSpPr txBox="1"/>
          <p:nvPr/>
        </p:nvSpPr>
        <p:spPr>
          <a:xfrm>
            <a:off x="6211003" y="1477659"/>
            <a:ext cx="499936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RNNs and Their History in Cognitive Science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Models with recurrent connections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Long tradition in cog sci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Sequential processing like human memory</a:t>
            </a:r>
          </a:p>
        </p:txBody>
      </p:sp>
      <p:pic>
        <p:nvPicPr>
          <p:cNvPr id="5122" name="Picture 2" descr="Frontiers | A Dual Simple Recurrent Network Model for Chunking and Abstract  Processes in Sequence Learning">
            <a:extLst>
              <a:ext uri="{FF2B5EF4-FFF2-40B4-BE49-F238E27FC236}">
                <a16:creationId xmlns:a16="http://schemas.microsoft.com/office/drawing/2014/main" id="{AC928B88-A7AD-1CA8-2368-112C6E8BE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82" y="1157194"/>
            <a:ext cx="4537682" cy="427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88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4EC5B-D3FA-804E-5FB1-2E955864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075C9E08-D8F6-59EC-D284-F9CE57C763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B76852-6777-E389-2389-E8F6CD8E6F37}"/>
              </a:ext>
            </a:extLst>
          </p:cNvPr>
          <p:cNvSpPr txBox="1"/>
          <p:nvPr/>
        </p:nvSpPr>
        <p:spPr>
          <a:xfrm>
            <a:off x="2560183" y="1551563"/>
            <a:ext cx="664877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Why RNNs Struggled in Practice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Slow, sequential 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Limited long-range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Hard to scale to big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F3367-DB02-F438-749A-B1FEE78AD537}"/>
              </a:ext>
            </a:extLst>
          </p:cNvPr>
          <p:cNvSpPr txBox="1"/>
          <p:nvPr/>
        </p:nvSpPr>
        <p:spPr>
          <a:xfrm>
            <a:off x="2299447" y="4450976"/>
            <a:ext cx="6444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key(s) to the cabinet(s) was/were on the table</a:t>
            </a:r>
          </a:p>
        </p:txBody>
      </p:sp>
    </p:spTree>
    <p:extLst>
      <p:ext uri="{BB962C8B-B14F-4D97-AF65-F5344CB8AC3E}">
        <p14:creationId xmlns:p14="http://schemas.microsoft.com/office/powerpoint/2010/main" val="261455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A5A8-188F-7E98-9EB9-425BCB7A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CC61E3E3-4FE8-479D-3E0C-9C3224D600B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1ACB-52FF-AB5F-6D69-16EFFFFCC86E}"/>
              </a:ext>
            </a:extLst>
          </p:cNvPr>
          <p:cNvSpPr txBox="1"/>
          <p:nvPr/>
        </p:nvSpPr>
        <p:spPr>
          <a:xfrm>
            <a:off x="301078" y="2213282"/>
            <a:ext cx="400198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Transformer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Processes all tokens in parallel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Uses attention to link context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Designed to scale efficiently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8B7D8-D4F3-6A1E-745B-81EFCF44D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41" y="1056508"/>
            <a:ext cx="7772400" cy="496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6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207B3-4E40-B6BE-3F84-9AA21A4BB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67920EC9-144B-CE60-F45D-21B0F090EA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27071E-A97C-8B6D-4B84-62EC93E412A3}"/>
              </a:ext>
            </a:extLst>
          </p:cNvPr>
          <p:cNvSpPr txBox="1"/>
          <p:nvPr/>
        </p:nvSpPr>
        <p:spPr>
          <a:xfrm>
            <a:off x="112819" y="1348742"/>
            <a:ext cx="349099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Attention in Large Language Models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Tokens “look at” relevant context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Weighted connections shape meaning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Enables long-range relationships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28138-38D2-554B-F31A-BE4B0181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781" y="648674"/>
            <a:ext cx="7772400" cy="614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84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4B70D-5DD8-69B6-A541-D56E969D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AE476AF3-21EC-2BAD-CD0F-45BED7ABB9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8896C-BA6F-1B0B-C34C-2E551C5BA62C}"/>
              </a:ext>
            </a:extLst>
          </p:cNvPr>
          <p:cNvSpPr txBox="1"/>
          <p:nvPr/>
        </p:nvSpPr>
        <p:spPr>
          <a:xfrm>
            <a:off x="8090726" y="1597729"/>
            <a:ext cx="394211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Stacking Layers Builds Abstractions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Lower layers track surface patterns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Higher layers encode 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Depth enables complex behavior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E1323-B9FB-5619-5C93-CFC067957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63" y="735162"/>
            <a:ext cx="7772400" cy="496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00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8926C-3758-F957-B2F6-35981033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EC50D941-1D12-3D41-B910-09B1519B98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0667AD-53D2-2AC6-D000-B1D0D60A5DC7}"/>
              </a:ext>
            </a:extLst>
          </p:cNvPr>
          <p:cNvSpPr txBox="1"/>
          <p:nvPr/>
        </p:nvSpPr>
        <p:spPr>
          <a:xfrm>
            <a:off x="2218840" y="4106050"/>
            <a:ext cx="664877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Scaling Laws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Self-supervised learning from 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Error signals update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Simple rule drives complex behavior</a:t>
            </a:r>
          </a:p>
        </p:txBody>
      </p:sp>
      <p:pic>
        <p:nvPicPr>
          <p:cNvPr id="8194" name="Picture 2" descr="Language Model Scaling Laws and GPT-3">
            <a:extLst>
              <a:ext uri="{FF2B5EF4-FFF2-40B4-BE49-F238E27FC236}">
                <a16:creationId xmlns:a16="http://schemas.microsoft.com/office/drawing/2014/main" id="{88AED14E-3553-FC7B-97A3-86D5F5AFCA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45"/>
          <a:stretch>
            <a:fillRect/>
          </a:stretch>
        </p:blipFill>
        <p:spPr bwMode="auto">
          <a:xfrm>
            <a:off x="529715" y="1059179"/>
            <a:ext cx="10027024" cy="298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09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71E6-B1A3-4D18-78B0-C63698DE7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C33649C9-78FD-50BF-EFAF-6B343F523F3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513CC0-07A7-9483-0245-49BDB2AB0AEE}"/>
              </a:ext>
            </a:extLst>
          </p:cNvPr>
          <p:cNvSpPr txBox="1"/>
          <p:nvPr/>
        </p:nvSpPr>
        <p:spPr>
          <a:xfrm>
            <a:off x="5424406" y="2276589"/>
            <a:ext cx="664877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Role of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Internet text dominates 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Missing everyday interactions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shapes what models learn</a:t>
            </a:r>
          </a:p>
        </p:txBody>
      </p:sp>
    </p:spTree>
    <p:extLst>
      <p:ext uri="{BB962C8B-B14F-4D97-AF65-F5344CB8AC3E}">
        <p14:creationId xmlns:p14="http://schemas.microsoft.com/office/powerpoint/2010/main" val="426924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EE0A6-A57A-E60C-A6F0-2C23FE6B0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0E729F2E-AC4E-470D-713A-11BDB4AF4C3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24180A-8761-6353-0781-2D6BBFFA28F0}"/>
              </a:ext>
            </a:extLst>
          </p:cNvPr>
          <p:cNvSpPr txBox="1"/>
          <p:nvPr/>
        </p:nvSpPr>
        <p:spPr>
          <a:xfrm>
            <a:off x="5160936" y="2276589"/>
            <a:ext cx="691224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Fine-Tuning and Reinforcement Learning with Human Feedback (RLHF)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Specializes models after pretraining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Aligns behavior with human norms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Feedback reshapes model responses</a:t>
            </a:r>
          </a:p>
        </p:txBody>
      </p:sp>
    </p:spTree>
    <p:extLst>
      <p:ext uri="{BB962C8B-B14F-4D97-AF65-F5344CB8AC3E}">
        <p14:creationId xmlns:p14="http://schemas.microsoft.com/office/powerpoint/2010/main" val="2471649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2298-723E-054B-20B1-B4B853FF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E09813EA-0803-4D59-E497-C2E22C2852D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How Large Language Models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A80656-FE1A-2943-12FF-471497077107}"/>
              </a:ext>
            </a:extLst>
          </p:cNvPr>
          <p:cNvSpPr txBox="1"/>
          <p:nvPr/>
        </p:nvSpPr>
        <p:spPr>
          <a:xfrm>
            <a:off x="266206" y="1523552"/>
            <a:ext cx="411753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Chain of Thought and Other Optimizations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Prompts elicit stepwise reasoning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Techniques improve reliability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Shapes how models generate answers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3735FC-B696-98E6-ECD0-2F4BC9ACFCC8}"/>
              </a:ext>
            </a:extLst>
          </p:cNvPr>
          <p:cNvGraphicFramePr>
            <a:graphicFrameLocks noGrp="1"/>
          </p:cNvGraphicFramePr>
          <p:nvPr/>
        </p:nvGraphicFramePr>
        <p:xfrm>
          <a:off x="4489570" y="600692"/>
          <a:ext cx="7436224" cy="6214351"/>
        </p:xfrm>
        <a:graphic>
          <a:graphicData uri="http://schemas.openxmlformats.org/drawingml/2006/table">
            <a:tbl>
              <a:tblPr/>
              <a:tblGrid>
                <a:gridCol w="1131301">
                  <a:extLst>
                    <a:ext uri="{9D8B030D-6E8A-4147-A177-3AD203B41FA5}">
                      <a16:colId xmlns:a16="http://schemas.microsoft.com/office/drawing/2014/main" val="2584759105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2781487189"/>
                    </a:ext>
                  </a:extLst>
                </a:gridCol>
                <a:gridCol w="2043953">
                  <a:extLst>
                    <a:ext uri="{9D8B030D-6E8A-4147-A177-3AD203B41FA5}">
                      <a16:colId xmlns:a16="http://schemas.microsoft.com/office/drawing/2014/main" val="129875435"/>
                    </a:ext>
                  </a:extLst>
                </a:gridCol>
                <a:gridCol w="3158312">
                  <a:extLst>
                    <a:ext uri="{9D8B030D-6E8A-4147-A177-3AD203B41FA5}">
                      <a16:colId xmlns:a16="http://schemas.microsoft.com/office/drawing/2014/main" val="1801238314"/>
                    </a:ext>
                  </a:extLst>
                </a:gridCol>
              </a:tblGrid>
              <a:tr h="435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Time Step</a:t>
                      </a:r>
                      <a:endParaRPr lang="en-US" sz="16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Word</a:t>
                      </a:r>
                      <a:endParaRPr lang="en-US" sz="16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Hidden State Summary (Conceptual)</a:t>
                      </a:r>
                      <a:endParaRPr lang="en-US" sz="16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Issue</a:t>
                      </a:r>
                      <a:endParaRPr lang="en-US" sz="16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163295"/>
                  </a:ext>
                </a:extLst>
              </a:tr>
              <a:tr h="249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t₁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“The”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Initializes representation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041445"/>
                  </a:ext>
                </a:extLst>
              </a:tr>
              <a:tr h="435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t₂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“trophy”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Encodes object A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Representation is weak, easily overwritten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68177"/>
                  </a:ext>
                </a:extLst>
              </a:tr>
              <a:tr h="249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t₃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“didn’t”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Adds negation cue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Earlier noun decays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224119"/>
                  </a:ext>
                </a:extLst>
              </a:tr>
              <a:tr h="435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“fit”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Verb cue dominates state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Long-range memory begins degrading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885286"/>
                  </a:ext>
                </a:extLst>
              </a:tr>
              <a:tr h="622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t₅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“into”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Prepositional structure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RNN is now mostly encoding position in the sentence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899869"/>
                  </a:ext>
                </a:extLst>
              </a:tr>
              <a:tr h="249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t₆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“the”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New noun phrase begins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Earlier noun nearly gone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351637"/>
                  </a:ext>
                </a:extLst>
              </a:tr>
              <a:tr h="435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t₇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“suitcase”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Encodes object B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Object A (trophy) largely forgotten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207359"/>
                  </a:ext>
                </a:extLst>
              </a:tr>
              <a:tr h="435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t₈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“because”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Causal clause cue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Memory of both nouns partially collapsed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011927"/>
                  </a:ext>
                </a:extLst>
              </a:tr>
              <a:tr h="622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t₉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“it”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Pronoun requiring reference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RNN hidden state does </a:t>
                      </a:r>
                      <a:r>
                        <a:rPr lang="en-US" sz="1600" b="1" dirty="0"/>
                        <a:t>not</a:t>
                      </a:r>
                      <a:r>
                        <a:rPr lang="en-US" sz="1600" dirty="0"/>
                        <a:t> reliably maintain two noun candidates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57678"/>
                  </a:ext>
                </a:extLst>
              </a:tr>
              <a:tr h="99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t₁₀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“was too small”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Model must choose antecedent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RNN often predicts “trophy” (wrong) because </a:t>
                      </a:r>
                      <a:r>
                        <a:rPr lang="en-US" sz="1600" b="1" dirty="0"/>
                        <a:t>size</a:t>
                      </a:r>
                      <a:r>
                        <a:rPr lang="en-US" sz="1600" dirty="0"/>
                        <a:t> associates with objects more than containers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867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9531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5">
      <a:dk1>
        <a:srgbClr val="13284B"/>
      </a:dk1>
      <a:lt1>
        <a:srgbClr val="FFFFFF"/>
      </a:lt1>
      <a:dk2>
        <a:srgbClr val="1E3877"/>
      </a:dk2>
      <a:lt2>
        <a:srgbClr val="F8FAFC"/>
      </a:lt2>
      <a:accent1>
        <a:srgbClr val="FF552E"/>
      </a:accent1>
      <a:accent2>
        <a:srgbClr val="1D58A7"/>
      </a:accent2>
      <a:accent3>
        <a:srgbClr val="F5821E"/>
      </a:accent3>
      <a:accent4>
        <a:srgbClr val="009FD3"/>
      </a:accent4>
      <a:accent5>
        <a:srgbClr val="DD3403"/>
      </a:accent5>
      <a:accent6>
        <a:srgbClr val="D2D2D2"/>
      </a:accent6>
      <a:hlink>
        <a:srgbClr val="1D58A7"/>
      </a:hlink>
      <a:folHlink>
        <a:srgbClr val="DD340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EB6B2FBE-53CE-AE45-9D18-D10FBF4063E0}" vid="{7AC8A834-0896-8341-9AC3-2DE1C842C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45754</TotalTime>
  <Words>3656</Words>
  <Application>Microsoft Macintosh PowerPoint</Application>
  <PresentationFormat>Widescreen</PresentationFormat>
  <Paragraphs>310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Custom Design</vt:lpstr>
      <vt:lpstr>PSYC 496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Willits, Jon Anthony</dc:creator>
  <cp:lastModifiedBy>Willits, Jon Anthony</cp:lastModifiedBy>
  <cp:revision>538</cp:revision>
  <cp:lastPrinted>2025-11-07T13:39:49Z</cp:lastPrinted>
  <dcterms:created xsi:type="dcterms:W3CDTF">2022-08-22T20:35:14Z</dcterms:created>
  <dcterms:modified xsi:type="dcterms:W3CDTF">2026-02-12T20:10:48Z</dcterms:modified>
</cp:coreProperties>
</file>