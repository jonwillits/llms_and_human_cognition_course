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1"/>
  </p:sldMasterIdLst>
  <p:notesMasterIdLst>
    <p:notesMasterId r:id="rId11"/>
  </p:notesMasterIdLst>
  <p:sldIdLst>
    <p:sldId id="256" r:id="rId2"/>
    <p:sldId id="417" r:id="rId3"/>
    <p:sldId id="442" r:id="rId4"/>
    <p:sldId id="418" r:id="rId5"/>
    <p:sldId id="419" r:id="rId6"/>
    <p:sldId id="420" r:id="rId7"/>
    <p:sldId id="421" r:id="rId8"/>
    <p:sldId id="422" r:id="rId9"/>
    <p:sldId id="42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32C"/>
    <a:srgbClr val="FF552E"/>
    <a:srgbClr val="FFEAE8"/>
    <a:srgbClr val="FFD2CD"/>
    <a:srgbClr val="E84A27"/>
    <a:srgbClr val="FFEAE9"/>
    <a:srgbClr val="9DBBA6"/>
    <a:srgbClr val="131F33"/>
    <a:srgbClr val="1329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24"/>
    <p:restoredTop sz="70343"/>
  </p:normalViewPr>
  <p:slideViewPr>
    <p:cSldViewPr snapToGrid="0" snapToObjects="1">
      <p:cViewPr varScale="1">
        <p:scale>
          <a:sx n="109" d="100"/>
          <a:sy n="109" d="100"/>
        </p:scale>
        <p:origin x="2424" y="200"/>
      </p:cViewPr>
      <p:guideLst>
        <p:guide orient="horz" pos="2160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27BB7B-08EE-CB4F-8754-6730DF777C4A}" type="doc">
      <dgm:prSet loTypeId="urn:microsoft.com/office/officeart/2005/8/layout/venn1" loCatId="" qsTypeId="urn:microsoft.com/office/officeart/2005/8/quickstyle/simple1" qsCatId="simple" csTypeId="urn:microsoft.com/office/officeart/2005/8/colors/accent1_2" csCatId="accent1" phldr="1"/>
      <dgm:spPr/>
    </dgm:pt>
    <dgm:pt modelId="{9A92AD4D-7F4D-D042-9F16-C52F2D48F6CF}">
      <dgm:prSet phldrT="[Text]"/>
      <dgm:spPr/>
      <dgm:t>
        <a:bodyPr/>
        <a:lstStyle/>
        <a:p>
          <a:r>
            <a:rPr lang="en-US"/>
            <a:t>Language</a:t>
          </a:r>
          <a:br>
            <a:rPr lang="en-US"/>
          </a:br>
          <a:r>
            <a:rPr lang="en-US"/>
            <a:t>Models</a:t>
          </a:r>
        </a:p>
      </dgm:t>
    </dgm:pt>
    <dgm:pt modelId="{89EE9AF8-CE8B-F644-A1E0-E0F1B3DA9895}" type="parTrans" cxnId="{0A2D4D6C-EA1C-EE4F-BE8E-1105DCF1CEAD}">
      <dgm:prSet/>
      <dgm:spPr/>
      <dgm:t>
        <a:bodyPr/>
        <a:lstStyle/>
        <a:p>
          <a:endParaRPr lang="en-US"/>
        </a:p>
      </dgm:t>
    </dgm:pt>
    <dgm:pt modelId="{3A35D6E0-811F-2940-897B-A1DC29AB01B9}" type="sibTrans" cxnId="{0A2D4D6C-EA1C-EE4F-BE8E-1105DCF1CEAD}">
      <dgm:prSet/>
      <dgm:spPr/>
      <dgm:t>
        <a:bodyPr/>
        <a:lstStyle/>
        <a:p>
          <a:endParaRPr lang="en-US"/>
        </a:p>
      </dgm:t>
    </dgm:pt>
    <dgm:pt modelId="{0FE1D946-1FF0-D84C-B5BF-5C6E11EC811B}">
      <dgm:prSet phldrT="[Text]"/>
      <dgm:spPr/>
      <dgm:t>
        <a:bodyPr/>
        <a:lstStyle/>
        <a:p>
          <a:r>
            <a:rPr lang="en-US"/>
            <a:t>Artificial Neural Networks</a:t>
          </a:r>
        </a:p>
      </dgm:t>
    </dgm:pt>
    <dgm:pt modelId="{D1F241E3-91BD-C54D-ABBC-7A41B50C52E7}" type="parTrans" cxnId="{7C14EFEF-0BF3-B04C-8D30-69A3A3B73625}">
      <dgm:prSet/>
      <dgm:spPr/>
      <dgm:t>
        <a:bodyPr/>
        <a:lstStyle/>
        <a:p>
          <a:endParaRPr lang="en-US"/>
        </a:p>
      </dgm:t>
    </dgm:pt>
    <dgm:pt modelId="{31FD5B61-2229-054F-8E7A-F18DF9728D05}" type="sibTrans" cxnId="{7C14EFEF-0BF3-B04C-8D30-69A3A3B73625}">
      <dgm:prSet/>
      <dgm:spPr/>
      <dgm:t>
        <a:bodyPr/>
        <a:lstStyle/>
        <a:p>
          <a:endParaRPr lang="en-US"/>
        </a:p>
      </dgm:t>
    </dgm:pt>
    <dgm:pt modelId="{D8809C03-E204-B847-B9B7-34B54E218CC8}">
      <dgm:prSet phldrT="[Text]"/>
      <dgm:spPr>
        <a:ln w="63500">
          <a:solidFill>
            <a:schemeClr val="accent6">
              <a:lumMod val="10000"/>
            </a:schemeClr>
          </a:solidFill>
        </a:ln>
      </dgm:spPr>
      <dgm:t>
        <a:bodyPr/>
        <a:lstStyle/>
        <a:p>
          <a:r>
            <a:rPr lang="en-US" dirty="0"/>
            <a:t>Distributional Knowledge</a:t>
          </a:r>
        </a:p>
      </dgm:t>
    </dgm:pt>
    <dgm:pt modelId="{63DB7361-376E-8F44-9912-6E1B502058CA}" type="parTrans" cxnId="{9ACFCF02-4E22-5346-B203-676D398B7324}">
      <dgm:prSet/>
      <dgm:spPr/>
      <dgm:t>
        <a:bodyPr/>
        <a:lstStyle/>
        <a:p>
          <a:endParaRPr lang="en-US"/>
        </a:p>
      </dgm:t>
    </dgm:pt>
    <dgm:pt modelId="{D41CB43B-19B0-694F-AE40-5970004B857D}" type="sibTrans" cxnId="{9ACFCF02-4E22-5346-B203-676D398B7324}">
      <dgm:prSet/>
      <dgm:spPr/>
      <dgm:t>
        <a:bodyPr/>
        <a:lstStyle/>
        <a:p>
          <a:endParaRPr lang="en-US"/>
        </a:p>
      </dgm:t>
    </dgm:pt>
    <dgm:pt modelId="{B7BC4DDB-B6CD-0343-8C23-F3C88B70C40E}" type="pres">
      <dgm:prSet presAssocID="{5527BB7B-08EE-CB4F-8754-6730DF777C4A}" presName="compositeShape" presStyleCnt="0">
        <dgm:presLayoutVars>
          <dgm:chMax val="7"/>
          <dgm:dir/>
          <dgm:resizeHandles val="exact"/>
        </dgm:presLayoutVars>
      </dgm:prSet>
      <dgm:spPr/>
    </dgm:pt>
    <dgm:pt modelId="{DAFC9798-A29F-FB41-9156-9B3CAF4EE9F7}" type="pres">
      <dgm:prSet presAssocID="{9A92AD4D-7F4D-D042-9F16-C52F2D48F6CF}" presName="circ1" presStyleLbl="vennNode1" presStyleIdx="0" presStyleCnt="3"/>
      <dgm:spPr/>
    </dgm:pt>
    <dgm:pt modelId="{BC26F006-3743-0345-B62B-958F4B0DCEF6}" type="pres">
      <dgm:prSet presAssocID="{9A92AD4D-7F4D-D042-9F16-C52F2D48F6CF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57F53B3-CCC8-8644-9DC4-4FE9B62BFF9B}" type="pres">
      <dgm:prSet presAssocID="{0FE1D946-1FF0-D84C-B5BF-5C6E11EC811B}" presName="circ2" presStyleLbl="vennNode1" presStyleIdx="1" presStyleCnt="3"/>
      <dgm:spPr/>
    </dgm:pt>
    <dgm:pt modelId="{AF2E5719-6BC0-F64F-8DEF-1496E8BF24F2}" type="pres">
      <dgm:prSet presAssocID="{0FE1D946-1FF0-D84C-B5BF-5C6E11EC811B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CB0259C-99F4-714C-AE25-B2CE70CA1641}" type="pres">
      <dgm:prSet presAssocID="{D8809C03-E204-B847-B9B7-34B54E218CC8}" presName="circ3" presStyleLbl="vennNode1" presStyleIdx="2" presStyleCnt="3"/>
      <dgm:spPr/>
    </dgm:pt>
    <dgm:pt modelId="{EFF4213F-5BFE-7843-A602-ED33E4A1400D}" type="pres">
      <dgm:prSet presAssocID="{D8809C03-E204-B847-B9B7-34B54E218CC8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9ACFCF02-4E22-5346-B203-676D398B7324}" srcId="{5527BB7B-08EE-CB4F-8754-6730DF777C4A}" destId="{D8809C03-E204-B847-B9B7-34B54E218CC8}" srcOrd="2" destOrd="0" parTransId="{63DB7361-376E-8F44-9912-6E1B502058CA}" sibTransId="{D41CB43B-19B0-694F-AE40-5970004B857D}"/>
    <dgm:cxn modelId="{1DF15222-C275-FB4F-8A7D-8672FA1CE874}" type="presOf" srcId="{5527BB7B-08EE-CB4F-8754-6730DF777C4A}" destId="{B7BC4DDB-B6CD-0343-8C23-F3C88B70C40E}" srcOrd="0" destOrd="0" presId="urn:microsoft.com/office/officeart/2005/8/layout/venn1"/>
    <dgm:cxn modelId="{5A315455-8392-AF47-A75F-C380D0937E14}" type="presOf" srcId="{0FE1D946-1FF0-D84C-B5BF-5C6E11EC811B}" destId="{AF2E5719-6BC0-F64F-8DEF-1496E8BF24F2}" srcOrd="1" destOrd="0" presId="urn:microsoft.com/office/officeart/2005/8/layout/venn1"/>
    <dgm:cxn modelId="{4F786F69-B31E-D64D-8C1B-917B05CDFEF7}" type="presOf" srcId="{D8809C03-E204-B847-B9B7-34B54E218CC8}" destId="{FCB0259C-99F4-714C-AE25-B2CE70CA1641}" srcOrd="0" destOrd="0" presId="urn:microsoft.com/office/officeart/2005/8/layout/venn1"/>
    <dgm:cxn modelId="{0A2D4D6C-EA1C-EE4F-BE8E-1105DCF1CEAD}" srcId="{5527BB7B-08EE-CB4F-8754-6730DF777C4A}" destId="{9A92AD4D-7F4D-D042-9F16-C52F2D48F6CF}" srcOrd="0" destOrd="0" parTransId="{89EE9AF8-CE8B-F644-A1E0-E0F1B3DA9895}" sibTransId="{3A35D6E0-811F-2940-897B-A1DC29AB01B9}"/>
    <dgm:cxn modelId="{5F05037E-5733-9D48-AE07-9C6AA95F8FAD}" type="presOf" srcId="{0FE1D946-1FF0-D84C-B5BF-5C6E11EC811B}" destId="{A57F53B3-CCC8-8644-9DC4-4FE9B62BFF9B}" srcOrd="0" destOrd="0" presId="urn:microsoft.com/office/officeart/2005/8/layout/venn1"/>
    <dgm:cxn modelId="{21D20594-B278-EE42-A893-0599C09B492E}" type="presOf" srcId="{D8809C03-E204-B847-B9B7-34B54E218CC8}" destId="{EFF4213F-5BFE-7843-A602-ED33E4A1400D}" srcOrd="1" destOrd="0" presId="urn:microsoft.com/office/officeart/2005/8/layout/venn1"/>
    <dgm:cxn modelId="{31FAE795-40C3-A646-A4AC-27397C7C1E49}" type="presOf" srcId="{9A92AD4D-7F4D-D042-9F16-C52F2D48F6CF}" destId="{DAFC9798-A29F-FB41-9156-9B3CAF4EE9F7}" srcOrd="0" destOrd="0" presId="urn:microsoft.com/office/officeart/2005/8/layout/venn1"/>
    <dgm:cxn modelId="{7C14EFEF-0BF3-B04C-8D30-69A3A3B73625}" srcId="{5527BB7B-08EE-CB4F-8754-6730DF777C4A}" destId="{0FE1D946-1FF0-D84C-B5BF-5C6E11EC811B}" srcOrd="1" destOrd="0" parTransId="{D1F241E3-91BD-C54D-ABBC-7A41B50C52E7}" sibTransId="{31FD5B61-2229-054F-8E7A-F18DF9728D05}"/>
    <dgm:cxn modelId="{367442FF-5C2F-384D-885C-A514C1808DBC}" type="presOf" srcId="{9A92AD4D-7F4D-D042-9F16-C52F2D48F6CF}" destId="{BC26F006-3743-0345-B62B-958F4B0DCEF6}" srcOrd="1" destOrd="0" presId="urn:microsoft.com/office/officeart/2005/8/layout/venn1"/>
    <dgm:cxn modelId="{7E07C2E5-DA3C-7342-9077-AAF8F41D09F1}" type="presParOf" srcId="{B7BC4DDB-B6CD-0343-8C23-F3C88B70C40E}" destId="{DAFC9798-A29F-FB41-9156-9B3CAF4EE9F7}" srcOrd="0" destOrd="0" presId="urn:microsoft.com/office/officeart/2005/8/layout/venn1"/>
    <dgm:cxn modelId="{7EF5FA5D-1CC9-9648-B8FA-9C3F2053B34B}" type="presParOf" srcId="{B7BC4DDB-B6CD-0343-8C23-F3C88B70C40E}" destId="{BC26F006-3743-0345-B62B-958F4B0DCEF6}" srcOrd="1" destOrd="0" presId="urn:microsoft.com/office/officeart/2005/8/layout/venn1"/>
    <dgm:cxn modelId="{B765D673-79A0-5746-85C9-8AD661DC9494}" type="presParOf" srcId="{B7BC4DDB-B6CD-0343-8C23-F3C88B70C40E}" destId="{A57F53B3-CCC8-8644-9DC4-4FE9B62BFF9B}" srcOrd="2" destOrd="0" presId="urn:microsoft.com/office/officeart/2005/8/layout/venn1"/>
    <dgm:cxn modelId="{5FEF2525-ABB0-FC4D-9FA8-A95B0DCBDF58}" type="presParOf" srcId="{B7BC4DDB-B6CD-0343-8C23-F3C88B70C40E}" destId="{AF2E5719-6BC0-F64F-8DEF-1496E8BF24F2}" srcOrd="3" destOrd="0" presId="urn:microsoft.com/office/officeart/2005/8/layout/venn1"/>
    <dgm:cxn modelId="{B112D356-4057-714E-B87B-D1BCF7502A27}" type="presParOf" srcId="{B7BC4DDB-B6CD-0343-8C23-F3C88B70C40E}" destId="{FCB0259C-99F4-714C-AE25-B2CE70CA1641}" srcOrd="4" destOrd="0" presId="urn:microsoft.com/office/officeart/2005/8/layout/venn1"/>
    <dgm:cxn modelId="{1DDB1935-C0D6-A149-9056-683EDB77497E}" type="presParOf" srcId="{B7BC4DDB-B6CD-0343-8C23-F3C88B70C40E}" destId="{EFF4213F-5BFE-7843-A602-ED33E4A1400D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FC9798-A29F-FB41-9156-9B3CAF4EE9F7}">
      <dsp:nvSpPr>
        <dsp:cNvPr id="0" name=""/>
        <dsp:cNvSpPr/>
      </dsp:nvSpPr>
      <dsp:spPr>
        <a:xfrm>
          <a:off x="2650039" y="63962"/>
          <a:ext cx="3070198" cy="307019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Language</a:t>
          </a:r>
          <a:br>
            <a:rPr lang="en-US" sz="2600" kern="1200"/>
          </a:br>
          <a:r>
            <a:rPr lang="en-US" sz="2600" kern="1200"/>
            <a:t>Models</a:t>
          </a:r>
        </a:p>
      </dsp:txBody>
      <dsp:txXfrm>
        <a:off x="3059399" y="601247"/>
        <a:ext cx="2251478" cy="1381589"/>
      </dsp:txXfrm>
    </dsp:sp>
    <dsp:sp modelId="{A57F53B3-CCC8-8644-9DC4-4FE9B62BFF9B}">
      <dsp:nvSpPr>
        <dsp:cNvPr id="0" name=""/>
        <dsp:cNvSpPr/>
      </dsp:nvSpPr>
      <dsp:spPr>
        <a:xfrm>
          <a:off x="3757869" y="1982836"/>
          <a:ext cx="3070198" cy="307019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Artificial Neural Networks</a:t>
          </a:r>
        </a:p>
      </dsp:txBody>
      <dsp:txXfrm>
        <a:off x="4696838" y="2775970"/>
        <a:ext cx="1842118" cy="1688609"/>
      </dsp:txXfrm>
    </dsp:sp>
    <dsp:sp modelId="{FCB0259C-99F4-714C-AE25-B2CE70CA1641}">
      <dsp:nvSpPr>
        <dsp:cNvPr id="0" name=""/>
        <dsp:cNvSpPr/>
      </dsp:nvSpPr>
      <dsp:spPr>
        <a:xfrm>
          <a:off x="1542209" y="1982836"/>
          <a:ext cx="3070198" cy="307019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63500" cap="flat" cmpd="sng" algn="ctr">
          <a:solidFill>
            <a:schemeClr val="accent6">
              <a:lumMod val="1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Distributional Knowledge</a:t>
          </a:r>
        </a:p>
      </dsp:txBody>
      <dsp:txXfrm>
        <a:off x="1831319" y="2775970"/>
        <a:ext cx="1842118" cy="16886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D3E08-CD1E-6345-BF3D-6B539ADC1145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C32C59-1409-2640-866F-4A1083575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375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052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CBFCF-95BE-F838-03D3-E5083489B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02E0AE-0C02-4304-6BA7-D329C9A4D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150558-DBF2-B95B-D5C0-29D0D698F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39C6A-64E6-5CCB-4000-5E6E2AA006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2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17331-9955-EFA6-371E-E6193692A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56E4ED-2B58-998D-7989-619403986D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FC89FC-4CE4-2F21-1E9D-8E6EFBFC3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BE508-A615-7949-7C7B-77BE64977D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4322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C831A-D3B7-EAC0-7840-DC6137251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E6FE48-CBE0-1879-FD82-E7F388447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2A12F4-42D7-8322-6BE8-69036232F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60744-BF9C-23DE-6BFD-2DDAC0C491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773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39115-AC46-7660-B450-3D56EE00E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8E94D2-2276-B0A1-F82B-DABD277222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949EE-E69C-1B8A-5E13-73CB879B9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BA291-03F7-CEFE-2E60-8C817DA264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04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3752D-7AA3-E003-2033-4782DF1B8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D773B7-9479-83A3-C484-2657711E67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7E0285-F5A8-12E7-8EEE-9CA6B3815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DCC82-7076-0C0E-4D52-6C7F5592B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9081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37128-3D4A-B5FE-7D16-BED309FAC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489221-579F-0A15-E206-4021038EA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4F2612-E930-59D3-96C8-D1187D615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EBD38-134E-61AB-887D-540B02960A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984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3F7B5-361D-8D97-F8DC-4F15959AC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4A6933-89B4-FC29-27B3-BF352633B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3A5CCB-1580-96C5-8FD4-D12AE798B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43D4B-9E12-67A2-7635-009CCC9E0B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7486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E4D4F-F0F6-49B6-36E6-047EE7FD5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B6CC8F-AA5B-9A9B-0123-DADD0E3F6D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61F6B4-5D77-D077-F20B-8117C9071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EFE79-654C-F8D9-7A6B-65D1171683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760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34809-F69F-0D48-97F8-9CF76A5308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340" y="1122363"/>
            <a:ext cx="5785769" cy="2387600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sz="4000" b="1" dirty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rPr>
              <a:t>Title Here:</a:t>
            </a:r>
            <a:br>
              <a:rPr lang="en-US" sz="4000" b="1" dirty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rPr>
            </a:br>
            <a:r>
              <a:rPr lang="en-US" sz="4000" b="1" dirty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rPr>
              <a:t>Tell Your</a:t>
            </a:r>
            <a:br>
              <a:rPr lang="en-US" sz="4000" b="1" dirty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rPr>
            </a:br>
            <a:r>
              <a:rPr lang="en-US" sz="4000" b="1" dirty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rPr>
              <a:t>Illinois Story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FA99F5-1DAB-644E-87BD-7B2BE337D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1340" y="3602038"/>
            <a:ext cx="5785769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Name: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E86B4-4E28-5743-B958-4D04BD329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6C45-97B4-7545-8562-07255BCE2FE0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A9BA8F-BF67-344F-9BFA-A8262A79BC8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37075" y="5718264"/>
            <a:ext cx="3117850" cy="80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320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B210D-E74D-9F46-BBEB-61CE8DBFB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7874" y="6095093"/>
            <a:ext cx="2743200" cy="365125"/>
          </a:xfrm>
        </p:spPr>
        <p:txBody>
          <a:bodyPr/>
          <a:lstStyle/>
          <a:p>
            <a:fld id="{47306C45-97B4-7545-8562-07255BC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26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C4261-61FB-7142-9417-2F78D37976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23" y="365125"/>
            <a:ext cx="9614263" cy="1325563"/>
          </a:xfrm>
        </p:spPr>
        <p:txBody>
          <a:bodyPr/>
          <a:lstStyle>
            <a:lvl1pPr algn="ctr">
              <a:defRPr b="1" i="0">
                <a:solidFill>
                  <a:srgbClr val="E84A2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Hello.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12F32-5110-BE43-86BA-CB778EC42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23" y="1690688"/>
            <a:ext cx="9614263" cy="3625895"/>
          </a:xfrm>
        </p:spPr>
        <p:txBody>
          <a:bodyPr/>
          <a:lstStyle>
            <a:lvl1pPr>
              <a:defRPr>
                <a:solidFill>
                  <a:srgbClr val="13294B"/>
                </a:solidFill>
              </a:defRPr>
            </a:lvl1pPr>
            <a:lvl2pPr>
              <a:defRPr>
                <a:solidFill>
                  <a:srgbClr val="13294B"/>
                </a:solidFill>
              </a:defRPr>
            </a:lvl2pPr>
            <a:lvl3pPr>
              <a:defRPr>
                <a:solidFill>
                  <a:srgbClr val="13294B"/>
                </a:solidFill>
              </a:defRPr>
            </a:lvl3pPr>
            <a:lvl4pPr>
              <a:defRPr>
                <a:solidFill>
                  <a:srgbClr val="13294B"/>
                </a:solidFill>
              </a:defRPr>
            </a:lvl4pPr>
            <a:lvl5pPr>
              <a:defRPr>
                <a:solidFill>
                  <a:srgbClr val="13294B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963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26ADA6-32C7-6D47-94AB-D149FA9C1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FDBC8-5F1C-654A-9325-61F424413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1FB5C-A5C2-4C44-A9DF-4F6A196EC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06C45-97B4-7545-8562-07255BC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8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E84A27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3294B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3294B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3294B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3294B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3294B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55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83CDB9E-798C-A842-B031-6BFA04385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9571" y="773546"/>
            <a:ext cx="5935859" cy="272025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10000" dirty="0">
                <a:latin typeface="Calibri"/>
                <a:cs typeface="Calibri"/>
              </a:rPr>
              <a:t>PSYC 496</a:t>
            </a:r>
            <a:endParaRPr lang="en-US" sz="10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2F9A5BC-DE40-064D-98AE-B1AA2F27430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3017406" y="3472201"/>
            <a:ext cx="8283862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latin typeface="Calibri"/>
                <a:cs typeface="Calibri"/>
              </a:rPr>
              <a:t>Lecture 3: Distributional Learning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87BCB3F-D51B-11CA-8A5C-B653C02DD655}"/>
              </a:ext>
            </a:extLst>
          </p:cNvPr>
          <p:cNvSpPr/>
          <p:nvPr/>
        </p:nvSpPr>
        <p:spPr>
          <a:xfrm>
            <a:off x="443346" y="1263072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96C562F-8F13-2516-D9AF-45E75A96A3C5}"/>
              </a:ext>
            </a:extLst>
          </p:cNvPr>
          <p:cNvSpPr/>
          <p:nvPr/>
        </p:nvSpPr>
        <p:spPr>
          <a:xfrm>
            <a:off x="1505528" y="3248890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2052EBC-2E12-F996-BB1F-41F23E64F1BE}"/>
              </a:ext>
            </a:extLst>
          </p:cNvPr>
          <p:cNvSpPr/>
          <p:nvPr/>
        </p:nvSpPr>
        <p:spPr>
          <a:xfrm>
            <a:off x="443345" y="3318162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A4D7291-4D5A-9593-1D85-950EBFC1FF07}"/>
              </a:ext>
            </a:extLst>
          </p:cNvPr>
          <p:cNvSpPr/>
          <p:nvPr/>
        </p:nvSpPr>
        <p:spPr>
          <a:xfrm>
            <a:off x="443346" y="5246253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2E91675-03DF-90EE-942D-06C70F754DEE}"/>
              </a:ext>
            </a:extLst>
          </p:cNvPr>
          <p:cNvCxnSpPr/>
          <p:nvPr/>
        </p:nvCxnSpPr>
        <p:spPr>
          <a:xfrm>
            <a:off x="867642" y="2172278"/>
            <a:ext cx="1052944" cy="111067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2D74029-D6FE-2938-F6DF-602FCD9AA658}"/>
              </a:ext>
            </a:extLst>
          </p:cNvPr>
          <p:cNvCxnSpPr>
            <a:cxnSpLocks/>
          </p:cNvCxnSpPr>
          <p:nvPr/>
        </p:nvCxnSpPr>
        <p:spPr>
          <a:xfrm>
            <a:off x="879187" y="2172278"/>
            <a:ext cx="25400" cy="117994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7831A33E-2612-45D1-F1F0-57371C01F8AB}"/>
              </a:ext>
            </a:extLst>
          </p:cNvPr>
          <p:cNvSpPr/>
          <p:nvPr/>
        </p:nvSpPr>
        <p:spPr>
          <a:xfrm>
            <a:off x="1505528" y="5246253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565D7F4-2920-5911-7086-757F822A07E3}"/>
              </a:ext>
            </a:extLst>
          </p:cNvPr>
          <p:cNvSpPr/>
          <p:nvPr/>
        </p:nvSpPr>
        <p:spPr>
          <a:xfrm>
            <a:off x="2694709" y="5246252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FE6F4CE-E239-70EB-26D3-C8CB8E270185}"/>
              </a:ext>
            </a:extLst>
          </p:cNvPr>
          <p:cNvCxnSpPr>
            <a:cxnSpLocks/>
          </p:cNvCxnSpPr>
          <p:nvPr/>
        </p:nvCxnSpPr>
        <p:spPr>
          <a:xfrm>
            <a:off x="1941369" y="4169641"/>
            <a:ext cx="1168399" cy="108758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0727C65-F6C0-78C9-A469-40AAD8018B82}"/>
              </a:ext>
            </a:extLst>
          </p:cNvPr>
          <p:cNvCxnSpPr>
            <a:cxnSpLocks/>
          </p:cNvCxnSpPr>
          <p:nvPr/>
        </p:nvCxnSpPr>
        <p:spPr>
          <a:xfrm flipH="1">
            <a:off x="1955223" y="4158096"/>
            <a:ext cx="9238" cy="108758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A7C2072-1E04-8B83-DAA8-B48C97536A6F}"/>
              </a:ext>
            </a:extLst>
          </p:cNvPr>
          <p:cNvCxnSpPr>
            <a:cxnSpLocks/>
          </p:cNvCxnSpPr>
          <p:nvPr/>
        </p:nvCxnSpPr>
        <p:spPr>
          <a:xfrm>
            <a:off x="890732" y="4227368"/>
            <a:ext cx="13855" cy="101831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583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92BEF-B454-ABD7-C807-E79182492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935A477D-165A-2842-F4DA-C3FF28384A8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Distributional Knowledge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576B0-54D2-EE7C-01A1-B4B3F173F948}"/>
              </a:ext>
            </a:extLst>
          </p:cNvPr>
          <p:cNvSpPr txBox="1"/>
          <p:nvPr/>
        </p:nvSpPr>
        <p:spPr>
          <a:xfrm>
            <a:off x="620485" y="920621"/>
            <a:ext cx="1024128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Discussion Question 3</a:t>
            </a:r>
            <a:endParaRPr lang="en-US" sz="2800" dirty="0"/>
          </a:p>
          <a:p>
            <a:endParaRPr lang="en-US" sz="2800" b="1" dirty="0"/>
          </a:p>
          <a:p>
            <a:r>
              <a:rPr lang="en-US" sz="2400" dirty="0"/>
              <a:t>Can meaning be learned from text alone? In your group: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pick one word you think could be learned well from text-only exposure and one word you think could not.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For each word, say what kinds of evidence in language use would help and what kinds of evidence would be missing.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Then state your current position: text is mostly sufficient, partly sufficient, or mostly insufficient, and why.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97300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F62C1-2D47-5F23-8C26-8E69B6CDD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80B77C12-DD9E-7EA8-53FD-B60194CE933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Big picture: LLMs Sit at an Intersection</a:t>
            </a:r>
            <a:endParaRPr lang="en-US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5E1E9DC-A32E-51F0-414B-184B0F2B14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9278662"/>
              </p:ext>
            </p:extLst>
          </p:nvPr>
        </p:nvGraphicFramePr>
        <p:xfrm>
          <a:off x="2096085" y="735162"/>
          <a:ext cx="8370277" cy="51169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64876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5A1FD-8C13-CCAC-581C-EAB8DB6B7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2415900E-FCD9-0E6A-8DC1-53B69E94681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Distributional Knowledge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1D4BD4-CB7B-4EC9-0D75-2893F8B48FF7}"/>
              </a:ext>
            </a:extLst>
          </p:cNvPr>
          <p:cNvSpPr txBox="1"/>
          <p:nvPr/>
        </p:nvSpPr>
        <p:spPr>
          <a:xfrm>
            <a:off x="312672" y="1105287"/>
            <a:ext cx="7438628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Distributional information: words live in contexts</a:t>
            </a:r>
          </a:p>
          <a:p>
            <a:endParaRPr lang="en-US" sz="2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Words appear in regular distributions of surrounding contexts rather than in isolation.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Overlapping context neighborhoods often signal some kind of semantic relatedness, but not a single pure relation.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What you get depends heavily on how you define context, such as window-based context versus grammatical-role context.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110950-7052-69DC-1614-D8D6610972F2}"/>
              </a:ext>
            </a:extLst>
          </p:cNvPr>
          <p:cNvSpPr txBox="1"/>
          <p:nvPr/>
        </p:nvSpPr>
        <p:spPr>
          <a:xfrm>
            <a:off x="9270609" y="2469853"/>
            <a:ext cx="78258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dog</a:t>
            </a:r>
          </a:p>
          <a:p>
            <a:r>
              <a:rPr lang="en-US" sz="2400" dirty="0"/>
              <a:t>cat</a:t>
            </a:r>
          </a:p>
          <a:p>
            <a:endParaRPr lang="en-US" sz="2400" dirty="0"/>
          </a:p>
          <a:p>
            <a:r>
              <a:rPr lang="en-US" sz="2400" dirty="0"/>
              <a:t>shoe</a:t>
            </a:r>
          </a:p>
          <a:p>
            <a:r>
              <a:rPr lang="en-US" sz="2400" dirty="0"/>
              <a:t>sock</a:t>
            </a:r>
          </a:p>
          <a:p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008D3B-3ABC-7BBE-161D-B5F94A77707C}"/>
              </a:ext>
            </a:extLst>
          </p:cNvPr>
          <p:cNvSpPr txBox="1"/>
          <p:nvPr/>
        </p:nvSpPr>
        <p:spPr>
          <a:xfrm>
            <a:off x="10339753" y="2469853"/>
            <a:ext cx="101287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chase</a:t>
            </a:r>
          </a:p>
          <a:p>
            <a:r>
              <a:rPr lang="en-US" sz="2400" dirty="0"/>
              <a:t>sleep</a:t>
            </a:r>
          </a:p>
          <a:p>
            <a:endParaRPr lang="en-US" sz="2400" dirty="0"/>
          </a:p>
          <a:p>
            <a:r>
              <a:rPr lang="en-US" sz="2400" dirty="0"/>
              <a:t>wear</a:t>
            </a:r>
          </a:p>
          <a:p>
            <a:r>
              <a:rPr lang="en-US" sz="2400" dirty="0"/>
              <a:t>buy</a:t>
            </a:r>
          </a:p>
        </p:txBody>
      </p:sp>
    </p:spTree>
    <p:extLst>
      <p:ext uri="{BB962C8B-B14F-4D97-AF65-F5344CB8AC3E}">
        <p14:creationId xmlns:p14="http://schemas.microsoft.com/office/powerpoint/2010/main" val="3781955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CD863-0D27-EE31-7C40-EF9CBE3D4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F5FEF6D0-5179-4DA0-004E-3BFDF41C2C1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Distributional Knowledge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6136B2-A3FB-CDF9-D17F-50F11412AD8C}"/>
              </a:ext>
            </a:extLst>
          </p:cNvPr>
          <p:cNvSpPr txBox="1"/>
          <p:nvPr/>
        </p:nvSpPr>
        <p:spPr>
          <a:xfrm>
            <a:off x="157927" y="735162"/>
            <a:ext cx="11884018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The Distributional Hypothesis: One claim, several interpretations</a:t>
            </a:r>
          </a:p>
          <a:p>
            <a:endParaRPr lang="en-US" sz="2400" dirty="0"/>
          </a:p>
          <a:p>
            <a:r>
              <a:rPr lang="en-US" sz="2400" b="1" dirty="0"/>
              <a:t>Distributional Hypothesis</a:t>
            </a:r>
            <a:r>
              <a:rPr lang="en-US" sz="2400" dirty="0"/>
              <a:t>: ”You shall know a word by the company it keeps”. More formally, words with similar contexts tend to have similar meanings.</a:t>
            </a:r>
          </a:p>
          <a:p>
            <a:endParaRPr lang="en-US" sz="2400" dirty="0"/>
          </a:p>
          <a:p>
            <a:r>
              <a:rPr lang="en-US" sz="2400" dirty="0"/>
              <a:t>A methodological reading says usage patterns provide useful evidence about meaning even if meaning is more than usage.</a:t>
            </a:r>
          </a:p>
          <a:p>
            <a:endParaRPr lang="en-US" sz="2400" dirty="0"/>
          </a:p>
          <a:p>
            <a:r>
              <a:rPr lang="en-US" sz="2400" dirty="0"/>
              <a:t>A stronger reading treats meaning as constituted by use, which raises classic objections from grounding and formal semantics.</a:t>
            </a:r>
          </a:p>
          <a:p>
            <a:endParaRPr lang="en-US" sz="2400" dirty="0"/>
          </a:p>
          <a:p>
            <a:r>
              <a:rPr lang="en-US" sz="2400" dirty="0"/>
              <a:t>A representational reading treats meanings as points in a similarity space, evaluated by how well the format explains behavior.</a:t>
            </a:r>
          </a:p>
        </p:txBody>
      </p:sp>
    </p:spTree>
    <p:extLst>
      <p:ext uri="{BB962C8B-B14F-4D97-AF65-F5344CB8AC3E}">
        <p14:creationId xmlns:p14="http://schemas.microsoft.com/office/powerpoint/2010/main" val="3864322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46FA9-D6B6-7028-14B2-4BFAE0A9D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EFC5BF58-B447-689F-205C-B31C2ED735F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Distributional Knowledge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0FFCA7-0B94-1A4E-80C5-47B8B2ED7C09}"/>
              </a:ext>
            </a:extLst>
          </p:cNvPr>
          <p:cNvSpPr txBox="1"/>
          <p:nvPr/>
        </p:nvSpPr>
        <p:spPr>
          <a:xfrm>
            <a:off x="157927" y="735162"/>
            <a:ext cx="11884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From Counts to Geometry: Semantic Spaces and Embeddings</a:t>
            </a:r>
          </a:p>
        </p:txBody>
      </p:sp>
      <p:pic>
        <p:nvPicPr>
          <p:cNvPr id="1026" name="Picture 2" descr="Visualization of the word embedding space | Download Scientific Diagram">
            <a:extLst>
              <a:ext uri="{FF2B5EF4-FFF2-40B4-BE49-F238E27FC236}">
                <a16:creationId xmlns:a16="http://schemas.microsoft.com/office/drawing/2014/main" id="{CD622FA9-8E62-E744-1993-B7ECFA345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0628" y="1366778"/>
            <a:ext cx="5411372" cy="5252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emantic web semantics vs. vector embedding machine learning semantics -  bobdc.blog">
            <a:extLst>
              <a:ext uri="{FF2B5EF4-FFF2-40B4-BE49-F238E27FC236}">
                <a16:creationId xmlns:a16="http://schemas.microsoft.com/office/drawing/2014/main" id="{56076A0B-DFDD-73B4-82C1-73ACB64A6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5354" y="6341012"/>
            <a:ext cx="12192000" cy="4268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C83BE2F-65B2-9D21-E88B-FA2820EC41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927" y="1366778"/>
            <a:ext cx="6755880" cy="125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800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DC793-86A0-275B-25DD-6BC3159B9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76B6E183-3AED-6E71-8D6A-AFCC63DA825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Distributional Knowledge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650CC0-072C-7E25-7019-6C6D6BB7A397}"/>
              </a:ext>
            </a:extLst>
          </p:cNvPr>
          <p:cNvSpPr txBox="1"/>
          <p:nvPr/>
        </p:nvSpPr>
        <p:spPr>
          <a:xfrm>
            <a:off x="153991" y="753274"/>
            <a:ext cx="11884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From Counts to Geometry: Semantic Spaces and Embeddings</a:t>
            </a:r>
          </a:p>
        </p:txBody>
      </p:sp>
      <p:pic>
        <p:nvPicPr>
          <p:cNvPr id="1028" name="Picture 4" descr="Semantic web semantics vs. vector embedding machine learning semantics -  bobdc.blog">
            <a:extLst>
              <a:ext uri="{FF2B5EF4-FFF2-40B4-BE49-F238E27FC236}">
                <a16:creationId xmlns:a16="http://schemas.microsoft.com/office/drawing/2014/main" id="{FC0631FC-83B0-4EBF-E7D1-1F119E65E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94606"/>
            <a:ext cx="12192000" cy="4268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0434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6E654-8EA4-F4B5-0AAD-4AFD289C7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374317AF-1C9C-504B-B4E6-722FCD2915D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Distributional Knowledge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847EFA-4FAF-B489-071D-1F3D3A6AEEE2}"/>
              </a:ext>
            </a:extLst>
          </p:cNvPr>
          <p:cNvSpPr txBox="1"/>
          <p:nvPr/>
        </p:nvSpPr>
        <p:spPr>
          <a:xfrm>
            <a:off x="153990" y="958800"/>
            <a:ext cx="11884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From Counts to Geometry: Semantic Spaces and Embeddings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7A7C02-5F22-1CBF-1B59-CAC6FE9C3742}"/>
              </a:ext>
            </a:extLst>
          </p:cNvPr>
          <p:cNvSpPr txBox="1"/>
          <p:nvPr/>
        </p:nvSpPr>
        <p:spPr>
          <a:xfrm>
            <a:off x="379074" y="1667272"/>
            <a:ext cx="1143385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Start with a context profile for each word, built from co-occurrence patterns in a corpus.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Treat each word as a vector and compare words by distances or angles that reflect similarity of context profiles.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Embeddings</a:t>
            </a:r>
            <a:r>
              <a:rPr lang="en-US" sz="2800" dirty="0"/>
              <a:t> are compact numerical points whose geometry summarizes distributional structure, with strengths and blind spots that depend on data and objective.</a:t>
            </a:r>
          </a:p>
        </p:txBody>
      </p:sp>
    </p:spTree>
    <p:extLst>
      <p:ext uri="{BB962C8B-B14F-4D97-AF65-F5344CB8AC3E}">
        <p14:creationId xmlns:p14="http://schemas.microsoft.com/office/powerpoint/2010/main" val="750434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7E340-B71A-082C-2501-F1DBBA5F8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A5AAF411-AC0A-9F35-AD85-0642D7ABEDC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Distributional Knowledge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FA0157-62F9-4146-CF80-826D0C54E681}"/>
              </a:ext>
            </a:extLst>
          </p:cNvPr>
          <p:cNvSpPr txBox="1"/>
          <p:nvPr/>
        </p:nvSpPr>
        <p:spPr>
          <a:xfrm>
            <a:off x="153990" y="1102743"/>
            <a:ext cx="11884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Why cognitive science cares: graded structure and retrieval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856459-CB04-FF3F-4EE4-FFA4A78B407E}"/>
              </a:ext>
            </a:extLst>
          </p:cNvPr>
          <p:cNvSpPr txBox="1"/>
          <p:nvPr/>
        </p:nvSpPr>
        <p:spPr>
          <a:xfrm>
            <a:off x="379074" y="1993544"/>
            <a:ext cx="1143385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Human semantic behavior is often graded, including typicality judgments and fuzzy category boundaries.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Semantic priming and expectation effects look naturally compatible with distance-sensitive representations.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 key caution is that “closeness” blends multiple relations, so the same geometry can be a feature or a limitation depending on the question.</a:t>
            </a:r>
          </a:p>
        </p:txBody>
      </p:sp>
    </p:spTree>
    <p:extLst>
      <p:ext uri="{BB962C8B-B14F-4D97-AF65-F5344CB8AC3E}">
        <p14:creationId xmlns:p14="http://schemas.microsoft.com/office/powerpoint/2010/main" val="22347050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5">
      <a:dk1>
        <a:srgbClr val="13284B"/>
      </a:dk1>
      <a:lt1>
        <a:srgbClr val="FFFFFF"/>
      </a:lt1>
      <a:dk2>
        <a:srgbClr val="1E3877"/>
      </a:dk2>
      <a:lt2>
        <a:srgbClr val="F8FAFC"/>
      </a:lt2>
      <a:accent1>
        <a:srgbClr val="FF552E"/>
      </a:accent1>
      <a:accent2>
        <a:srgbClr val="1D58A7"/>
      </a:accent2>
      <a:accent3>
        <a:srgbClr val="F5821E"/>
      </a:accent3>
      <a:accent4>
        <a:srgbClr val="009FD3"/>
      </a:accent4>
      <a:accent5>
        <a:srgbClr val="DD3403"/>
      </a:accent5>
      <a:accent6>
        <a:srgbClr val="D2D2D2"/>
      </a:accent6>
      <a:hlink>
        <a:srgbClr val="1D58A7"/>
      </a:hlink>
      <a:folHlink>
        <a:srgbClr val="DD340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9" id="{EB6B2FBE-53CE-AE45-9D18-D10FBF4063E0}" vid="{7AC8A834-0896-8341-9AC3-2DE1C842C7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Custom Design</Template>
  <TotalTime>45751</TotalTime>
  <Words>438</Words>
  <Application>Microsoft Macintosh PowerPoint</Application>
  <PresentationFormat>Widescreen</PresentationFormat>
  <Paragraphs>71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Custom Design</vt:lpstr>
      <vt:lpstr>PSYC 496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Here</dc:title>
  <dc:creator>Willits, Jon Anthony</dc:creator>
  <cp:lastModifiedBy>Willits, Jon Anthony</cp:lastModifiedBy>
  <cp:revision>538</cp:revision>
  <cp:lastPrinted>2025-11-07T13:39:49Z</cp:lastPrinted>
  <dcterms:created xsi:type="dcterms:W3CDTF">2022-08-22T20:35:14Z</dcterms:created>
  <dcterms:modified xsi:type="dcterms:W3CDTF">2026-02-12T20:05:39Z</dcterms:modified>
</cp:coreProperties>
</file>