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5"/>
  </p:notesMasterIdLst>
  <p:sldIdLst>
    <p:sldId id="256" r:id="rId2"/>
    <p:sldId id="407" r:id="rId3"/>
    <p:sldId id="408" r:id="rId4"/>
    <p:sldId id="443" r:id="rId5"/>
    <p:sldId id="409" r:id="rId6"/>
    <p:sldId id="410" r:id="rId7"/>
    <p:sldId id="411" r:id="rId8"/>
    <p:sldId id="412" r:id="rId9"/>
    <p:sldId id="413" r:id="rId10"/>
    <p:sldId id="400" r:id="rId11"/>
    <p:sldId id="403" r:id="rId12"/>
    <p:sldId id="414" r:id="rId13"/>
    <p:sldId id="41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32C"/>
    <a:srgbClr val="FF552E"/>
    <a:srgbClr val="FFEAE8"/>
    <a:srgbClr val="FFD2CD"/>
    <a:srgbClr val="E84A27"/>
    <a:srgbClr val="FFEAE9"/>
    <a:srgbClr val="9DBBA6"/>
    <a:srgbClr val="131F33"/>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24"/>
    <p:restoredTop sz="70340"/>
  </p:normalViewPr>
  <p:slideViewPr>
    <p:cSldViewPr snapToGrid="0" snapToObjects="1">
      <p:cViewPr varScale="1">
        <p:scale>
          <a:sx n="83" d="100"/>
          <a:sy n="83" d="100"/>
        </p:scale>
        <p:origin x="2016" y="208"/>
      </p:cViewPr>
      <p:guideLst>
        <p:guide orient="horz" pos="2160"/>
        <p:guide pos="3840"/>
      </p:guideLst>
    </p:cSldViewPr>
  </p:slideViewPr>
  <p:notesTextViewPr>
    <p:cViewPr>
      <p:scale>
        <a:sx n="150" d="100"/>
        <a:sy n="15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27BB7B-08EE-CB4F-8754-6730DF777C4A}" type="doc">
      <dgm:prSet loTypeId="urn:microsoft.com/office/officeart/2005/8/layout/venn1" loCatId="" qsTypeId="urn:microsoft.com/office/officeart/2005/8/quickstyle/simple1" qsCatId="simple" csTypeId="urn:microsoft.com/office/officeart/2005/8/colors/accent1_2" csCatId="accent1" phldr="1"/>
      <dgm:spPr/>
    </dgm:pt>
    <dgm:pt modelId="{9A92AD4D-7F4D-D042-9F16-C52F2D48F6CF}">
      <dgm:prSet phldrT="[Text]"/>
      <dgm:spPr/>
      <dgm:t>
        <a:bodyPr/>
        <a:lstStyle/>
        <a:p>
          <a:r>
            <a:rPr lang="en-US"/>
            <a:t>Language</a:t>
          </a:r>
          <a:br>
            <a:rPr lang="en-US"/>
          </a:br>
          <a:r>
            <a:rPr lang="en-US"/>
            <a:t>Models</a:t>
          </a:r>
        </a:p>
      </dgm:t>
    </dgm:pt>
    <dgm:pt modelId="{89EE9AF8-CE8B-F644-A1E0-E0F1B3DA9895}" type="parTrans" cxnId="{0A2D4D6C-EA1C-EE4F-BE8E-1105DCF1CEAD}">
      <dgm:prSet/>
      <dgm:spPr/>
      <dgm:t>
        <a:bodyPr/>
        <a:lstStyle/>
        <a:p>
          <a:endParaRPr lang="en-US"/>
        </a:p>
      </dgm:t>
    </dgm:pt>
    <dgm:pt modelId="{3A35D6E0-811F-2940-897B-A1DC29AB01B9}" type="sibTrans" cxnId="{0A2D4D6C-EA1C-EE4F-BE8E-1105DCF1CEAD}">
      <dgm:prSet/>
      <dgm:spPr/>
      <dgm:t>
        <a:bodyPr/>
        <a:lstStyle/>
        <a:p>
          <a:endParaRPr lang="en-US"/>
        </a:p>
      </dgm:t>
    </dgm:pt>
    <dgm:pt modelId="{0FE1D946-1FF0-D84C-B5BF-5C6E11EC811B}">
      <dgm:prSet phldrT="[Text]"/>
      <dgm:spPr/>
      <dgm:t>
        <a:bodyPr/>
        <a:lstStyle/>
        <a:p>
          <a:r>
            <a:rPr lang="en-US"/>
            <a:t>Artificial Neural Networks</a:t>
          </a:r>
        </a:p>
      </dgm:t>
    </dgm:pt>
    <dgm:pt modelId="{D1F241E3-91BD-C54D-ABBC-7A41B50C52E7}" type="parTrans" cxnId="{7C14EFEF-0BF3-B04C-8D30-69A3A3B73625}">
      <dgm:prSet/>
      <dgm:spPr/>
      <dgm:t>
        <a:bodyPr/>
        <a:lstStyle/>
        <a:p>
          <a:endParaRPr lang="en-US"/>
        </a:p>
      </dgm:t>
    </dgm:pt>
    <dgm:pt modelId="{31FD5B61-2229-054F-8E7A-F18DF9728D05}" type="sibTrans" cxnId="{7C14EFEF-0BF3-B04C-8D30-69A3A3B73625}">
      <dgm:prSet/>
      <dgm:spPr/>
      <dgm:t>
        <a:bodyPr/>
        <a:lstStyle/>
        <a:p>
          <a:endParaRPr lang="en-US"/>
        </a:p>
      </dgm:t>
    </dgm:pt>
    <dgm:pt modelId="{D8809C03-E204-B847-B9B7-34B54E218CC8}">
      <dgm:prSet phldrT="[Text]"/>
      <dgm:spPr/>
      <dgm:t>
        <a:bodyPr/>
        <a:lstStyle/>
        <a:p>
          <a:r>
            <a:rPr lang="en-US" dirty="0"/>
            <a:t>Distributional Knowledge</a:t>
          </a:r>
        </a:p>
      </dgm:t>
    </dgm:pt>
    <dgm:pt modelId="{63DB7361-376E-8F44-9912-6E1B502058CA}" type="parTrans" cxnId="{9ACFCF02-4E22-5346-B203-676D398B7324}">
      <dgm:prSet/>
      <dgm:spPr/>
      <dgm:t>
        <a:bodyPr/>
        <a:lstStyle/>
        <a:p>
          <a:endParaRPr lang="en-US"/>
        </a:p>
      </dgm:t>
    </dgm:pt>
    <dgm:pt modelId="{D41CB43B-19B0-694F-AE40-5970004B857D}" type="sibTrans" cxnId="{9ACFCF02-4E22-5346-B203-676D398B7324}">
      <dgm:prSet/>
      <dgm:spPr/>
      <dgm:t>
        <a:bodyPr/>
        <a:lstStyle/>
        <a:p>
          <a:endParaRPr lang="en-US"/>
        </a:p>
      </dgm:t>
    </dgm:pt>
    <dgm:pt modelId="{B7BC4DDB-B6CD-0343-8C23-F3C88B70C40E}" type="pres">
      <dgm:prSet presAssocID="{5527BB7B-08EE-CB4F-8754-6730DF777C4A}" presName="compositeShape" presStyleCnt="0">
        <dgm:presLayoutVars>
          <dgm:chMax val="7"/>
          <dgm:dir/>
          <dgm:resizeHandles val="exact"/>
        </dgm:presLayoutVars>
      </dgm:prSet>
      <dgm:spPr/>
    </dgm:pt>
    <dgm:pt modelId="{DAFC9798-A29F-FB41-9156-9B3CAF4EE9F7}" type="pres">
      <dgm:prSet presAssocID="{9A92AD4D-7F4D-D042-9F16-C52F2D48F6CF}" presName="circ1" presStyleLbl="vennNode1" presStyleIdx="0" presStyleCnt="3"/>
      <dgm:spPr/>
    </dgm:pt>
    <dgm:pt modelId="{BC26F006-3743-0345-B62B-958F4B0DCEF6}" type="pres">
      <dgm:prSet presAssocID="{9A92AD4D-7F4D-D042-9F16-C52F2D48F6CF}" presName="circ1Tx" presStyleLbl="revTx" presStyleIdx="0" presStyleCnt="0">
        <dgm:presLayoutVars>
          <dgm:chMax val="0"/>
          <dgm:chPref val="0"/>
          <dgm:bulletEnabled val="1"/>
        </dgm:presLayoutVars>
      </dgm:prSet>
      <dgm:spPr/>
    </dgm:pt>
    <dgm:pt modelId="{A57F53B3-CCC8-8644-9DC4-4FE9B62BFF9B}" type="pres">
      <dgm:prSet presAssocID="{0FE1D946-1FF0-D84C-B5BF-5C6E11EC811B}" presName="circ2" presStyleLbl="vennNode1" presStyleIdx="1" presStyleCnt="3"/>
      <dgm:spPr/>
    </dgm:pt>
    <dgm:pt modelId="{AF2E5719-6BC0-F64F-8DEF-1496E8BF24F2}" type="pres">
      <dgm:prSet presAssocID="{0FE1D946-1FF0-D84C-B5BF-5C6E11EC811B}" presName="circ2Tx" presStyleLbl="revTx" presStyleIdx="0" presStyleCnt="0">
        <dgm:presLayoutVars>
          <dgm:chMax val="0"/>
          <dgm:chPref val="0"/>
          <dgm:bulletEnabled val="1"/>
        </dgm:presLayoutVars>
      </dgm:prSet>
      <dgm:spPr/>
    </dgm:pt>
    <dgm:pt modelId="{FCB0259C-99F4-714C-AE25-B2CE70CA1641}" type="pres">
      <dgm:prSet presAssocID="{D8809C03-E204-B847-B9B7-34B54E218CC8}" presName="circ3" presStyleLbl="vennNode1" presStyleIdx="2" presStyleCnt="3"/>
      <dgm:spPr/>
    </dgm:pt>
    <dgm:pt modelId="{EFF4213F-5BFE-7843-A602-ED33E4A1400D}" type="pres">
      <dgm:prSet presAssocID="{D8809C03-E204-B847-B9B7-34B54E218CC8}" presName="circ3Tx" presStyleLbl="revTx" presStyleIdx="0" presStyleCnt="0">
        <dgm:presLayoutVars>
          <dgm:chMax val="0"/>
          <dgm:chPref val="0"/>
          <dgm:bulletEnabled val="1"/>
        </dgm:presLayoutVars>
      </dgm:prSet>
      <dgm:spPr/>
    </dgm:pt>
  </dgm:ptLst>
  <dgm:cxnLst>
    <dgm:cxn modelId="{9ACFCF02-4E22-5346-B203-676D398B7324}" srcId="{5527BB7B-08EE-CB4F-8754-6730DF777C4A}" destId="{D8809C03-E204-B847-B9B7-34B54E218CC8}" srcOrd="2" destOrd="0" parTransId="{63DB7361-376E-8F44-9912-6E1B502058CA}" sibTransId="{D41CB43B-19B0-694F-AE40-5970004B857D}"/>
    <dgm:cxn modelId="{1DF15222-C275-FB4F-8A7D-8672FA1CE874}" type="presOf" srcId="{5527BB7B-08EE-CB4F-8754-6730DF777C4A}" destId="{B7BC4DDB-B6CD-0343-8C23-F3C88B70C40E}" srcOrd="0" destOrd="0" presId="urn:microsoft.com/office/officeart/2005/8/layout/venn1"/>
    <dgm:cxn modelId="{5A315455-8392-AF47-A75F-C380D0937E14}" type="presOf" srcId="{0FE1D946-1FF0-D84C-B5BF-5C6E11EC811B}" destId="{AF2E5719-6BC0-F64F-8DEF-1496E8BF24F2}" srcOrd="1" destOrd="0" presId="urn:microsoft.com/office/officeart/2005/8/layout/venn1"/>
    <dgm:cxn modelId="{4F786F69-B31E-D64D-8C1B-917B05CDFEF7}" type="presOf" srcId="{D8809C03-E204-B847-B9B7-34B54E218CC8}" destId="{FCB0259C-99F4-714C-AE25-B2CE70CA1641}" srcOrd="0" destOrd="0" presId="urn:microsoft.com/office/officeart/2005/8/layout/venn1"/>
    <dgm:cxn modelId="{0A2D4D6C-EA1C-EE4F-BE8E-1105DCF1CEAD}" srcId="{5527BB7B-08EE-CB4F-8754-6730DF777C4A}" destId="{9A92AD4D-7F4D-D042-9F16-C52F2D48F6CF}" srcOrd="0" destOrd="0" parTransId="{89EE9AF8-CE8B-F644-A1E0-E0F1B3DA9895}" sibTransId="{3A35D6E0-811F-2940-897B-A1DC29AB01B9}"/>
    <dgm:cxn modelId="{5F05037E-5733-9D48-AE07-9C6AA95F8FAD}" type="presOf" srcId="{0FE1D946-1FF0-D84C-B5BF-5C6E11EC811B}" destId="{A57F53B3-CCC8-8644-9DC4-4FE9B62BFF9B}" srcOrd="0" destOrd="0" presId="urn:microsoft.com/office/officeart/2005/8/layout/venn1"/>
    <dgm:cxn modelId="{21D20594-B278-EE42-A893-0599C09B492E}" type="presOf" srcId="{D8809C03-E204-B847-B9B7-34B54E218CC8}" destId="{EFF4213F-5BFE-7843-A602-ED33E4A1400D}" srcOrd="1" destOrd="0" presId="urn:microsoft.com/office/officeart/2005/8/layout/venn1"/>
    <dgm:cxn modelId="{31FAE795-40C3-A646-A4AC-27397C7C1E49}" type="presOf" srcId="{9A92AD4D-7F4D-D042-9F16-C52F2D48F6CF}" destId="{DAFC9798-A29F-FB41-9156-9B3CAF4EE9F7}" srcOrd="0" destOrd="0" presId="urn:microsoft.com/office/officeart/2005/8/layout/venn1"/>
    <dgm:cxn modelId="{7C14EFEF-0BF3-B04C-8D30-69A3A3B73625}" srcId="{5527BB7B-08EE-CB4F-8754-6730DF777C4A}" destId="{0FE1D946-1FF0-D84C-B5BF-5C6E11EC811B}" srcOrd="1" destOrd="0" parTransId="{D1F241E3-91BD-C54D-ABBC-7A41B50C52E7}" sibTransId="{31FD5B61-2229-054F-8E7A-F18DF9728D05}"/>
    <dgm:cxn modelId="{367442FF-5C2F-384D-885C-A514C1808DBC}" type="presOf" srcId="{9A92AD4D-7F4D-D042-9F16-C52F2D48F6CF}" destId="{BC26F006-3743-0345-B62B-958F4B0DCEF6}" srcOrd="1" destOrd="0" presId="urn:microsoft.com/office/officeart/2005/8/layout/venn1"/>
    <dgm:cxn modelId="{7E07C2E5-DA3C-7342-9077-AAF8F41D09F1}" type="presParOf" srcId="{B7BC4DDB-B6CD-0343-8C23-F3C88B70C40E}" destId="{DAFC9798-A29F-FB41-9156-9B3CAF4EE9F7}" srcOrd="0" destOrd="0" presId="urn:microsoft.com/office/officeart/2005/8/layout/venn1"/>
    <dgm:cxn modelId="{7EF5FA5D-1CC9-9648-B8FA-9C3F2053B34B}" type="presParOf" srcId="{B7BC4DDB-B6CD-0343-8C23-F3C88B70C40E}" destId="{BC26F006-3743-0345-B62B-958F4B0DCEF6}" srcOrd="1" destOrd="0" presId="urn:microsoft.com/office/officeart/2005/8/layout/venn1"/>
    <dgm:cxn modelId="{B765D673-79A0-5746-85C9-8AD661DC9494}" type="presParOf" srcId="{B7BC4DDB-B6CD-0343-8C23-F3C88B70C40E}" destId="{A57F53B3-CCC8-8644-9DC4-4FE9B62BFF9B}" srcOrd="2" destOrd="0" presId="urn:microsoft.com/office/officeart/2005/8/layout/venn1"/>
    <dgm:cxn modelId="{5FEF2525-ABB0-FC4D-9FA8-A95B0DCBDF58}" type="presParOf" srcId="{B7BC4DDB-B6CD-0343-8C23-F3C88B70C40E}" destId="{AF2E5719-6BC0-F64F-8DEF-1496E8BF24F2}" srcOrd="3" destOrd="0" presId="urn:microsoft.com/office/officeart/2005/8/layout/venn1"/>
    <dgm:cxn modelId="{B112D356-4057-714E-B87B-D1BCF7502A27}" type="presParOf" srcId="{B7BC4DDB-B6CD-0343-8C23-F3C88B70C40E}" destId="{FCB0259C-99F4-714C-AE25-B2CE70CA1641}" srcOrd="4" destOrd="0" presId="urn:microsoft.com/office/officeart/2005/8/layout/venn1"/>
    <dgm:cxn modelId="{1DDB1935-C0D6-A149-9056-683EDB77497E}" type="presParOf" srcId="{B7BC4DDB-B6CD-0343-8C23-F3C88B70C40E}" destId="{EFF4213F-5BFE-7843-A602-ED33E4A1400D}"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27BB7B-08EE-CB4F-8754-6730DF777C4A}" type="doc">
      <dgm:prSet loTypeId="urn:microsoft.com/office/officeart/2005/8/layout/venn1" loCatId="" qsTypeId="urn:microsoft.com/office/officeart/2005/8/quickstyle/simple1" qsCatId="simple" csTypeId="urn:microsoft.com/office/officeart/2005/8/colors/accent1_2" csCatId="accent1" phldr="1"/>
      <dgm:spPr/>
    </dgm:pt>
    <dgm:pt modelId="{9A92AD4D-7F4D-D042-9F16-C52F2D48F6CF}">
      <dgm:prSet phldrT="[Text]"/>
      <dgm:spPr>
        <a:ln w="63500">
          <a:solidFill>
            <a:schemeClr val="accent6">
              <a:lumMod val="10000"/>
            </a:schemeClr>
          </a:solidFill>
        </a:ln>
      </dgm:spPr>
      <dgm:t>
        <a:bodyPr/>
        <a:lstStyle/>
        <a:p>
          <a:r>
            <a:rPr lang="en-US"/>
            <a:t>Language</a:t>
          </a:r>
          <a:br>
            <a:rPr lang="en-US"/>
          </a:br>
          <a:r>
            <a:rPr lang="en-US"/>
            <a:t>Models</a:t>
          </a:r>
        </a:p>
      </dgm:t>
    </dgm:pt>
    <dgm:pt modelId="{89EE9AF8-CE8B-F644-A1E0-E0F1B3DA9895}" type="parTrans" cxnId="{0A2D4D6C-EA1C-EE4F-BE8E-1105DCF1CEAD}">
      <dgm:prSet/>
      <dgm:spPr/>
      <dgm:t>
        <a:bodyPr/>
        <a:lstStyle/>
        <a:p>
          <a:endParaRPr lang="en-US"/>
        </a:p>
      </dgm:t>
    </dgm:pt>
    <dgm:pt modelId="{3A35D6E0-811F-2940-897B-A1DC29AB01B9}" type="sibTrans" cxnId="{0A2D4D6C-EA1C-EE4F-BE8E-1105DCF1CEAD}">
      <dgm:prSet/>
      <dgm:spPr/>
      <dgm:t>
        <a:bodyPr/>
        <a:lstStyle/>
        <a:p>
          <a:endParaRPr lang="en-US"/>
        </a:p>
      </dgm:t>
    </dgm:pt>
    <dgm:pt modelId="{0FE1D946-1FF0-D84C-B5BF-5C6E11EC811B}">
      <dgm:prSet phldrT="[Text]"/>
      <dgm:spPr/>
      <dgm:t>
        <a:bodyPr/>
        <a:lstStyle/>
        <a:p>
          <a:r>
            <a:rPr lang="en-US"/>
            <a:t>Artificial Neural Networks</a:t>
          </a:r>
        </a:p>
      </dgm:t>
    </dgm:pt>
    <dgm:pt modelId="{D1F241E3-91BD-C54D-ABBC-7A41B50C52E7}" type="parTrans" cxnId="{7C14EFEF-0BF3-B04C-8D30-69A3A3B73625}">
      <dgm:prSet/>
      <dgm:spPr/>
      <dgm:t>
        <a:bodyPr/>
        <a:lstStyle/>
        <a:p>
          <a:endParaRPr lang="en-US"/>
        </a:p>
      </dgm:t>
    </dgm:pt>
    <dgm:pt modelId="{31FD5B61-2229-054F-8E7A-F18DF9728D05}" type="sibTrans" cxnId="{7C14EFEF-0BF3-B04C-8D30-69A3A3B73625}">
      <dgm:prSet/>
      <dgm:spPr/>
      <dgm:t>
        <a:bodyPr/>
        <a:lstStyle/>
        <a:p>
          <a:endParaRPr lang="en-US"/>
        </a:p>
      </dgm:t>
    </dgm:pt>
    <dgm:pt modelId="{D8809C03-E204-B847-B9B7-34B54E218CC8}">
      <dgm:prSet phldrT="[Text]"/>
      <dgm:spPr/>
      <dgm:t>
        <a:bodyPr/>
        <a:lstStyle/>
        <a:p>
          <a:r>
            <a:rPr lang="en-US" dirty="0"/>
            <a:t>Distributional Knowledge</a:t>
          </a:r>
        </a:p>
      </dgm:t>
    </dgm:pt>
    <dgm:pt modelId="{63DB7361-376E-8F44-9912-6E1B502058CA}" type="parTrans" cxnId="{9ACFCF02-4E22-5346-B203-676D398B7324}">
      <dgm:prSet/>
      <dgm:spPr/>
      <dgm:t>
        <a:bodyPr/>
        <a:lstStyle/>
        <a:p>
          <a:endParaRPr lang="en-US"/>
        </a:p>
      </dgm:t>
    </dgm:pt>
    <dgm:pt modelId="{D41CB43B-19B0-694F-AE40-5970004B857D}" type="sibTrans" cxnId="{9ACFCF02-4E22-5346-B203-676D398B7324}">
      <dgm:prSet/>
      <dgm:spPr/>
      <dgm:t>
        <a:bodyPr/>
        <a:lstStyle/>
        <a:p>
          <a:endParaRPr lang="en-US"/>
        </a:p>
      </dgm:t>
    </dgm:pt>
    <dgm:pt modelId="{B7BC4DDB-B6CD-0343-8C23-F3C88B70C40E}" type="pres">
      <dgm:prSet presAssocID="{5527BB7B-08EE-CB4F-8754-6730DF777C4A}" presName="compositeShape" presStyleCnt="0">
        <dgm:presLayoutVars>
          <dgm:chMax val="7"/>
          <dgm:dir/>
          <dgm:resizeHandles val="exact"/>
        </dgm:presLayoutVars>
      </dgm:prSet>
      <dgm:spPr/>
    </dgm:pt>
    <dgm:pt modelId="{DAFC9798-A29F-FB41-9156-9B3CAF4EE9F7}" type="pres">
      <dgm:prSet presAssocID="{9A92AD4D-7F4D-D042-9F16-C52F2D48F6CF}" presName="circ1" presStyleLbl="vennNode1" presStyleIdx="0" presStyleCnt="3"/>
      <dgm:spPr/>
    </dgm:pt>
    <dgm:pt modelId="{BC26F006-3743-0345-B62B-958F4B0DCEF6}" type="pres">
      <dgm:prSet presAssocID="{9A92AD4D-7F4D-D042-9F16-C52F2D48F6CF}" presName="circ1Tx" presStyleLbl="revTx" presStyleIdx="0" presStyleCnt="0">
        <dgm:presLayoutVars>
          <dgm:chMax val="0"/>
          <dgm:chPref val="0"/>
          <dgm:bulletEnabled val="1"/>
        </dgm:presLayoutVars>
      </dgm:prSet>
      <dgm:spPr/>
    </dgm:pt>
    <dgm:pt modelId="{A57F53B3-CCC8-8644-9DC4-4FE9B62BFF9B}" type="pres">
      <dgm:prSet presAssocID="{0FE1D946-1FF0-D84C-B5BF-5C6E11EC811B}" presName="circ2" presStyleLbl="vennNode1" presStyleIdx="1" presStyleCnt="3"/>
      <dgm:spPr/>
    </dgm:pt>
    <dgm:pt modelId="{AF2E5719-6BC0-F64F-8DEF-1496E8BF24F2}" type="pres">
      <dgm:prSet presAssocID="{0FE1D946-1FF0-D84C-B5BF-5C6E11EC811B}" presName="circ2Tx" presStyleLbl="revTx" presStyleIdx="0" presStyleCnt="0">
        <dgm:presLayoutVars>
          <dgm:chMax val="0"/>
          <dgm:chPref val="0"/>
          <dgm:bulletEnabled val="1"/>
        </dgm:presLayoutVars>
      </dgm:prSet>
      <dgm:spPr/>
    </dgm:pt>
    <dgm:pt modelId="{FCB0259C-99F4-714C-AE25-B2CE70CA1641}" type="pres">
      <dgm:prSet presAssocID="{D8809C03-E204-B847-B9B7-34B54E218CC8}" presName="circ3" presStyleLbl="vennNode1" presStyleIdx="2" presStyleCnt="3"/>
      <dgm:spPr/>
    </dgm:pt>
    <dgm:pt modelId="{EFF4213F-5BFE-7843-A602-ED33E4A1400D}" type="pres">
      <dgm:prSet presAssocID="{D8809C03-E204-B847-B9B7-34B54E218CC8}" presName="circ3Tx" presStyleLbl="revTx" presStyleIdx="0" presStyleCnt="0">
        <dgm:presLayoutVars>
          <dgm:chMax val="0"/>
          <dgm:chPref val="0"/>
          <dgm:bulletEnabled val="1"/>
        </dgm:presLayoutVars>
      </dgm:prSet>
      <dgm:spPr/>
    </dgm:pt>
  </dgm:ptLst>
  <dgm:cxnLst>
    <dgm:cxn modelId="{9ACFCF02-4E22-5346-B203-676D398B7324}" srcId="{5527BB7B-08EE-CB4F-8754-6730DF777C4A}" destId="{D8809C03-E204-B847-B9B7-34B54E218CC8}" srcOrd="2" destOrd="0" parTransId="{63DB7361-376E-8F44-9912-6E1B502058CA}" sibTransId="{D41CB43B-19B0-694F-AE40-5970004B857D}"/>
    <dgm:cxn modelId="{1DF15222-C275-FB4F-8A7D-8672FA1CE874}" type="presOf" srcId="{5527BB7B-08EE-CB4F-8754-6730DF777C4A}" destId="{B7BC4DDB-B6CD-0343-8C23-F3C88B70C40E}" srcOrd="0" destOrd="0" presId="urn:microsoft.com/office/officeart/2005/8/layout/venn1"/>
    <dgm:cxn modelId="{5A315455-8392-AF47-A75F-C380D0937E14}" type="presOf" srcId="{0FE1D946-1FF0-D84C-B5BF-5C6E11EC811B}" destId="{AF2E5719-6BC0-F64F-8DEF-1496E8BF24F2}" srcOrd="1" destOrd="0" presId="urn:microsoft.com/office/officeart/2005/8/layout/venn1"/>
    <dgm:cxn modelId="{4F786F69-B31E-D64D-8C1B-917B05CDFEF7}" type="presOf" srcId="{D8809C03-E204-B847-B9B7-34B54E218CC8}" destId="{FCB0259C-99F4-714C-AE25-B2CE70CA1641}" srcOrd="0" destOrd="0" presId="urn:microsoft.com/office/officeart/2005/8/layout/venn1"/>
    <dgm:cxn modelId="{0A2D4D6C-EA1C-EE4F-BE8E-1105DCF1CEAD}" srcId="{5527BB7B-08EE-CB4F-8754-6730DF777C4A}" destId="{9A92AD4D-7F4D-D042-9F16-C52F2D48F6CF}" srcOrd="0" destOrd="0" parTransId="{89EE9AF8-CE8B-F644-A1E0-E0F1B3DA9895}" sibTransId="{3A35D6E0-811F-2940-897B-A1DC29AB01B9}"/>
    <dgm:cxn modelId="{5F05037E-5733-9D48-AE07-9C6AA95F8FAD}" type="presOf" srcId="{0FE1D946-1FF0-D84C-B5BF-5C6E11EC811B}" destId="{A57F53B3-CCC8-8644-9DC4-4FE9B62BFF9B}" srcOrd="0" destOrd="0" presId="urn:microsoft.com/office/officeart/2005/8/layout/venn1"/>
    <dgm:cxn modelId="{21D20594-B278-EE42-A893-0599C09B492E}" type="presOf" srcId="{D8809C03-E204-B847-B9B7-34B54E218CC8}" destId="{EFF4213F-5BFE-7843-A602-ED33E4A1400D}" srcOrd="1" destOrd="0" presId="urn:microsoft.com/office/officeart/2005/8/layout/venn1"/>
    <dgm:cxn modelId="{31FAE795-40C3-A646-A4AC-27397C7C1E49}" type="presOf" srcId="{9A92AD4D-7F4D-D042-9F16-C52F2D48F6CF}" destId="{DAFC9798-A29F-FB41-9156-9B3CAF4EE9F7}" srcOrd="0" destOrd="0" presId="urn:microsoft.com/office/officeart/2005/8/layout/venn1"/>
    <dgm:cxn modelId="{7C14EFEF-0BF3-B04C-8D30-69A3A3B73625}" srcId="{5527BB7B-08EE-CB4F-8754-6730DF777C4A}" destId="{0FE1D946-1FF0-D84C-B5BF-5C6E11EC811B}" srcOrd="1" destOrd="0" parTransId="{D1F241E3-91BD-C54D-ABBC-7A41B50C52E7}" sibTransId="{31FD5B61-2229-054F-8E7A-F18DF9728D05}"/>
    <dgm:cxn modelId="{367442FF-5C2F-384D-885C-A514C1808DBC}" type="presOf" srcId="{9A92AD4D-7F4D-D042-9F16-C52F2D48F6CF}" destId="{BC26F006-3743-0345-B62B-958F4B0DCEF6}" srcOrd="1" destOrd="0" presId="urn:microsoft.com/office/officeart/2005/8/layout/venn1"/>
    <dgm:cxn modelId="{7E07C2E5-DA3C-7342-9077-AAF8F41D09F1}" type="presParOf" srcId="{B7BC4DDB-B6CD-0343-8C23-F3C88B70C40E}" destId="{DAFC9798-A29F-FB41-9156-9B3CAF4EE9F7}" srcOrd="0" destOrd="0" presId="urn:microsoft.com/office/officeart/2005/8/layout/venn1"/>
    <dgm:cxn modelId="{7EF5FA5D-1CC9-9648-B8FA-9C3F2053B34B}" type="presParOf" srcId="{B7BC4DDB-B6CD-0343-8C23-F3C88B70C40E}" destId="{BC26F006-3743-0345-B62B-958F4B0DCEF6}" srcOrd="1" destOrd="0" presId="urn:microsoft.com/office/officeart/2005/8/layout/venn1"/>
    <dgm:cxn modelId="{B765D673-79A0-5746-85C9-8AD661DC9494}" type="presParOf" srcId="{B7BC4DDB-B6CD-0343-8C23-F3C88B70C40E}" destId="{A57F53B3-CCC8-8644-9DC4-4FE9B62BFF9B}" srcOrd="2" destOrd="0" presId="urn:microsoft.com/office/officeart/2005/8/layout/venn1"/>
    <dgm:cxn modelId="{5FEF2525-ABB0-FC4D-9FA8-A95B0DCBDF58}" type="presParOf" srcId="{B7BC4DDB-B6CD-0343-8C23-F3C88B70C40E}" destId="{AF2E5719-6BC0-F64F-8DEF-1496E8BF24F2}" srcOrd="3" destOrd="0" presId="urn:microsoft.com/office/officeart/2005/8/layout/venn1"/>
    <dgm:cxn modelId="{B112D356-4057-714E-B87B-D1BCF7502A27}" type="presParOf" srcId="{B7BC4DDB-B6CD-0343-8C23-F3C88B70C40E}" destId="{FCB0259C-99F4-714C-AE25-B2CE70CA1641}" srcOrd="4" destOrd="0" presId="urn:microsoft.com/office/officeart/2005/8/layout/venn1"/>
    <dgm:cxn modelId="{1DDB1935-C0D6-A149-9056-683EDB77497E}" type="presParOf" srcId="{B7BC4DDB-B6CD-0343-8C23-F3C88B70C40E}" destId="{EFF4213F-5BFE-7843-A602-ED33E4A1400D}"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C9798-A29F-FB41-9156-9B3CAF4EE9F7}">
      <dsp:nvSpPr>
        <dsp:cNvPr id="0" name=""/>
        <dsp:cNvSpPr/>
      </dsp:nvSpPr>
      <dsp:spPr>
        <a:xfrm>
          <a:off x="2650039" y="63962"/>
          <a:ext cx="3070198" cy="307019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a:t>Language</a:t>
          </a:r>
          <a:br>
            <a:rPr lang="en-US" sz="2600" kern="1200"/>
          </a:br>
          <a:r>
            <a:rPr lang="en-US" sz="2600" kern="1200"/>
            <a:t>Models</a:t>
          </a:r>
        </a:p>
      </dsp:txBody>
      <dsp:txXfrm>
        <a:off x="3059399" y="601247"/>
        <a:ext cx="2251478" cy="1381589"/>
      </dsp:txXfrm>
    </dsp:sp>
    <dsp:sp modelId="{A57F53B3-CCC8-8644-9DC4-4FE9B62BFF9B}">
      <dsp:nvSpPr>
        <dsp:cNvPr id="0" name=""/>
        <dsp:cNvSpPr/>
      </dsp:nvSpPr>
      <dsp:spPr>
        <a:xfrm>
          <a:off x="3757869" y="1982836"/>
          <a:ext cx="3070198" cy="307019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a:t>Artificial Neural Networks</a:t>
          </a:r>
        </a:p>
      </dsp:txBody>
      <dsp:txXfrm>
        <a:off x="4696838" y="2775970"/>
        <a:ext cx="1842118" cy="1688609"/>
      </dsp:txXfrm>
    </dsp:sp>
    <dsp:sp modelId="{FCB0259C-99F4-714C-AE25-B2CE70CA1641}">
      <dsp:nvSpPr>
        <dsp:cNvPr id="0" name=""/>
        <dsp:cNvSpPr/>
      </dsp:nvSpPr>
      <dsp:spPr>
        <a:xfrm>
          <a:off x="1542209" y="1982836"/>
          <a:ext cx="3070198" cy="307019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dirty="0"/>
            <a:t>Distributional Knowledge</a:t>
          </a:r>
        </a:p>
      </dsp:txBody>
      <dsp:txXfrm>
        <a:off x="1831319" y="2775970"/>
        <a:ext cx="1842118" cy="16886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C9798-A29F-FB41-9156-9B3CAF4EE9F7}">
      <dsp:nvSpPr>
        <dsp:cNvPr id="0" name=""/>
        <dsp:cNvSpPr/>
      </dsp:nvSpPr>
      <dsp:spPr>
        <a:xfrm>
          <a:off x="2650039" y="63962"/>
          <a:ext cx="3070198" cy="3070198"/>
        </a:xfrm>
        <a:prstGeom prst="ellipse">
          <a:avLst/>
        </a:prstGeom>
        <a:solidFill>
          <a:schemeClr val="accent1">
            <a:alpha val="50000"/>
            <a:hueOff val="0"/>
            <a:satOff val="0"/>
            <a:lumOff val="0"/>
            <a:alphaOff val="0"/>
          </a:schemeClr>
        </a:solidFill>
        <a:ln w="63500" cap="flat" cmpd="sng" algn="ctr">
          <a:solidFill>
            <a:schemeClr val="accent6">
              <a:lumMod val="1000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a:t>Language</a:t>
          </a:r>
          <a:br>
            <a:rPr lang="en-US" sz="2600" kern="1200"/>
          </a:br>
          <a:r>
            <a:rPr lang="en-US" sz="2600" kern="1200"/>
            <a:t>Models</a:t>
          </a:r>
        </a:p>
      </dsp:txBody>
      <dsp:txXfrm>
        <a:off x="3059399" y="601247"/>
        <a:ext cx="2251478" cy="1381589"/>
      </dsp:txXfrm>
    </dsp:sp>
    <dsp:sp modelId="{A57F53B3-CCC8-8644-9DC4-4FE9B62BFF9B}">
      <dsp:nvSpPr>
        <dsp:cNvPr id="0" name=""/>
        <dsp:cNvSpPr/>
      </dsp:nvSpPr>
      <dsp:spPr>
        <a:xfrm>
          <a:off x="3757869" y="1982836"/>
          <a:ext cx="3070198" cy="307019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a:t>Artificial Neural Networks</a:t>
          </a:r>
        </a:p>
      </dsp:txBody>
      <dsp:txXfrm>
        <a:off x="4696838" y="2775970"/>
        <a:ext cx="1842118" cy="1688609"/>
      </dsp:txXfrm>
    </dsp:sp>
    <dsp:sp modelId="{FCB0259C-99F4-714C-AE25-B2CE70CA1641}">
      <dsp:nvSpPr>
        <dsp:cNvPr id="0" name=""/>
        <dsp:cNvSpPr/>
      </dsp:nvSpPr>
      <dsp:spPr>
        <a:xfrm>
          <a:off x="1542209" y="1982836"/>
          <a:ext cx="3070198" cy="307019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en-US" sz="2600" kern="1200" dirty="0"/>
            <a:t>Distributional Knowledge</a:t>
          </a:r>
        </a:p>
      </dsp:txBody>
      <dsp:txXfrm>
        <a:off x="1831319" y="2775970"/>
        <a:ext cx="1842118" cy="168860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3E08-CD1E-6345-BF3D-6B539ADC1145}"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32C59-1409-2640-866F-4A1083575A35}" type="slidenum">
              <a:rPr lang="en-US" smtClean="0"/>
              <a:t>‹#›</a:t>
            </a:fld>
            <a:endParaRPr lang="en-US"/>
          </a:p>
        </p:txBody>
      </p:sp>
    </p:spTree>
    <p:extLst>
      <p:ext uri="{BB962C8B-B14F-4D97-AF65-F5344CB8AC3E}">
        <p14:creationId xmlns:p14="http://schemas.microsoft.com/office/powerpoint/2010/main" val="406037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a:t>
            </a:fld>
            <a:endParaRPr lang="en-US"/>
          </a:p>
        </p:txBody>
      </p:sp>
    </p:spTree>
    <p:extLst>
      <p:ext uri="{BB962C8B-B14F-4D97-AF65-F5344CB8AC3E}">
        <p14:creationId xmlns:p14="http://schemas.microsoft.com/office/powerpoint/2010/main" val="3264052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FA18-A3EB-A69D-D3E8-321020DDA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254B8-BDD2-9B77-630C-838F34E71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DC7C8-E991-6F16-9036-E42E0E0A36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40A53D-156B-E2DE-183F-E804FA4F34E5}"/>
              </a:ext>
            </a:extLst>
          </p:cNvPr>
          <p:cNvSpPr>
            <a:spLocks noGrp="1"/>
          </p:cNvSpPr>
          <p:nvPr>
            <p:ph type="sldNum" sz="quarter" idx="5"/>
          </p:nvPr>
        </p:nvSpPr>
        <p:spPr/>
        <p:txBody>
          <a:bodyPr/>
          <a:lstStyle/>
          <a:p>
            <a:fld id="{B0C32C59-1409-2640-866F-4A1083575A35}" type="slidenum">
              <a:rPr lang="en-US" smtClean="0"/>
              <a:t>2</a:t>
            </a:fld>
            <a:endParaRPr lang="en-US"/>
          </a:p>
        </p:txBody>
      </p:sp>
    </p:spTree>
    <p:extLst>
      <p:ext uri="{BB962C8B-B14F-4D97-AF65-F5344CB8AC3E}">
        <p14:creationId xmlns:p14="http://schemas.microsoft.com/office/powerpoint/2010/main" val="10293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66CB4-26CA-75D5-9B03-3595EAD6A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90828-514A-452F-63E2-B671CF090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26487-0C7E-995F-0E4E-2ABC191DF5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7C371C-DD95-EF1B-3407-86C1AE79B265}"/>
              </a:ext>
            </a:extLst>
          </p:cNvPr>
          <p:cNvSpPr>
            <a:spLocks noGrp="1"/>
          </p:cNvSpPr>
          <p:nvPr>
            <p:ph type="sldNum" sz="quarter" idx="5"/>
          </p:nvPr>
        </p:nvSpPr>
        <p:spPr/>
        <p:txBody>
          <a:bodyPr/>
          <a:lstStyle/>
          <a:p>
            <a:fld id="{B0C32C59-1409-2640-866F-4A1083575A35}" type="slidenum">
              <a:rPr lang="en-US" smtClean="0"/>
              <a:t>3</a:t>
            </a:fld>
            <a:endParaRPr lang="en-US"/>
          </a:p>
        </p:txBody>
      </p:sp>
    </p:spTree>
    <p:extLst>
      <p:ext uri="{BB962C8B-B14F-4D97-AF65-F5344CB8AC3E}">
        <p14:creationId xmlns:p14="http://schemas.microsoft.com/office/powerpoint/2010/main" val="364680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CF7B-C233-144B-4928-27D2F9547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940B8-E643-3F29-314B-AD0B65799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A18A2-6F1C-F153-03CD-E2E5787E97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C1D0F-08DA-2489-95E6-3858421919C4}"/>
              </a:ext>
            </a:extLst>
          </p:cNvPr>
          <p:cNvSpPr>
            <a:spLocks noGrp="1"/>
          </p:cNvSpPr>
          <p:nvPr>
            <p:ph type="sldNum" sz="quarter" idx="5"/>
          </p:nvPr>
        </p:nvSpPr>
        <p:spPr/>
        <p:txBody>
          <a:bodyPr/>
          <a:lstStyle/>
          <a:p>
            <a:fld id="{B0C32C59-1409-2640-866F-4A1083575A35}" type="slidenum">
              <a:rPr lang="en-US" smtClean="0"/>
              <a:t>4</a:t>
            </a:fld>
            <a:endParaRPr lang="en-US"/>
          </a:p>
        </p:txBody>
      </p:sp>
    </p:spTree>
    <p:extLst>
      <p:ext uri="{BB962C8B-B14F-4D97-AF65-F5344CB8AC3E}">
        <p14:creationId xmlns:p14="http://schemas.microsoft.com/office/powerpoint/2010/main" val="4130225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6059-FB3C-38FE-1A3A-1854BE3AB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327E0-628F-4D48-F91E-48341ED49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830A0-6618-6334-3433-26EDA72B7F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9C27F7-ECB7-2875-8418-319FE6EA7D17}"/>
              </a:ext>
            </a:extLst>
          </p:cNvPr>
          <p:cNvSpPr>
            <a:spLocks noGrp="1"/>
          </p:cNvSpPr>
          <p:nvPr>
            <p:ph type="sldNum" sz="quarter" idx="5"/>
          </p:nvPr>
        </p:nvSpPr>
        <p:spPr/>
        <p:txBody>
          <a:bodyPr/>
          <a:lstStyle/>
          <a:p>
            <a:fld id="{B0C32C59-1409-2640-866F-4A1083575A35}" type="slidenum">
              <a:rPr lang="en-US" smtClean="0"/>
              <a:t>5</a:t>
            </a:fld>
            <a:endParaRPr lang="en-US"/>
          </a:p>
        </p:txBody>
      </p:sp>
    </p:spTree>
    <p:extLst>
      <p:ext uri="{BB962C8B-B14F-4D97-AF65-F5344CB8AC3E}">
        <p14:creationId xmlns:p14="http://schemas.microsoft.com/office/powerpoint/2010/main" val="3105751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B4A9-9E9B-8DCD-C52C-C9694A606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E0CFD-9C77-A89A-B0A5-060AD9096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B3A63-4646-64F0-EA72-8BB8877A57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F4346A-91E5-84DF-BCBA-CDE4174038BB}"/>
              </a:ext>
            </a:extLst>
          </p:cNvPr>
          <p:cNvSpPr>
            <a:spLocks noGrp="1"/>
          </p:cNvSpPr>
          <p:nvPr>
            <p:ph type="sldNum" sz="quarter" idx="5"/>
          </p:nvPr>
        </p:nvSpPr>
        <p:spPr/>
        <p:txBody>
          <a:bodyPr/>
          <a:lstStyle/>
          <a:p>
            <a:fld id="{B0C32C59-1409-2640-866F-4A1083575A35}" type="slidenum">
              <a:rPr lang="en-US" smtClean="0"/>
              <a:t>6</a:t>
            </a:fld>
            <a:endParaRPr lang="en-US"/>
          </a:p>
        </p:txBody>
      </p:sp>
    </p:spTree>
    <p:extLst>
      <p:ext uri="{BB962C8B-B14F-4D97-AF65-F5344CB8AC3E}">
        <p14:creationId xmlns:p14="http://schemas.microsoft.com/office/powerpoint/2010/main" val="70518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E4E09-9F12-FDEA-7F18-FB9C95AA6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44E7D-B5EF-0144-F205-DCD8FEA90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93D50-6435-7F1D-2566-FC5489A138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917A28-B3BF-AD3F-3AB3-2E4CBF675D28}"/>
              </a:ext>
            </a:extLst>
          </p:cNvPr>
          <p:cNvSpPr>
            <a:spLocks noGrp="1"/>
          </p:cNvSpPr>
          <p:nvPr>
            <p:ph type="sldNum" sz="quarter" idx="5"/>
          </p:nvPr>
        </p:nvSpPr>
        <p:spPr/>
        <p:txBody>
          <a:bodyPr/>
          <a:lstStyle/>
          <a:p>
            <a:fld id="{B0C32C59-1409-2640-866F-4A1083575A35}" type="slidenum">
              <a:rPr lang="en-US" smtClean="0"/>
              <a:t>7</a:t>
            </a:fld>
            <a:endParaRPr lang="en-US"/>
          </a:p>
        </p:txBody>
      </p:sp>
    </p:spTree>
    <p:extLst>
      <p:ext uri="{BB962C8B-B14F-4D97-AF65-F5344CB8AC3E}">
        <p14:creationId xmlns:p14="http://schemas.microsoft.com/office/powerpoint/2010/main" val="635915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746F-4BC4-3B1A-3FAF-EA5977F43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8BA23-1C24-AC9E-9A17-2639F44AF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D0CCC-AEF1-4663-340E-9171A0FE9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732BE9-58CF-9EFF-E8BD-8E7D515EE80B}"/>
              </a:ext>
            </a:extLst>
          </p:cNvPr>
          <p:cNvSpPr>
            <a:spLocks noGrp="1"/>
          </p:cNvSpPr>
          <p:nvPr>
            <p:ph type="sldNum" sz="quarter" idx="5"/>
          </p:nvPr>
        </p:nvSpPr>
        <p:spPr/>
        <p:txBody>
          <a:bodyPr/>
          <a:lstStyle/>
          <a:p>
            <a:fld id="{B0C32C59-1409-2640-866F-4A1083575A35}" type="slidenum">
              <a:rPr lang="en-US" smtClean="0"/>
              <a:t>8</a:t>
            </a:fld>
            <a:endParaRPr lang="en-US"/>
          </a:p>
        </p:txBody>
      </p:sp>
    </p:spTree>
    <p:extLst>
      <p:ext uri="{BB962C8B-B14F-4D97-AF65-F5344CB8AC3E}">
        <p14:creationId xmlns:p14="http://schemas.microsoft.com/office/powerpoint/2010/main" val="2672166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746F-4BC4-3B1A-3FAF-EA5977F43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8BA23-1C24-AC9E-9A17-2639F44AF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D0CCC-AEF1-4663-340E-9171A0FE9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732BE9-58CF-9EFF-E8BD-8E7D515EE80B}"/>
              </a:ext>
            </a:extLst>
          </p:cNvPr>
          <p:cNvSpPr>
            <a:spLocks noGrp="1"/>
          </p:cNvSpPr>
          <p:nvPr>
            <p:ph type="sldNum" sz="quarter" idx="5"/>
          </p:nvPr>
        </p:nvSpPr>
        <p:spPr/>
        <p:txBody>
          <a:bodyPr/>
          <a:lstStyle/>
          <a:p>
            <a:fld id="{B0C32C59-1409-2640-866F-4A1083575A35}" type="slidenum">
              <a:rPr lang="en-US" smtClean="0"/>
              <a:t>9</a:t>
            </a:fld>
            <a:endParaRPr lang="en-US"/>
          </a:p>
        </p:txBody>
      </p:sp>
    </p:spTree>
    <p:extLst>
      <p:ext uri="{BB962C8B-B14F-4D97-AF65-F5344CB8AC3E}">
        <p14:creationId xmlns:p14="http://schemas.microsoft.com/office/powerpoint/2010/main" val="2235047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627A-A1EC-2C70-4F29-F1D110AC3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30ADB-2470-B4A1-7B80-A0BCCDEF2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9ADBD-C553-A57A-A99B-4096DAABDE1B}"/>
              </a:ext>
            </a:extLst>
          </p:cNvPr>
          <p:cNvSpPr>
            <a:spLocks noGrp="1"/>
          </p:cNvSpPr>
          <p:nvPr>
            <p:ph type="body" idx="1"/>
          </p:nvPr>
        </p:nvSpPr>
        <p:spPr/>
        <p:txBody>
          <a:bodyPr/>
          <a:lstStyle/>
          <a:p>
            <a:r>
              <a:rPr lang="en-US" dirty="0"/>
              <a:t>Before an LLM can learn grammar or meaning, raw text must be chopped into discrete units the model will treat as its basic alphabet.</a:t>
            </a:r>
          </a:p>
          <a:p>
            <a:r>
              <a:rPr lang="en-US" dirty="0"/>
              <a:t>Modern systems typically use </a:t>
            </a:r>
            <a:r>
              <a:rPr lang="en-US" b="1" dirty="0" err="1"/>
              <a:t>subword</a:t>
            </a:r>
            <a:r>
              <a:rPr lang="en-US" b="1" dirty="0"/>
              <a:t> tokens</a:t>
            </a:r>
            <a:r>
              <a:rPr lang="en-US" dirty="0"/>
              <a:t>—fragments like “play,” “##</a:t>
            </a:r>
            <a:r>
              <a:rPr lang="en-US" dirty="0" err="1"/>
              <a:t>ing</a:t>
            </a:r>
            <a:r>
              <a:rPr lang="en-US" dirty="0"/>
              <a:t>,” “un,” or “bio”—rather than whole words or characters.</a:t>
            </a:r>
          </a:p>
          <a:p>
            <a:r>
              <a:rPr lang="en-US" dirty="0"/>
              <a:t>This approach keeps the vocabulary small enough for efficient computation while still capturing meaningful pieces of language.</a:t>
            </a:r>
          </a:p>
          <a:p>
            <a:r>
              <a:rPr lang="en-US" dirty="0"/>
              <a:t>Tokenization is not an afterthought—it is the first structural decision that shapes everything the model can learn.</a:t>
            </a:r>
          </a:p>
          <a:p>
            <a:endParaRPr lang="en-US" dirty="0"/>
          </a:p>
          <a:p>
            <a:r>
              <a:rPr lang="en-US" dirty="0" err="1"/>
              <a:t>Subword</a:t>
            </a:r>
            <a:r>
              <a:rPr lang="en-US" dirty="0"/>
              <a:t> tokenization works by scanning huge corpora to find frequently occurring fragments.</a:t>
            </a:r>
          </a:p>
          <a:p>
            <a:r>
              <a:rPr lang="en-US" dirty="0"/>
              <a:t>Common words become single tokens; uncommon or morphologically complex words are broken into parts.</a:t>
            </a:r>
          </a:p>
          <a:p>
            <a:r>
              <a:rPr lang="en-US" dirty="0"/>
              <a:t>This allows the system to represent any text, including rare names or scientific terms, without needing an enormous vocabulary.</a:t>
            </a:r>
          </a:p>
          <a:p>
            <a:r>
              <a:rPr lang="en-US" dirty="0"/>
              <a:t>At the same time, it introduces a representational bias: the model’s understanding of morphology and word structure comes from these token boundaries.</a:t>
            </a:r>
          </a:p>
          <a:p>
            <a:endParaRPr lang="en-US" dirty="0"/>
          </a:p>
          <a:p>
            <a:r>
              <a:rPr lang="en-US" dirty="0"/>
              <a:t>Tokenization also introduces subtle distortions and asymmetries.</a:t>
            </a:r>
          </a:p>
          <a:p>
            <a:r>
              <a:rPr lang="en-US" dirty="0"/>
              <a:t>For example, “running” might split into “run + ##</a:t>
            </a:r>
            <a:r>
              <a:rPr lang="en-US" dirty="0" err="1"/>
              <a:t>ing</a:t>
            </a:r>
            <a:r>
              <a:rPr lang="en-US" dirty="0"/>
              <a:t>,” while “singing” might split into “sing + ##</a:t>
            </a:r>
            <a:r>
              <a:rPr lang="en-US" dirty="0" err="1"/>
              <a:t>ing</a:t>
            </a:r>
            <a:r>
              <a:rPr lang="en-US" dirty="0"/>
              <a:t>,” but “having” may tokenize as “</a:t>
            </a:r>
            <a:r>
              <a:rPr lang="en-US" dirty="0" err="1"/>
              <a:t>hav</a:t>
            </a:r>
            <a:r>
              <a:rPr lang="en-US" dirty="0"/>
              <a:t> + ##</a:t>
            </a:r>
            <a:r>
              <a:rPr lang="en-US" dirty="0" err="1"/>
              <a:t>ing</a:t>
            </a:r>
            <a:r>
              <a:rPr lang="en-US" dirty="0"/>
              <a:t>,” which loses the underlying root form.</a:t>
            </a:r>
          </a:p>
          <a:p>
            <a:r>
              <a:rPr lang="en-US" dirty="0"/>
              <a:t>These small inconsistencies ripple through training, affecting how the model clusters related words, forms analogies, and composes meaning.</a:t>
            </a:r>
          </a:p>
          <a:p>
            <a:r>
              <a:rPr lang="en-US" dirty="0"/>
              <a:t>In this sense, tokenization is a partly symbolic scaffold placed under what is often described as a purely neural system.</a:t>
            </a:r>
          </a:p>
          <a:p>
            <a:endParaRPr lang="en-US" dirty="0"/>
          </a:p>
          <a:p>
            <a:r>
              <a:rPr lang="en-US" dirty="0"/>
              <a:t>Finally, tokenization reminds us that LLMs do not learn language exactly the way humans do.</a:t>
            </a:r>
          </a:p>
          <a:p>
            <a:r>
              <a:rPr lang="en-US" dirty="0"/>
              <a:t>Children do not have pre-segmented linguistic units—they discover them through multimodal input, joint attention, and interaction.</a:t>
            </a:r>
          </a:p>
          <a:p>
            <a:r>
              <a:rPr lang="en-US" dirty="0"/>
              <a:t>LLMs, by contrast, receive a fixed menu of representational chunks engineered before learning begins.</a:t>
            </a:r>
          </a:p>
          <a:p>
            <a:r>
              <a:rPr lang="en-US" dirty="0"/>
              <a:t>Recognizing this difference helps explain why LLMs excel at some kinds of generalization while failing at others.</a:t>
            </a:r>
          </a:p>
        </p:txBody>
      </p:sp>
      <p:sp>
        <p:nvSpPr>
          <p:cNvPr id="4" name="Slide Number Placeholder 3">
            <a:extLst>
              <a:ext uri="{FF2B5EF4-FFF2-40B4-BE49-F238E27FC236}">
                <a16:creationId xmlns:a16="http://schemas.microsoft.com/office/drawing/2014/main" id="{9B9D21B0-41D4-076B-EC1E-07513006CC31}"/>
              </a:ext>
            </a:extLst>
          </p:cNvPr>
          <p:cNvSpPr>
            <a:spLocks noGrp="1"/>
          </p:cNvSpPr>
          <p:nvPr>
            <p:ph type="sldNum" sz="quarter" idx="5"/>
          </p:nvPr>
        </p:nvSpPr>
        <p:spPr/>
        <p:txBody>
          <a:bodyPr/>
          <a:lstStyle/>
          <a:p>
            <a:fld id="{B0C32C59-1409-2640-866F-4A1083575A35}" type="slidenum">
              <a:rPr lang="en-US" smtClean="0"/>
              <a:t>10</a:t>
            </a:fld>
            <a:endParaRPr lang="en-US"/>
          </a:p>
        </p:txBody>
      </p:sp>
    </p:spTree>
    <p:extLst>
      <p:ext uri="{BB962C8B-B14F-4D97-AF65-F5344CB8AC3E}">
        <p14:creationId xmlns:p14="http://schemas.microsoft.com/office/powerpoint/2010/main" val="1811502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D617-C834-DE56-37D9-3F2F735E3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FE252-DC3B-6F38-EFB0-5C7FA317A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D967E-4A67-DB27-C8CA-062C898579A2}"/>
              </a:ext>
            </a:extLst>
          </p:cNvPr>
          <p:cNvSpPr>
            <a:spLocks noGrp="1"/>
          </p:cNvSpPr>
          <p:nvPr>
            <p:ph type="body" idx="1"/>
          </p:nvPr>
        </p:nvSpPr>
        <p:spPr/>
        <p:txBody>
          <a:bodyPr/>
          <a:lstStyle/>
          <a:p>
            <a:r>
              <a:rPr lang="en-US" dirty="0"/>
              <a:t>Tokenization is an engineering solution, not a linguistic discovery procedure, and it introduces systematic quirks into how LLMs represent language.</a:t>
            </a:r>
          </a:p>
          <a:p>
            <a:r>
              <a:rPr lang="en-US" dirty="0"/>
              <a:t>Because </a:t>
            </a:r>
            <a:r>
              <a:rPr lang="en-US" dirty="0" err="1"/>
              <a:t>subword</a:t>
            </a:r>
            <a:r>
              <a:rPr lang="en-US" dirty="0"/>
              <a:t> units reflect statistical frequency rather than true morphological boundaries, common words receive clean representations while rare ones are chopped into arbitrary fragments.</a:t>
            </a:r>
          </a:p>
          <a:p>
            <a:r>
              <a:rPr lang="en-US" dirty="0"/>
              <a:t>This unevenness affects how easily the model can learn relationships among words, especially for infrequent vocabulary.</a:t>
            </a:r>
          </a:p>
          <a:p>
            <a:r>
              <a:rPr lang="en-US" dirty="0"/>
              <a:t>In practice, tokenization can amplify or dampen semantic signals in ways that do not reflect human intuitions.</a:t>
            </a:r>
          </a:p>
          <a:p>
            <a:endParaRPr lang="en-US" dirty="0"/>
          </a:p>
          <a:p>
            <a:r>
              <a:rPr lang="en-US" dirty="0"/>
              <a:t>One consequence is fragmentation that splits meaningful units apart.</a:t>
            </a:r>
          </a:p>
          <a:p>
            <a:r>
              <a:rPr lang="en-US" dirty="0"/>
              <a:t>Highly regular endings like “-</a:t>
            </a:r>
            <a:r>
              <a:rPr lang="en-US" dirty="0" err="1"/>
              <a:t>ing</a:t>
            </a:r>
            <a:r>
              <a:rPr lang="en-US" dirty="0"/>
              <a:t>” or “-ed” tend to appear as separate tokens, enabling the model to learn morphological patterns.</a:t>
            </a:r>
          </a:p>
          <a:p>
            <a:r>
              <a:rPr lang="en-US" dirty="0"/>
              <a:t>But irregular or less frequent forms may be split inconsistently (“</a:t>
            </a:r>
            <a:r>
              <a:rPr lang="en-US" dirty="0" err="1"/>
              <a:t>hav</a:t>
            </a:r>
            <a:r>
              <a:rPr lang="en-US" dirty="0"/>
              <a:t> + </a:t>
            </a:r>
            <a:r>
              <a:rPr lang="en-US" dirty="0" err="1"/>
              <a:t>ing</a:t>
            </a:r>
            <a:r>
              <a:rPr lang="en-US" dirty="0"/>
              <a:t>,” “go + ##ne,” “bio + ##logy”), which disrupts similarity relations the model might otherwise infer.</a:t>
            </a:r>
          </a:p>
          <a:p>
            <a:r>
              <a:rPr lang="en-US" dirty="0"/>
              <a:t>These artifacts are byproducts of algorithmic compression, not linguistic theory.</a:t>
            </a:r>
          </a:p>
          <a:p>
            <a:endParaRPr lang="en-US" dirty="0"/>
          </a:p>
          <a:p>
            <a:r>
              <a:rPr lang="en-US" dirty="0"/>
              <a:t>Tokenization also encodes biases from the training corpus.</a:t>
            </a:r>
          </a:p>
          <a:p>
            <a:r>
              <a:rPr lang="en-US" dirty="0"/>
              <a:t>If certain dialects, technical terms, or minority languages appear rarely, they become heavily fragmented, making them harder for the model to learn well.</a:t>
            </a:r>
          </a:p>
          <a:p>
            <a:r>
              <a:rPr lang="en-US" dirty="0"/>
              <a:t>This leads to reduced fluency or accuracy in those linguistic varieties, mirroring representational inequities in the data.</a:t>
            </a:r>
          </a:p>
          <a:p>
            <a:r>
              <a:rPr lang="en-US" dirty="0"/>
              <a:t>Thus, tokenization participates in shaping the model’s strengths and weaknesses long before learning begins.</a:t>
            </a:r>
          </a:p>
          <a:p>
            <a:endParaRPr lang="en-US" dirty="0"/>
          </a:p>
          <a:p>
            <a:r>
              <a:rPr lang="en-US" dirty="0"/>
              <a:t>Finally, tokenization reveals a deeper point: LLMs are not blank-slate learners.</a:t>
            </a:r>
          </a:p>
          <a:p>
            <a:r>
              <a:rPr lang="en-US" dirty="0"/>
              <a:t>They begin with a human-designed symbolic scaffold that determines what counts as a “unit” of language.</a:t>
            </a:r>
          </a:p>
          <a:p>
            <a:r>
              <a:rPr lang="en-US" dirty="0"/>
              <a:t>This differs from human learners, who infer categories through perceptual, social, and interactive cues.</a:t>
            </a:r>
          </a:p>
          <a:p>
            <a:r>
              <a:rPr lang="en-US" dirty="0"/>
              <a:t>Recognizing the constraints introduced by tokenization prepares us to understand how LLMs build internal representations on top of these artificial units.</a:t>
            </a:r>
          </a:p>
        </p:txBody>
      </p:sp>
      <p:sp>
        <p:nvSpPr>
          <p:cNvPr id="4" name="Slide Number Placeholder 3">
            <a:extLst>
              <a:ext uri="{FF2B5EF4-FFF2-40B4-BE49-F238E27FC236}">
                <a16:creationId xmlns:a16="http://schemas.microsoft.com/office/drawing/2014/main" id="{89D3AE0E-1C47-B240-69AD-62B65C015A98}"/>
              </a:ext>
            </a:extLst>
          </p:cNvPr>
          <p:cNvSpPr>
            <a:spLocks noGrp="1"/>
          </p:cNvSpPr>
          <p:nvPr>
            <p:ph type="sldNum" sz="quarter" idx="5"/>
          </p:nvPr>
        </p:nvSpPr>
        <p:spPr/>
        <p:txBody>
          <a:bodyPr/>
          <a:lstStyle/>
          <a:p>
            <a:fld id="{B0C32C59-1409-2640-866F-4A1083575A35}" type="slidenum">
              <a:rPr lang="en-US" smtClean="0"/>
              <a:t>11</a:t>
            </a:fld>
            <a:endParaRPr lang="en-US"/>
          </a:p>
        </p:txBody>
      </p:sp>
    </p:spTree>
    <p:extLst>
      <p:ext uri="{BB962C8B-B14F-4D97-AF65-F5344CB8AC3E}">
        <p14:creationId xmlns:p14="http://schemas.microsoft.com/office/powerpoint/2010/main" val="3978978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D2DC-2966-B8EA-8ADA-8F21A9207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5B74D-7553-075E-7026-E1497055A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C0387-57C4-B8A5-CD45-AA1BCF872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503967-8EA1-E7D1-FE77-371C3EF89387}"/>
              </a:ext>
            </a:extLst>
          </p:cNvPr>
          <p:cNvSpPr>
            <a:spLocks noGrp="1"/>
          </p:cNvSpPr>
          <p:nvPr>
            <p:ph type="sldNum" sz="quarter" idx="5"/>
          </p:nvPr>
        </p:nvSpPr>
        <p:spPr/>
        <p:txBody>
          <a:bodyPr/>
          <a:lstStyle/>
          <a:p>
            <a:fld id="{B0C32C59-1409-2640-866F-4A1083575A35}" type="slidenum">
              <a:rPr lang="en-US" smtClean="0"/>
              <a:t>12</a:t>
            </a:fld>
            <a:endParaRPr lang="en-US"/>
          </a:p>
        </p:txBody>
      </p:sp>
    </p:spTree>
    <p:extLst>
      <p:ext uri="{BB962C8B-B14F-4D97-AF65-F5344CB8AC3E}">
        <p14:creationId xmlns:p14="http://schemas.microsoft.com/office/powerpoint/2010/main" val="1025234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A13F-121E-CFA1-1A34-1485DD859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F7E3-3C42-818E-28F5-62464FBFF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92FD8-2200-789F-6D8D-A072DBF99C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3C2E59-DFCE-742A-3C54-67C5C9C6498F}"/>
              </a:ext>
            </a:extLst>
          </p:cNvPr>
          <p:cNvSpPr>
            <a:spLocks noGrp="1"/>
          </p:cNvSpPr>
          <p:nvPr>
            <p:ph type="sldNum" sz="quarter" idx="5"/>
          </p:nvPr>
        </p:nvSpPr>
        <p:spPr/>
        <p:txBody>
          <a:bodyPr/>
          <a:lstStyle/>
          <a:p>
            <a:fld id="{B0C32C59-1409-2640-866F-4A1083575A35}" type="slidenum">
              <a:rPr lang="en-US" smtClean="0"/>
              <a:t>13</a:t>
            </a:fld>
            <a:endParaRPr lang="en-US"/>
          </a:p>
        </p:txBody>
      </p:sp>
    </p:spTree>
    <p:extLst>
      <p:ext uri="{BB962C8B-B14F-4D97-AF65-F5344CB8AC3E}">
        <p14:creationId xmlns:p14="http://schemas.microsoft.com/office/powerpoint/2010/main" val="35117700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809-F69F-0D48-97F8-9CF76A5308DF}"/>
              </a:ext>
            </a:extLst>
          </p:cNvPr>
          <p:cNvSpPr>
            <a:spLocks noGrp="1"/>
          </p:cNvSpPr>
          <p:nvPr>
            <p:ph type="ctrTitle" hasCustomPrompt="1"/>
          </p:nvPr>
        </p:nvSpPr>
        <p:spPr>
          <a:xfrm>
            <a:off x="471340" y="1122363"/>
            <a:ext cx="5785769" cy="2387600"/>
          </a:xfrm>
        </p:spPr>
        <p:txBody>
          <a:bodyPr anchor="b">
            <a:normAutofit/>
          </a:bodyPr>
          <a:lstStyle>
            <a:lvl1pPr algn="l">
              <a:defRPr sz="4000">
                <a:solidFill>
                  <a:schemeClr val="bg1"/>
                </a:solidFill>
              </a:defRPr>
            </a:lvl1pPr>
          </a:lstStyle>
          <a:p>
            <a:r>
              <a:rPr lang="en-US" sz="4000" b="1" dirty="0">
                <a:solidFill>
                  <a:schemeClr val="bg1"/>
                </a:solidFill>
                <a:latin typeface="Georgia" charset="0"/>
                <a:ea typeface="Georgia" charset="0"/>
                <a:cs typeface="Georgia" charset="0"/>
              </a:rPr>
              <a:t>Title Here:</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Tell Your</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Illinois Story</a:t>
            </a:r>
            <a:endParaRPr lang="en-US" dirty="0"/>
          </a:p>
        </p:txBody>
      </p:sp>
      <p:sp>
        <p:nvSpPr>
          <p:cNvPr id="3" name="Subtitle 2">
            <a:extLst>
              <a:ext uri="{FF2B5EF4-FFF2-40B4-BE49-F238E27FC236}">
                <a16:creationId xmlns:a16="http://schemas.microsoft.com/office/drawing/2014/main" id="{C5FA99F5-1DAB-644E-87BD-7B2BE337DBBB}"/>
              </a:ext>
            </a:extLst>
          </p:cNvPr>
          <p:cNvSpPr>
            <a:spLocks noGrp="1"/>
          </p:cNvSpPr>
          <p:nvPr>
            <p:ph type="subTitle" idx="1" hasCustomPrompt="1"/>
          </p:nvPr>
        </p:nvSpPr>
        <p:spPr>
          <a:xfrm>
            <a:off x="471340" y="3602038"/>
            <a:ext cx="5785769" cy="1655762"/>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a:t>
            </a:r>
          </a:p>
        </p:txBody>
      </p:sp>
      <p:sp>
        <p:nvSpPr>
          <p:cNvPr id="6" name="Slide Number Placeholder 5">
            <a:extLst>
              <a:ext uri="{FF2B5EF4-FFF2-40B4-BE49-F238E27FC236}">
                <a16:creationId xmlns:a16="http://schemas.microsoft.com/office/drawing/2014/main" id="{1D5E86B4-4E28-5743-B958-4D04BD329DC7}"/>
              </a:ext>
            </a:extLst>
          </p:cNvPr>
          <p:cNvSpPr>
            <a:spLocks noGrp="1"/>
          </p:cNvSpPr>
          <p:nvPr>
            <p:ph type="sldNum" sz="quarter" idx="12"/>
          </p:nvPr>
        </p:nvSpPr>
        <p:spPr/>
        <p:txBody>
          <a:bodyPr/>
          <a:lstStyle/>
          <a:p>
            <a:fld id="{47306C45-97B4-7545-8562-07255BCE2FE0}" type="slidenum">
              <a:rPr lang="en-US" smtClean="0"/>
              <a:t>‹#›</a:t>
            </a:fld>
            <a:endParaRPr lang="en-US"/>
          </a:p>
        </p:txBody>
      </p:sp>
      <p:pic>
        <p:nvPicPr>
          <p:cNvPr id="5" name="Picture 4">
            <a:extLst>
              <a:ext uri="{FF2B5EF4-FFF2-40B4-BE49-F238E27FC236}">
                <a16:creationId xmlns:a16="http://schemas.microsoft.com/office/drawing/2014/main" id="{96A9BA8F-BF67-344F-9BFA-A8262A79BC82}"/>
              </a:ext>
            </a:extLst>
          </p:cNvPr>
          <p:cNvPicPr>
            <a:picLocks noChangeAspect="1"/>
          </p:cNvPicPr>
          <p:nvPr userDrawn="1"/>
        </p:nvPicPr>
        <p:blipFill>
          <a:blip r:embed="rId3"/>
          <a:stretch>
            <a:fillRect/>
          </a:stretch>
        </p:blipFill>
        <p:spPr>
          <a:xfrm>
            <a:off x="4537075" y="5718264"/>
            <a:ext cx="3117850" cy="807948"/>
          </a:xfrm>
          <a:prstGeom prst="rect">
            <a:avLst/>
          </a:prstGeom>
        </p:spPr>
      </p:pic>
    </p:spTree>
    <p:extLst>
      <p:ext uri="{BB962C8B-B14F-4D97-AF65-F5344CB8AC3E}">
        <p14:creationId xmlns:p14="http://schemas.microsoft.com/office/powerpoint/2010/main" val="67832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5B210D-E74D-9F46-BBEB-61CE8DBFBD6C}"/>
              </a:ext>
            </a:extLst>
          </p:cNvPr>
          <p:cNvSpPr>
            <a:spLocks noGrp="1"/>
          </p:cNvSpPr>
          <p:nvPr>
            <p:ph type="sldNum" sz="quarter" idx="12"/>
          </p:nvPr>
        </p:nvSpPr>
        <p:spPr>
          <a:xfrm>
            <a:off x="9117874" y="6095093"/>
            <a:ext cx="2743200" cy="365125"/>
          </a:xfrm>
        </p:spPr>
        <p:txBody>
          <a:bodyPr/>
          <a:lstStyle/>
          <a:p>
            <a:fld id="{47306C45-97B4-7545-8562-07255BCE2FE0}" type="slidenum">
              <a:rPr lang="en-US" smtClean="0"/>
              <a:t>‹#›</a:t>
            </a:fld>
            <a:endParaRPr lang="en-US"/>
          </a:p>
        </p:txBody>
      </p:sp>
    </p:spTree>
    <p:extLst>
      <p:ext uri="{BB962C8B-B14F-4D97-AF65-F5344CB8AC3E}">
        <p14:creationId xmlns:p14="http://schemas.microsoft.com/office/powerpoint/2010/main" val="14872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261-61FB-7142-9417-2F78D3797632}"/>
              </a:ext>
            </a:extLst>
          </p:cNvPr>
          <p:cNvSpPr>
            <a:spLocks noGrp="1"/>
          </p:cNvSpPr>
          <p:nvPr>
            <p:ph type="title" hasCustomPrompt="1"/>
          </p:nvPr>
        </p:nvSpPr>
        <p:spPr>
          <a:xfrm>
            <a:off x="378823" y="365125"/>
            <a:ext cx="9614263" cy="1325563"/>
          </a:xfrm>
        </p:spPr>
        <p:txBody>
          <a:bodyPr/>
          <a:lstStyle>
            <a:lvl1pPr algn="ctr">
              <a:defRPr b="1" i="0">
                <a:solidFill>
                  <a:srgbClr val="E84A27"/>
                </a:solidFill>
                <a:latin typeface="Georgia" panose="02040502050405020303" pitchFamily="18" charset="0"/>
              </a:defRPr>
            </a:lvl1pPr>
          </a:lstStyle>
          <a:p>
            <a:r>
              <a:rPr lang="en-US" dirty="0"/>
              <a:t>Hello.</a:t>
            </a:r>
          </a:p>
        </p:txBody>
      </p:sp>
      <p:sp>
        <p:nvSpPr>
          <p:cNvPr id="3" name="Content Placeholder 2">
            <a:extLst>
              <a:ext uri="{FF2B5EF4-FFF2-40B4-BE49-F238E27FC236}">
                <a16:creationId xmlns:a16="http://schemas.microsoft.com/office/drawing/2014/main" id="{AB412F32-5110-BE43-86BA-CB778EC424F5}"/>
              </a:ext>
            </a:extLst>
          </p:cNvPr>
          <p:cNvSpPr>
            <a:spLocks noGrp="1"/>
          </p:cNvSpPr>
          <p:nvPr>
            <p:ph idx="1"/>
          </p:nvPr>
        </p:nvSpPr>
        <p:spPr>
          <a:xfrm>
            <a:off x="378823" y="1690688"/>
            <a:ext cx="9614263" cy="3625895"/>
          </a:xfrm>
        </p:spPr>
        <p:txBody>
          <a:bodyPr/>
          <a:lstStyle>
            <a:lvl1pPr>
              <a:defRPr>
                <a:solidFill>
                  <a:srgbClr val="13294B"/>
                </a:solidFill>
              </a:defRPr>
            </a:lvl1pPr>
            <a:lvl2pPr>
              <a:defRPr>
                <a:solidFill>
                  <a:srgbClr val="13294B"/>
                </a:solidFill>
              </a:defRPr>
            </a:lvl2pPr>
            <a:lvl3pPr>
              <a:defRPr>
                <a:solidFill>
                  <a:srgbClr val="13294B"/>
                </a:solidFill>
              </a:defRPr>
            </a:lvl3pPr>
            <a:lvl4pPr>
              <a:defRPr>
                <a:solidFill>
                  <a:srgbClr val="13294B"/>
                </a:solidFill>
              </a:defRPr>
            </a:lvl4pPr>
            <a:lvl5pPr>
              <a:defRPr>
                <a:solidFill>
                  <a:srgbClr val="13294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69632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6ADA6-32C7-6D47-94AB-D149FA9C1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FDBC8-5F1C-654A-9325-61F424413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771FB5C-A5C2-4C44-A9DF-4F6A196EC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06C45-97B4-7545-8562-07255BCE2FE0}" type="slidenum">
              <a:rPr lang="en-US" smtClean="0"/>
              <a:t>‹#›</a:t>
            </a:fld>
            <a:endParaRPr lang="en-US"/>
          </a:p>
        </p:txBody>
      </p:sp>
    </p:spTree>
    <p:extLst>
      <p:ext uri="{BB962C8B-B14F-4D97-AF65-F5344CB8AC3E}">
        <p14:creationId xmlns:p14="http://schemas.microsoft.com/office/powerpoint/2010/main" val="100808044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52E"/>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3CDB9E-798C-A842-B031-6BFA04385C39}"/>
              </a:ext>
            </a:extLst>
          </p:cNvPr>
          <p:cNvSpPr>
            <a:spLocks noGrp="1"/>
          </p:cNvSpPr>
          <p:nvPr>
            <p:ph type="ctrTitle"/>
          </p:nvPr>
        </p:nvSpPr>
        <p:spPr>
          <a:xfrm>
            <a:off x="3699571" y="773546"/>
            <a:ext cx="5935859" cy="2720253"/>
          </a:xfrm>
        </p:spPr>
        <p:txBody>
          <a:bodyPr>
            <a:normAutofit fontScale="90000"/>
          </a:bodyPr>
          <a:lstStyle/>
          <a:p>
            <a:pPr algn="ctr"/>
            <a:r>
              <a:rPr lang="en-US" sz="10000" dirty="0">
                <a:latin typeface="Calibri"/>
                <a:cs typeface="Calibri"/>
              </a:rPr>
              <a:t>PSYC 496</a:t>
            </a:r>
            <a:endParaRPr lang="en-US" sz="10000" dirty="0">
              <a:latin typeface="Calibri" panose="020F0502020204030204" pitchFamily="34" charset="0"/>
              <a:cs typeface="Calibri" panose="020F0502020204030204" pitchFamily="34" charset="0"/>
            </a:endParaRPr>
          </a:p>
        </p:txBody>
      </p:sp>
      <p:sp>
        <p:nvSpPr>
          <p:cNvPr id="7" name="Subtitle 6">
            <a:extLst>
              <a:ext uri="{FF2B5EF4-FFF2-40B4-BE49-F238E27FC236}">
                <a16:creationId xmlns:a16="http://schemas.microsoft.com/office/drawing/2014/main" id="{C2F9A5BC-DE40-064D-98AE-B1AA2F274302}"/>
              </a:ext>
            </a:extLst>
          </p:cNvPr>
          <p:cNvSpPr>
            <a:spLocks noGrp="1"/>
          </p:cNvSpPr>
          <p:nvPr>
            <p:ph type="subTitle" idx="4294967295"/>
          </p:nvPr>
        </p:nvSpPr>
        <p:spPr>
          <a:xfrm>
            <a:off x="3017406" y="3472201"/>
            <a:ext cx="8283862" cy="1655762"/>
          </a:xfrm>
        </p:spPr>
        <p:txBody>
          <a:bodyPr vert="horz" lIns="91440" tIns="45720" rIns="91440" bIns="45720" rtlCol="0" anchor="t">
            <a:normAutofit/>
          </a:bodyPr>
          <a:lstStyle/>
          <a:p>
            <a:pPr marL="0" indent="0" algn="ctr">
              <a:buNone/>
            </a:pPr>
            <a:r>
              <a:rPr lang="en-US" dirty="0">
                <a:latin typeface="Calibri"/>
                <a:cs typeface="Calibri"/>
              </a:rPr>
              <a:t>Lecture 2: Language Models</a:t>
            </a:r>
          </a:p>
        </p:txBody>
      </p:sp>
      <p:sp>
        <p:nvSpPr>
          <p:cNvPr id="2" name="Oval 1">
            <a:extLst>
              <a:ext uri="{FF2B5EF4-FFF2-40B4-BE49-F238E27FC236}">
                <a16:creationId xmlns:a16="http://schemas.microsoft.com/office/drawing/2014/main" id="{C87BCB3F-D51B-11CA-8A5C-B653C02DD655}"/>
              </a:ext>
            </a:extLst>
          </p:cNvPr>
          <p:cNvSpPr/>
          <p:nvPr/>
        </p:nvSpPr>
        <p:spPr>
          <a:xfrm>
            <a:off x="443346" y="126307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96C562F-8F13-2516-D9AF-45E75A96A3C5}"/>
              </a:ext>
            </a:extLst>
          </p:cNvPr>
          <p:cNvSpPr/>
          <p:nvPr/>
        </p:nvSpPr>
        <p:spPr>
          <a:xfrm>
            <a:off x="1505528" y="3248890"/>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2052EBC-2E12-F996-BB1F-41F23E64F1BE}"/>
              </a:ext>
            </a:extLst>
          </p:cNvPr>
          <p:cNvSpPr/>
          <p:nvPr/>
        </p:nvSpPr>
        <p:spPr>
          <a:xfrm>
            <a:off x="443345" y="331816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A4D7291-4D5A-9593-1D85-950EBFC1FF07}"/>
              </a:ext>
            </a:extLst>
          </p:cNvPr>
          <p:cNvSpPr/>
          <p:nvPr/>
        </p:nvSpPr>
        <p:spPr>
          <a:xfrm>
            <a:off x="443346"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E91675-03DF-90EE-942D-06C70F754DEE}"/>
              </a:ext>
            </a:extLst>
          </p:cNvPr>
          <p:cNvCxnSpPr/>
          <p:nvPr/>
        </p:nvCxnSpPr>
        <p:spPr>
          <a:xfrm>
            <a:off x="867642" y="2172278"/>
            <a:ext cx="1052944" cy="111067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2D74029-D6FE-2938-F6DF-602FCD9AA658}"/>
              </a:ext>
            </a:extLst>
          </p:cNvPr>
          <p:cNvCxnSpPr>
            <a:cxnSpLocks/>
          </p:cNvCxnSpPr>
          <p:nvPr/>
        </p:nvCxnSpPr>
        <p:spPr>
          <a:xfrm>
            <a:off x="879187" y="2172278"/>
            <a:ext cx="25400" cy="117994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7831A33E-2612-45D1-F1F0-57371C01F8AB}"/>
              </a:ext>
            </a:extLst>
          </p:cNvPr>
          <p:cNvSpPr/>
          <p:nvPr/>
        </p:nvSpPr>
        <p:spPr>
          <a:xfrm>
            <a:off x="1505528"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65D7F4-2920-5911-7086-757F822A07E3}"/>
              </a:ext>
            </a:extLst>
          </p:cNvPr>
          <p:cNvSpPr/>
          <p:nvPr/>
        </p:nvSpPr>
        <p:spPr>
          <a:xfrm>
            <a:off x="2694709" y="524625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E6F4CE-E239-70EB-26D3-C8CB8E270185}"/>
              </a:ext>
            </a:extLst>
          </p:cNvPr>
          <p:cNvCxnSpPr>
            <a:cxnSpLocks/>
          </p:cNvCxnSpPr>
          <p:nvPr/>
        </p:nvCxnSpPr>
        <p:spPr>
          <a:xfrm>
            <a:off x="1941369" y="4169641"/>
            <a:ext cx="1168399" cy="108758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E0727C65-F6C0-78C9-A469-40AAD8018B82}"/>
              </a:ext>
            </a:extLst>
          </p:cNvPr>
          <p:cNvCxnSpPr>
            <a:cxnSpLocks/>
          </p:cNvCxnSpPr>
          <p:nvPr/>
        </p:nvCxnSpPr>
        <p:spPr>
          <a:xfrm flipH="1">
            <a:off x="1955223" y="4158096"/>
            <a:ext cx="9238" cy="1087581"/>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4A7C2072-1E04-8B83-DAA8-B48C97536A6F}"/>
              </a:ext>
            </a:extLst>
          </p:cNvPr>
          <p:cNvCxnSpPr>
            <a:cxnSpLocks/>
          </p:cNvCxnSpPr>
          <p:nvPr/>
        </p:nvCxnSpPr>
        <p:spPr>
          <a:xfrm>
            <a:off x="890732" y="4227368"/>
            <a:ext cx="13855" cy="101831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2583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FA507-9BE1-E798-3269-41AB355081F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BBAD7BA7-13A9-FA82-2A27-65762FD170E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What Are Language Models?</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E4FC8A3-506C-0AD3-AE99-6D9024A8323E}"/>
              </a:ext>
            </a:extLst>
          </p:cNvPr>
          <p:cNvSpPr txBox="1"/>
          <p:nvPr/>
        </p:nvSpPr>
        <p:spPr>
          <a:xfrm>
            <a:off x="450167" y="1797784"/>
            <a:ext cx="4881489" cy="1631216"/>
          </a:xfrm>
          <a:prstGeom prst="rect">
            <a:avLst/>
          </a:prstGeom>
          <a:noFill/>
        </p:spPr>
        <p:txBody>
          <a:bodyPr wrap="square" rtlCol="0">
            <a:spAutoFit/>
          </a:bodyPr>
          <a:lstStyle/>
          <a:p>
            <a:r>
              <a:rPr lang="en-US" sz="2800" b="1" dirty="0"/>
              <a:t>Three Questions</a:t>
            </a:r>
          </a:p>
          <a:p>
            <a:pPr marL="514350" indent="-514350">
              <a:buFont typeface="+mj-lt"/>
              <a:buAutoNum type="arabicPeriod"/>
            </a:pPr>
            <a:r>
              <a:rPr lang="en-US" sz="2400" dirty="0"/>
              <a:t>What is a language model?</a:t>
            </a:r>
          </a:p>
          <a:p>
            <a:pPr marL="514350" indent="-514350">
              <a:buFont typeface="+mj-lt"/>
              <a:buAutoNum type="arabicPeriod"/>
            </a:pPr>
            <a:r>
              <a:rPr lang="en-US" sz="2400" dirty="0"/>
              <a:t>What are they good and bad at?</a:t>
            </a:r>
          </a:p>
          <a:p>
            <a:pPr marL="514350" indent="-514350">
              <a:buFont typeface="+mj-lt"/>
              <a:buAutoNum type="arabicPeriod"/>
            </a:pPr>
            <a:r>
              <a:rPr lang="en-US" sz="2400" dirty="0"/>
              <a:t>How do we judge?</a:t>
            </a:r>
          </a:p>
        </p:txBody>
      </p:sp>
      <p:sp>
        <p:nvSpPr>
          <p:cNvPr id="5" name="TextBox 4">
            <a:extLst>
              <a:ext uri="{FF2B5EF4-FFF2-40B4-BE49-F238E27FC236}">
                <a16:creationId xmlns:a16="http://schemas.microsoft.com/office/drawing/2014/main" id="{F51A1225-E39D-9717-ECB7-776BDA17F34B}"/>
              </a:ext>
            </a:extLst>
          </p:cNvPr>
          <p:cNvSpPr txBox="1"/>
          <p:nvPr/>
        </p:nvSpPr>
        <p:spPr>
          <a:xfrm>
            <a:off x="5627076" y="1254375"/>
            <a:ext cx="6311705" cy="3108543"/>
          </a:xfrm>
          <a:prstGeom prst="rect">
            <a:avLst/>
          </a:prstGeom>
          <a:noFill/>
        </p:spPr>
        <p:txBody>
          <a:bodyPr wrap="square">
            <a:spAutoFit/>
          </a:bodyPr>
          <a:lstStyle/>
          <a:p>
            <a:r>
              <a:rPr lang="en-US" sz="2800" b="1" dirty="0"/>
              <a:t>Three frames we’ll toggle between:</a:t>
            </a:r>
          </a:p>
          <a:p>
            <a:pPr marL="514350" indent="-514350">
              <a:buFont typeface="+mj-lt"/>
              <a:buAutoNum type="arabicPeriod"/>
            </a:pPr>
            <a:r>
              <a:rPr lang="en-US" sz="2400" dirty="0"/>
              <a:t>Engineering/tool: does it predict &amp; generate text effectively/safely?</a:t>
            </a:r>
          </a:p>
          <a:p>
            <a:pPr marL="514350" indent="-514350">
              <a:buFont typeface="+mj-lt"/>
              <a:buAutoNum type="arabicPeriod"/>
            </a:pPr>
            <a:r>
              <a:rPr lang="en-US" sz="2400" dirty="0"/>
              <a:t>Cognitive science/Psychology: does it explain/predict human behavior or representations?</a:t>
            </a:r>
          </a:p>
          <a:p>
            <a:pPr marL="514350" indent="-514350">
              <a:buFont typeface="+mj-lt"/>
              <a:buAutoNum type="arabicPeriod"/>
            </a:pPr>
            <a:r>
              <a:rPr lang="en-US" sz="2400" dirty="0"/>
              <a:t>Linguistics: does it elucidate rules/structure the way linguists often want? </a:t>
            </a:r>
          </a:p>
        </p:txBody>
      </p:sp>
      <p:sp>
        <p:nvSpPr>
          <p:cNvPr id="7" name="TextBox 6">
            <a:extLst>
              <a:ext uri="{FF2B5EF4-FFF2-40B4-BE49-F238E27FC236}">
                <a16:creationId xmlns:a16="http://schemas.microsoft.com/office/drawing/2014/main" id="{79A5C9E2-C8BB-856B-4D22-48F36CBF4039}"/>
              </a:ext>
            </a:extLst>
          </p:cNvPr>
          <p:cNvSpPr txBox="1"/>
          <p:nvPr/>
        </p:nvSpPr>
        <p:spPr>
          <a:xfrm>
            <a:off x="253219" y="4902983"/>
            <a:ext cx="11648049" cy="954107"/>
          </a:xfrm>
          <a:prstGeom prst="rect">
            <a:avLst/>
          </a:prstGeom>
          <a:noFill/>
        </p:spPr>
        <p:txBody>
          <a:bodyPr wrap="square">
            <a:spAutoFit/>
          </a:bodyPr>
          <a:lstStyle/>
          <a:p>
            <a:r>
              <a:rPr lang="en-US" sz="2800" dirty="0"/>
              <a:t>Success criteria aren’t interchangeable. “Outstanding” by one standard can be “uninformative” or ”unhelpful” by another.  ￼</a:t>
            </a:r>
          </a:p>
        </p:txBody>
      </p:sp>
    </p:spTree>
    <p:extLst>
      <p:ext uri="{BB962C8B-B14F-4D97-AF65-F5344CB8AC3E}">
        <p14:creationId xmlns:p14="http://schemas.microsoft.com/office/powerpoint/2010/main" val="1623406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9816-B74A-AB00-7ABC-3DDB2507C7CE}"/>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7F8EF377-26DA-1AD5-CF1B-9F4D75B0E5D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Big picture: LLMs Sit at an Intersection</a:t>
            </a:r>
            <a:endParaRPr lang="en-US" dirty="0"/>
          </a:p>
        </p:txBody>
      </p:sp>
      <p:graphicFrame>
        <p:nvGraphicFramePr>
          <p:cNvPr id="3" name="Diagram 2">
            <a:extLst>
              <a:ext uri="{FF2B5EF4-FFF2-40B4-BE49-F238E27FC236}">
                <a16:creationId xmlns:a16="http://schemas.microsoft.com/office/drawing/2014/main" id="{0B33D016-D6B4-B436-1093-6ABBAE876D5F}"/>
              </a:ext>
            </a:extLst>
          </p:cNvPr>
          <p:cNvGraphicFramePr/>
          <p:nvPr>
            <p:extLst>
              <p:ext uri="{D42A27DB-BD31-4B8C-83A1-F6EECF244321}">
                <p14:modId xmlns:p14="http://schemas.microsoft.com/office/powerpoint/2010/main" val="1687725175"/>
              </p:ext>
            </p:extLst>
          </p:nvPr>
        </p:nvGraphicFramePr>
        <p:xfrm>
          <a:off x="2096085" y="735162"/>
          <a:ext cx="8370277" cy="5116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8306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6EF9A-221E-F543-9CED-A486993FD9F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440E41D-51B8-EDB7-C25B-E5EFD0FD171C}"/>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Big picture: LLMs Sit at an Intersection</a:t>
            </a:r>
            <a:endParaRPr lang="en-US" dirty="0"/>
          </a:p>
        </p:txBody>
      </p:sp>
      <p:graphicFrame>
        <p:nvGraphicFramePr>
          <p:cNvPr id="3" name="Diagram 2">
            <a:extLst>
              <a:ext uri="{FF2B5EF4-FFF2-40B4-BE49-F238E27FC236}">
                <a16:creationId xmlns:a16="http://schemas.microsoft.com/office/drawing/2014/main" id="{38508762-0C19-D294-CE26-0EE03181E4D9}"/>
              </a:ext>
            </a:extLst>
          </p:cNvPr>
          <p:cNvGraphicFramePr/>
          <p:nvPr>
            <p:extLst>
              <p:ext uri="{D42A27DB-BD31-4B8C-83A1-F6EECF244321}">
                <p14:modId xmlns:p14="http://schemas.microsoft.com/office/powerpoint/2010/main" val="4290071171"/>
              </p:ext>
            </p:extLst>
          </p:nvPr>
        </p:nvGraphicFramePr>
        <p:xfrm>
          <a:off x="2096085" y="735162"/>
          <a:ext cx="8370277" cy="5116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83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9505-B034-C750-5CD7-8EAB41B22F66}"/>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89447B6-CECE-BA8D-78A7-70B44CCD362E}"/>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Example: Prediction is Useful, and Risky</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7D03F8B-F1B5-9F7C-A5F3-E4E3911CA740}"/>
              </a:ext>
            </a:extLst>
          </p:cNvPr>
          <p:cNvSpPr txBox="1"/>
          <p:nvPr/>
        </p:nvSpPr>
        <p:spPr>
          <a:xfrm>
            <a:off x="1425526" y="1632574"/>
            <a:ext cx="9340948" cy="3108543"/>
          </a:xfrm>
          <a:prstGeom prst="rect">
            <a:avLst/>
          </a:prstGeom>
          <a:noFill/>
        </p:spPr>
        <p:txBody>
          <a:bodyPr wrap="square" rtlCol="0">
            <a:spAutoFit/>
          </a:bodyPr>
          <a:lstStyle/>
          <a:p>
            <a:r>
              <a:rPr lang="en-US" sz="2800" b="1" dirty="0"/>
              <a:t>Consider the fragments:</a:t>
            </a:r>
          </a:p>
          <a:p>
            <a:pPr marL="457200" indent="-457200">
              <a:buFont typeface="Arial" panose="020B0604020202020204" pitchFamily="34" charset="0"/>
              <a:buChar char="•"/>
            </a:pPr>
            <a:r>
              <a:rPr lang="en-US" sz="2800" dirty="0"/>
              <a:t>The farmer milked the...</a:t>
            </a:r>
          </a:p>
          <a:p>
            <a:pPr marL="457200" indent="-457200">
              <a:buFont typeface="Arial" panose="020B0604020202020204" pitchFamily="34" charset="0"/>
              <a:buChar char="•"/>
            </a:pPr>
            <a:r>
              <a:rPr lang="en-US" sz="2800" dirty="0"/>
              <a:t>The CEO said she would...</a:t>
            </a:r>
          </a:p>
          <a:p>
            <a:pPr marL="457200" indent="-457200">
              <a:buFont typeface="Arial" panose="020B0604020202020204" pitchFamily="34" charset="0"/>
              <a:buChar char="•"/>
            </a:pPr>
            <a:r>
              <a:rPr lang="en-US" sz="2800" dirty="0"/>
              <a:t>Every time the rooster crowed, the sun...</a:t>
            </a:r>
          </a:p>
          <a:p>
            <a:pPr marL="457200" indent="-457200">
              <a:buFont typeface="Arial" panose="020B0604020202020204" pitchFamily="34" charset="0"/>
              <a:buChar char="•"/>
            </a:pPr>
            <a:r>
              <a:rPr lang="en-US" sz="2800" dirty="0"/>
              <a:t>She put the watermelon into her...</a:t>
            </a:r>
          </a:p>
          <a:p>
            <a:pPr marL="457200" indent="-457200">
              <a:buFont typeface="Arial" panose="020B0604020202020204" pitchFamily="34" charset="0"/>
              <a:buChar char="•"/>
            </a:pPr>
            <a:r>
              <a:rPr lang="en-US" sz="2800" dirty="0"/>
              <a:t>He used a candle to see better in the bright...</a:t>
            </a:r>
          </a:p>
          <a:p>
            <a:pPr marL="457200" indent="-457200">
              <a:buFont typeface="Arial" panose="020B0604020202020204" pitchFamily="34" charset="0"/>
              <a:buChar char="•"/>
            </a:pPr>
            <a:r>
              <a:rPr lang="en-US" sz="2800" dirty="0"/>
              <a:t>Some of the students passed the exam. In fact, all of them…</a:t>
            </a:r>
          </a:p>
        </p:txBody>
      </p:sp>
    </p:spTree>
    <p:extLst>
      <p:ext uri="{BB962C8B-B14F-4D97-AF65-F5344CB8AC3E}">
        <p14:creationId xmlns:p14="http://schemas.microsoft.com/office/powerpoint/2010/main" val="300501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D8E9-29F5-9B9E-E9C0-62E37B66F45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9BA60B9-521E-C755-EF70-3EB5A8F5C3F5}"/>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Example: Prediction is Useful, and Risky</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C9F2170A-3281-FDDE-DCCD-EAE688B6A1D2}"/>
              </a:ext>
            </a:extLst>
          </p:cNvPr>
          <p:cNvSpPr txBox="1"/>
          <p:nvPr/>
        </p:nvSpPr>
        <p:spPr>
          <a:xfrm>
            <a:off x="0" y="746309"/>
            <a:ext cx="12191999" cy="4770537"/>
          </a:xfrm>
          <a:prstGeom prst="rect">
            <a:avLst/>
          </a:prstGeom>
          <a:noFill/>
        </p:spPr>
        <p:txBody>
          <a:bodyPr wrap="square" rtlCol="0">
            <a:spAutoFit/>
          </a:bodyPr>
          <a:lstStyle/>
          <a:p>
            <a:r>
              <a:rPr lang="en-US" sz="2800" dirty="0"/>
              <a:t>Humans often have one set of expectations that may differ strongly from what a language model expects.</a:t>
            </a:r>
          </a:p>
          <a:p>
            <a:endParaRPr lang="en-US" sz="1200" dirty="0"/>
          </a:p>
          <a:p>
            <a:r>
              <a:rPr lang="en-US" sz="2800" dirty="0"/>
              <a:t>LMs let us talk about linguistic knowledge operationally (do model probabilities track human judgments?).  ￼</a:t>
            </a:r>
          </a:p>
          <a:p>
            <a:endParaRPr lang="en-US" sz="1200" dirty="0"/>
          </a:p>
          <a:p>
            <a:r>
              <a:rPr lang="en-US" sz="2800" dirty="0"/>
              <a:t>Skeptical worry: prediction can be “right for the wrong reasons” (frequency/correlation vs richer understanding).  ￼</a:t>
            </a:r>
          </a:p>
          <a:p>
            <a:endParaRPr lang="en-US" sz="1200" dirty="0"/>
          </a:p>
          <a:p>
            <a:r>
              <a:rPr lang="en-US" sz="2800" dirty="0"/>
              <a:t>Three course-long questions to keep active:</a:t>
            </a:r>
          </a:p>
          <a:p>
            <a:pPr marL="457200" indent="-457200">
              <a:buFont typeface="Arial" panose="020B0604020202020204" pitchFamily="34" charset="0"/>
              <a:buChar char="•"/>
            </a:pPr>
            <a:r>
              <a:rPr lang="en-US" sz="2400" dirty="0"/>
              <a:t>What is a “language model,” exactly (across fields)?  ￼</a:t>
            </a:r>
          </a:p>
          <a:p>
            <a:pPr marL="457200" indent="-457200">
              <a:buFont typeface="Arial" panose="020B0604020202020204" pitchFamily="34" charset="0"/>
              <a:buChar char="•"/>
            </a:pPr>
            <a:r>
              <a:rPr lang="en-US" sz="2400" dirty="0"/>
              <a:t>What does a language distribution tell us about meaning—and where does it break?  ￼</a:t>
            </a:r>
          </a:p>
          <a:p>
            <a:pPr marL="457200" indent="-457200">
              <a:buFont typeface="Arial" panose="020B0604020202020204" pitchFamily="34" charset="0"/>
              <a:buChar char="•"/>
            </a:pPr>
            <a:r>
              <a:rPr lang="en-US" sz="2400" dirty="0"/>
              <a:t>Why did neural networks matter here?  ￼</a:t>
            </a:r>
          </a:p>
        </p:txBody>
      </p:sp>
    </p:spTree>
    <p:extLst>
      <p:ext uri="{BB962C8B-B14F-4D97-AF65-F5344CB8AC3E}">
        <p14:creationId xmlns:p14="http://schemas.microsoft.com/office/powerpoint/2010/main" val="1108557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A36C-F03A-2640-963C-4464365FA54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13AFC9C-7BC2-176A-C22F-56DE676C311D}"/>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Defining Language Models</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EA1F23D-BD93-32FF-B971-2F511BC8E0BE}"/>
              </a:ext>
            </a:extLst>
          </p:cNvPr>
          <p:cNvSpPr txBox="1"/>
          <p:nvPr/>
        </p:nvSpPr>
        <p:spPr>
          <a:xfrm>
            <a:off x="441875" y="1323055"/>
            <a:ext cx="10598500" cy="3539430"/>
          </a:xfrm>
          <a:prstGeom prst="rect">
            <a:avLst/>
          </a:prstGeom>
          <a:noFill/>
        </p:spPr>
        <p:txBody>
          <a:bodyPr wrap="square" rtlCol="0">
            <a:spAutoFit/>
          </a:bodyPr>
          <a:lstStyle/>
          <a:p>
            <a:r>
              <a:rPr lang="en-US" sz="2800" b="1" dirty="0"/>
              <a:t>Discussion Question 1</a:t>
            </a:r>
            <a:endParaRPr lang="en-US" sz="2800" dirty="0"/>
          </a:p>
          <a:p>
            <a:r>
              <a:rPr lang="en-US" sz="2800" dirty="0"/>
              <a:t>When someone says “ChatGPT is a language model,” what do you think that commits you to?</a:t>
            </a:r>
          </a:p>
          <a:p>
            <a:endParaRPr lang="en-US" sz="2800" dirty="0"/>
          </a:p>
          <a:p>
            <a:r>
              <a:rPr lang="en-US" sz="2800" dirty="0"/>
              <a:t>In groups, produce:</a:t>
            </a:r>
          </a:p>
          <a:p>
            <a:r>
              <a:rPr lang="en-US" sz="2800" dirty="0"/>
              <a:t>	•	a 1–2 sentence definition</a:t>
            </a:r>
          </a:p>
          <a:p>
            <a:r>
              <a:rPr lang="en-US" sz="2800" dirty="0"/>
              <a:t>	•	one prediction that should be true if that definition is right</a:t>
            </a:r>
          </a:p>
          <a:p>
            <a:r>
              <a:rPr lang="en-US" sz="2800" dirty="0"/>
              <a:t>	•	one thing it does NOT imply (a common over-interpretation)</a:t>
            </a:r>
          </a:p>
        </p:txBody>
      </p:sp>
    </p:spTree>
    <p:extLst>
      <p:ext uri="{BB962C8B-B14F-4D97-AF65-F5344CB8AC3E}">
        <p14:creationId xmlns:p14="http://schemas.microsoft.com/office/powerpoint/2010/main" val="326198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6788-20B5-D98A-8EE3-784839F67BE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9F85931-1201-86F8-6CCE-B6EBBA82C3E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Defining Language Models</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5DF712E-F20F-E5F5-004A-DF776D2922F4}"/>
              </a:ext>
            </a:extLst>
          </p:cNvPr>
          <p:cNvSpPr txBox="1"/>
          <p:nvPr/>
        </p:nvSpPr>
        <p:spPr>
          <a:xfrm>
            <a:off x="0" y="1145829"/>
            <a:ext cx="7258929" cy="4154984"/>
          </a:xfrm>
          <a:prstGeom prst="rect">
            <a:avLst/>
          </a:prstGeom>
          <a:noFill/>
        </p:spPr>
        <p:txBody>
          <a:bodyPr wrap="square" rtlCol="0">
            <a:spAutoFit/>
          </a:bodyPr>
          <a:lstStyle/>
          <a:p>
            <a:r>
              <a:rPr lang="en-US" sz="2400" b="1" dirty="0"/>
              <a:t>language model</a:t>
            </a:r>
            <a:r>
              <a:rPr lang="en-US" sz="2400" dirty="0"/>
              <a:t>: a probability distribution over tokens in a text</a:t>
            </a:r>
          </a:p>
          <a:p>
            <a:r>
              <a:rPr lang="en-US" sz="2400" b="1" dirty="0"/>
              <a:t>token</a:t>
            </a:r>
            <a:r>
              <a:rPr lang="en-US" sz="2400" dirty="0"/>
              <a:t>: the elements or vocabulary of a language model</a:t>
            </a:r>
          </a:p>
          <a:p>
            <a:endParaRPr lang="en-US" sz="2400" dirty="0"/>
          </a:p>
          <a:p>
            <a:r>
              <a:rPr lang="en-US" sz="2400" dirty="0"/>
              <a:t>A language model assigns probabilities to sequences of tokens, or to possible continuations given a context.</a:t>
            </a:r>
          </a:p>
          <a:p>
            <a:endParaRPr lang="en-US" sz="2400" dirty="0"/>
          </a:p>
          <a:p>
            <a:r>
              <a:rPr lang="en-US" sz="2400" dirty="0"/>
              <a:t>It outputs a distribution over next tokens, not just a single best guess.</a:t>
            </a:r>
          </a:p>
          <a:p>
            <a:r>
              <a:rPr lang="en-US" sz="2400" dirty="0"/>
              <a:t>This definition is deliberately minimal and doesn’t yet claim anything about meaning or understanding.</a:t>
            </a:r>
          </a:p>
        </p:txBody>
      </p:sp>
      <p:pic>
        <p:nvPicPr>
          <p:cNvPr id="5" name="Picture 4">
            <a:extLst>
              <a:ext uri="{FF2B5EF4-FFF2-40B4-BE49-F238E27FC236}">
                <a16:creationId xmlns:a16="http://schemas.microsoft.com/office/drawing/2014/main" id="{7B2C4350-0BA9-9459-0C5E-B991C4312293}"/>
              </a:ext>
            </a:extLst>
          </p:cNvPr>
          <p:cNvPicPr>
            <a:picLocks noChangeAspect="1"/>
          </p:cNvPicPr>
          <p:nvPr/>
        </p:nvPicPr>
        <p:blipFill>
          <a:blip r:embed="rId3"/>
          <a:srcRect l="6341" r="44654"/>
          <a:stretch>
            <a:fillRect/>
          </a:stretch>
        </p:blipFill>
        <p:spPr>
          <a:xfrm>
            <a:off x="7726051" y="1587953"/>
            <a:ext cx="4465949" cy="3682093"/>
          </a:xfrm>
          <a:prstGeom prst="rect">
            <a:avLst/>
          </a:prstGeom>
        </p:spPr>
      </p:pic>
    </p:spTree>
    <p:extLst>
      <p:ext uri="{BB962C8B-B14F-4D97-AF65-F5344CB8AC3E}">
        <p14:creationId xmlns:p14="http://schemas.microsoft.com/office/powerpoint/2010/main" val="2651751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6788-20B5-D98A-8EE3-784839F67BE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9F85931-1201-86F8-6CCE-B6EBBA82C3E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Defining Language Models</a:t>
            </a:r>
            <a:endParaRPr lang="en-US" dirty="0"/>
          </a:p>
        </p:txBody>
      </p:sp>
      <p:pic>
        <p:nvPicPr>
          <p:cNvPr id="7" name="Picture 6">
            <a:extLst>
              <a:ext uri="{FF2B5EF4-FFF2-40B4-BE49-F238E27FC236}">
                <a16:creationId xmlns:a16="http://schemas.microsoft.com/office/drawing/2014/main" id="{85F12E53-A47C-67A4-B2A6-CB324E4C37CE}"/>
              </a:ext>
            </a:extLst>
          </p:cNvPr>
          <p:cNvPicPr>
            <a:picLocks noChangeAspect="1"/>
          </p:cNvPicPr>
          <p:nvPr/>
        </p:nvPicPr>
        <p:blipFill>
          <a:blip r:embed="rId3"/>
          <a:stretch>
            <a:fillRect/>
          </a:stretch>
        </p:blipFill>
        <p:spPr>
          <a:xfrm>
            <a:off x="212187" y="1481764"/>
            <a:ext cx="11374045" cy="3894472"/>
          </a:xfrm>
          <a:prstGeom prst="rect">
            <a:avLst/>
          </a:prstGeom>
        </p:spPr>
      </p:pic>
    </p:spTree>
    <p:extLst>
      <p:ext uri="{BB962C8B-B14F-4D97-AF65-F5344CB8AC3E}">
        <p14:creationId xmlns:p14="http://schemas.microsoft.com/office/powerpoint/2010/main" val="1727943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7F3FE-4550-C5F7-650F-B0D48CC34222}"/>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C2E016F2-0907-18D2-0CFE-0AB088B7913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How Large Language Models Work</a:t>
            </a:r>
          </a:p>
        </p:txBody>
      </p:sp>
      <p:sp>
        <p:nvSpPr>
          <p:cNvPr id="2" name="TextBox 1">
            <a:extLst>
              <a:ext uri="{FF2B5EF4-FFF2-40B4-BE49-F238E27FC236}">
                <a16:creationId xmlns:a16="http://schemas.microsoft.com/office/drawing/2014/main" id="{A5CB21C2-E3B1-135A-2899-3D42202219D2}"/>
              </a:ext>
            </a:extLst>
          </p:cNvPr>
          <p:cNvSpPr txBox="1"/>
          <p:nvPr/>
        </p:nvSpPr>
        <p:spPr>
          <a:xfrm>
            <a:off x="268942" y="846385"/>
            <a:ext cx="8966908" cy="1692771"/>
          </a:xfrm>
          <a:prstGeom prst="rect">
            <a:avLst/>
          </a:prstGeom>
          <a:noFill/>
        </p:spPr>
        <p:txBody>
          <a:bodyPr wrap="square" rtlCol="0">
            <a:spAutoFit/>
          </a:bodyPr>
          <a:lstStyle/>
          <a:p>
            <a:r>
              <a:rPr lang="en-US" sz="3200" b="1" dirty="0"/>
              <a:t>Tokenization: The First Structural Choice</a:t>
            </a:r>
          </a:p>
          <a:p>
            <a:pPr marL="457200" indent="-457200">
              <a:buFont typeface="Arial" panose="020B0604020202020204" pitchFamily="34" charset="0"/>
              <a:buChar char="•"/>
            </a:pPr>
            <a:r>
              <a:rPr lang="en-US" sz="2400" dirty="0"/>
              <a:t>Breaks text into </a:t>
            </a:r>
            <a:r>
              <a:rPr lang="en-US" sz="2400" dirty="0" err="1"/>
              <a:t>subword</a:t>
            </a:r>
            <a:r>
              <a:rPr lang="en-US" sz="2400" dirty="0"/>
              <a:t> units</a:t>
            </a:r>
          </a:p>
          <a:p>
            <a:pPr marL="457200" indent="-457200">
              <a:buFont typeface="Arial" panose="020B0604020202020204" pitchFamily="34" charset="0"/>
              <a:buChar char="•"/>
            </a:pPr>
            <a:r>
              <a:rPr lang="en-US" sz="2400" dirty="0"/>
              <a:t>Creates manageable vocabulary</a:t>
            </a:r>
          </a:p>
          <a:p>
            <a:pPr marL="457200" indent="-457200">
              <a:buFont typeface="Arial" panose="020B0604020202020204" pitchFamily="34" charset="0"/>
              <a:buChar char="•"/>
            </a:pPr>
            <a:r>
              <a:rPr lang="en-US" sz="2400" dirty="0"/>
              <a:t>Shapes all later representations</a:t>
            </a:r>
          </a:p>
        </p:txBody>
      </p:sp>
      <p:graphicFrame>
        <p:nvGraphicFramePr>
          <p:cNvPr id="6" name="Table 5">
            <a:extLst>
              <a:ext uri="{FF2B5EF4-FFF2-40B4-BE49-F238E27FC236}">
                <a16:creationId xmlns:a16="http://schemas.microsoft.com/office/drawing/2014/main" id="{428EFD7E-91D8-7F97-C7A3-B993906A028A}"/>
              </a:ext>
            </a:extLst>
          </p:cNvPr>
          <p:cNvGraphicFramePr>
            <a:graphicFrameLocks noGrp="1"/>
          </p:cNvGraphicFramePr>
          <p:nvPr/>
        </p:nvGraphicFramePr>
        <p:xfrm>
          <a:off x="268942" y="2622175"/>
          <a:ext cx="11923057" cy="3612441"/>
        </p:xfrm>
        <a:graphic>
          <a:graphicData uri="http://schemas.openxmlformats.org/drawingml/2006/table">
            <a:tbl>
              <a:tblPr/>
              <a:tblGrid>
                <a:gridCol w="3455893">
                  <a:extLst>
                    <a:ext uri="{9D8B030D-6E8A-4147-A177-3AD203B41FA5}">
                      <a16:colId xmlns:a16="http://schemas.microsoft.com/office/drawing/2014/main" val="2039797622"/>
                    </a:ext>
                  </a:extLst>
                </a:gridCol>
                <a:gridCol w="8467164">
                  <a:extLst>
                    <a:ext uri="{9D8B030D-6E8A-4147-A177-3AD203B41FA5}">
                      <a16:colId xmlns:a16="http://schemas.microsoft.com/office/drawing/2014/main" val="2528762519"/>
                    </a:ext>
                  </a:extLst>
                </a:gridCol>
              </a:tblGrid>
              <a:tr h="268286">
                <a:tc>
                  <a:txBody>
                    <a:bodyPr/>
                    <a:lstStyle/>
                    <a:p>
                      <a:pPr>
                        <a:buNone/>
                      </a:pPr>
                      <a:r>
                        <a:rPr lang="en-US" sz="1600" b="1"/>
                        <a:t>Tokenization Scheme</a:t>
                      </a:r>
                      <a:endParaRPr lang="en-US" sz="1600"/>
                    </a:p>
                  </a:txBody>
                  <a:tcPr marL="82101" marR="82101" marT="41050" marB="41050" anchor="ctr">
                    <a:lnL>
                      <a:noFill/>
                    </a:lnL>
                    <a:lnR>
                      <a:noFill/>
                    </a:lnR>
                    <a:lnT>
                      <a:noFill/>
                    </a:lnT>
                    <a:lnB>
                      <a:noFill/>
                    </a:lnB>
                    <a:noFill/>
                  </a:tcPr>
                </a:tc>
                <a:tc>
                  <a:txBody>
                    <a:bodyPr/>
                    <a:lstStyle/>
                    <a:p>
                      <a:pPr>
                        <a:buNone/>
                      </a:pPr>
                      <a:r>
                        <a:rPr lang="en-US" sz="1600" b="1"/>
                        <a:t>Example Tokenization</a:t>
                      </a:r>
                      <a:endParaRPr lang="en-US" sz="1600"/>
                    </a:p>
                  </a:txBody>
                  <a:tcPr marL="82101" marR="82101" marT="41050" marB="41050" anchor="ctr">
                    <a:lnL>
                      <a:noFill/>
                    </a:lnL>
                    <a:lnR>
                      <a:noFill/>
                    </a:lnR>
                    <a:lnT>
                      <a:noFill/>
                    </a:lnT>
                    <a:lnB>
                      <a:noFill/>
                    </a:lnB>
                    <a:noFill/>
                  </a:tcPr>
                </a:tc>
                <a:extLst>
                  <a:ext uri="{0D108BD9-81ED-4DB2-BD59-A6C34878D82A}">
                    <a16:rowId xmlns:a16="http://schemas.microsoft.com/office/drawing/2014/main" val="4100929138"/>
                  </a:ext>
                </a:extLst>
              </a:tr>
              <a:tr h="469500">
                <a:tc>
                  <a:txBody>
                    <a:bodyPr/>
                    <a:lstStyle/>
                    <a:p>
                      <a:pPr>
                        <a:buNone/>
                      </a:pPr>
                      <a:r>
                        <a:rPr lang="en-US" sz="1600" b="1" dirty="0"/>
                        <a:t>Word-Level</a:t>
                      </a:r>
                      <a:endParaRPr lang="en-US" sz="1600" dirty="0"/>
                    </a:p>
                  </a:txBody>
                  <a:tcPr marL="82101" marR="82101" marT="41050" marB="41050" anchor="ctr">
                    <a:lnL>
                      <a:noFill/>
                    </a:lnL>
                    <a:lnR>
                      <a:noFill/>
                    </a:lnR>
                    <a:lnT>
                      <a:noFill/>
                    </a:lnT>
                    <a:lnB>
                      <a:noFill/>
                    </a:lnB>
                    <a:noFill/>
                  </a:tcPr>
                </a:tc>
                <a:tc>
                  <a:txBody>
                    <a:bodyPr/>
                    <a:lstStyle/>
                    <a:p>
                      <a:pPr>
                        <a:buNone/>
                      </a:pPr>
                      <a:r>
                        <a:rPr lang="en-US" sz="1600" dirty="0"/>
                        <a:t>["The", "singing", "children", "were", "happily", "playing", "outside", "."]</a:t>
                      </a:r>
                    </a:p>
                  </a:txBody>
                  <a:tcPr marL="82101" marR="82101" marT="41050" marB="41050" anchor="ctr">
                    <a:lnL>
                      <a:noFill/>
                    </a:lnL>
                    <a:lnR>
                      <a:noFill/>
                    </a:lnR>
                    <a:lnT>
                      <a:noFill/>
                    </a:lnT>
                    <a:lnB>
                      <a:noFill/>
                    </a:lnB>
                    <a:noFill/>
                  </a:tcPr>
                </a:tc>
                <a:extLst>
                  <a:ext uri="{0D108BD9-81ED-4DB2-BD59-A6C34878D82A}">
                    <a16:rowId xmlns:a16="http://schemas.microsoft.com/office/drawing/2014/main" val="3170310651"/>
                  </a:ext>
                </a:extLst>
              </a:tr>
              <a:tr h="1073143">
                <a:tc>
                  <a:txBody>
                    <a:bodyPr/>
                    <a:lstStyle/>
                    <a:p>
                      <a:pPr>
                        <a:buNone/>
                      </a:pPr>
                      <a:r>
                        <a:rPr lang="en-US" sz="1600" b="1" dirty="0"/>
                        <a:t>Character-Level</a:t>
                      </a:r>
                      <a:endParaRPr lang="en-US" sz="1600" dirty="0"/>
                    </a:p>
                  </a:txBody>
                  <a:tcPr marL="82101" marR="82101" marT="41050" marB="41050" anchor="ctr">
                    <a:lnL>
                      <a:noFill/>
                    </a:lnL>
                    <a:lnR>
                      <a:noFill/>
                    </a:lnR>
                    <a:lnT>
                      <a:noFill/>
                    </a:lnT>
                    <a:lnB>
                      <a:noFill/>
                    </a:lnB>
                    <a:noFill/>
                  </a:tcPr>
                </a:tc>
                <a:tc>
                  <a:txBody>
                    <a:bodyPr/>
                    <a:lstStyle/>
                    <a:p>
                      <a:pPr>
                        <a:buNone/>
                      </a:pPr>
                      <a:r>
                        <a:rPr lang="en-US" sz="1600" dirty="0"/>
                        <a:t>["</a:t>
                      </a:r>
                      <a:r>
                        <a:rPr lang="en-US" sz="1600" dirty="0" err="1"/>
                        <a:t>T","h","e</a:t>
                      </a:r>
                      <a:r>
                        <a:rPr lang="en-US" sz="1600" dirty="0"/>
                        <a:t>"," ","s","</a:t>
                      </a:r>
                      <a:r>
                        <a:rPr lang="en-US" sz="1600" dirty="0" err="1"/>
                        <a:t>i</a:t>
                      </a:r>
                      <a:r>
                        <a:rPr lang="en-US" sz="1600" dirty="0"/>
                        <a:t>","n","g","</a:t>
                      </a:r>
                      <a:r>
                        <a:rPr lang="en-US" sz="1600" dirty="0" err="1"/>
                        <a:t>i</a:t>
                      </a:r>
                      <a:r>
                        <a:rPr lang="en-US" sz="1600" dirty="0"/>
                        <a:t>","</a:t>
                      </a:r>
                      <a:r>
                        <a:rPr lang="en-US" sz="1600" dirty="0" err="1"/>
                        <a:t>n","g</a:t>
                      </a:r>
                      <a:r>
                        <a:rPr lang="en-US" sz="1600" dirty="0"/>
                        <a:t>"," ","c","h","</a:t>
                      </a:r>
                      <a:r>
                        <a:rPr lang="en-US" sz="1600" dirty="0" err="1"/>
                        <a:t>i</a:t>
                      </a:r>
                      <a:r>
                        <a:rPr lang="en-US" sz="1600" dirty="0"/>
                        <a:t>","</a:t>
                      </a:r>
                      <a:r>
                        <a:rPr lang="en-US" sz="1600" dirty="0" err="1"/>
                        <a:t>l","d","r","e","n</a:t>
                      </a:r>
                      <a:r>
                        <a:rPr lang="en-US" sz="1600" dirty="0"/>
                        <a:t>"," ","</a:t>
                      </a:r>
                      <a:r>
                        <a:rPr lang="en-US" sz="1600" dirty="0" err="1"/>
                        <a:t>w","e","r","e</a:t>
                      </a:r>
                      <a:r>
                        <a:rPr lang="en-US" sz="1600" dirty="0"/>
                        <a:t>"," ","h","a","p","p","</a:t>
                      </a:r>
                      <a:r>
                        <a:rPr lang="en-US" sz="1600" dirty="0" err="1"/>
                        <a:t>i</a:t>
                      </a:r>
                      <a:r>
                        <a:rPr lang="en-US" sz="1600" dirty="0"/>
                        <a:t>","</a:t>
                      </a:r>
                      <a:r>
                        <a:rPr lang="en-US" sz="1600" dirty="0" err="1"/>
                        <a:t>l","y</a:t>
                      </a:r>
                      <a:r>
                        <a:rPr lang="en-US" sz="1600" dirty="0"/>
                        <a:t>"," ", "p","l","a","y","</a:t>
                      </a:r>
                      <a:r>
                        <a:rPr lang="en-US" sz="1600" dirty="0" err="1"/>
                        <a:t>i</a:t>
                      </a:r>
                      <a:r>
                        <a:rPr lang="en-US" sz="1600" dirty="0"/>
                        <a:t>","</a:t>
                      </a:r>
                      <a:r>
                        <a:rPr lang="en-US" sz="1600" dirty="0" err="1"/>
                        <a:t>n","g</a:t>
                      </a:r>
                      <a:r>
                        <a:rPr lang="en-US" sz="1600" dirty="0"/>
                        <a:t>"," ","o","u","t","s","</a:t>
                      </a:r>
                      <a:r>
                        <a:rPr lang="en-US" sz="1600" dirty="0" err="1"/>
                        <a:t>i</a:t>
                      </a:r>
                      <a:r>
                        <a:rPr lang="en-US" sz="1600" dirty="0"/>
                        <a:t>","</a:t>
                      </a:r>
                      <a:r>
                        <a:rPr lang="en-US" sz="1600" dirty="0" err="1"/>
                        <a:t>d","e</a:t>
                      </a:r>
                      <a:r>
                        <a:rPr lang="en-US" sz="1600" dirty="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535389940"/>
                  </a:ext>
                </a:extLst>
              </a:tr>
              <a:tr h="469500">
                <a:tc>
                  <a:txBody>
                    <a:bodyPr/>
                    <a:lstStyle/>
                    <a:p>
                      <a:pPr>
                        <a:buNone/>
                      </a:pPr>
                      <a:r>
                        <a:rPr lang="en-US" sz="1600" b="1"/>
                        <a:t>Morpheme-Like Subwords (Idealized)</a:t>
                      </a:r>
                      <a:endParaRPr lang="en-US" sz="1600"/>
                    </a:p>
                  </a:txBody>
                  <a:tcPr marL="82101" marR="82101" marT="41050" marB="41050" anchor="ctr">
                    <a:lnL>
                      <a:noFill/>
                    </a:lnL>
                    <a:lnR>
                      <a:noFill/>
                    </a:lnR>
                    <a:lnT>
                      <a:noFill/>
                    </a:lnT>
                    <a:lnB>
                      <a:noFill/>
                    </a:lnB>
                    <a:noFill/>
                  </a:tcPr>
                </a:tc>
                <a:tc>
                  <a:txBody>
                    <a:bodyPr/>
                    <a:lstStyle/>
                    <a:p>
                      <a:pPr>
                        <a:buNone/>
                      </a:pPr>
                      <a:r>
                        <a:rPr lang="en-US" sz="1600" dirty="0"/>
                        <a:t>["The", "sing", "</a:t>
                      </a:r>
                      <a:r>
                        <a:rPr lang="en-US" sz="1600" dirty="0" err="1"/>
                        <a:t>ing</a:t>
                      </a:r>
                      <a:r>
                        <a:rPr lang="en-US" sz="1600" dirty="0"/>
                        <a:t>", "child", "ren", "were", "</a:t>
                      </a:r>
                      <a:r>
                        <a:rPr lang="en-US" sz="1600" dirty="0" err="1"/>
                        <a:t>happi</a:t>
                      </a:r>
                      <a:r>
                        <a:rPr lang="en-US" sz="1600" dirty="0"/>
                        <a:t>", "</a:t>
                      </a:r>
                      <a:r>
                        <a:rPr lang="en-US" sz="1600" dirty="0" err="1"/>
                        <a:t>ly</a:t>
                      </a:r>
                      <a:r>
                        <a:rPr lang="en-US" sz="1600" dirty="0"/>
                        <a:t>", "play", "</a:t>
                      </a:r>
                      <a:r>
                        <a:rPr lang="en-US" sz="1600" dirty="0" err="1"/>
                        <a:t>ing</a:t>
                      </a:r>
                      <a:r>
                        <a:rPr lang="en-US" sz="1600" dirty="0"/>
                        <a:t>", "outside", "."]</a:t>
                      </a:r>
                    </a:p>
                  </a:txBody>
                  <a:tcPr marL="82101" marR="82101" marT="41050" marB="41050" anchor="ctr">
                    <a:lnL>
                      <a:noFill/>
                    </a:lnL>
                    <a:lnR>
                      <a:noFill/>
                    </a:lnR>
                    <a:lnT>
                      <a:noFill/>
                    </a:lnT>
                    <a:lnB>
                      <a:noFill/>
                    </a:lnB>
                    <a:noFill/>
                  </a:tcPr>
                </a:tc>
                <a:extLst>
                  <a:ext uri="{0D108BD9-81ED-4DB2-BD59-A6C34878D82A}">
                    <a16:rowId xmlns:a16="http://schemas.microsoft.com/office/drawing/2014/main" val="3188988392"/>
                  </a:ext>
                </a:extLst>
              </a:tr>
              <a:tr h="1274358">
                <a:tc>
                  <a:txBody>
                    <a:bodyPr/>
                    <a:lstStyle/>
                    <a:p>
                      <a:pPr>
                        <a:buNone/>
                      </a:pPr>
                      <a:r>
                        <a:rPr lang="en-US" sz="1600" b="1"/>
                        <a:t>LLM-Style BPE / Subword Tokens</a:t>
                      </a:r>
                      <a:endParaRPr lang="en-US" sz="1600"/>
                    </a:p>
                  </a:txBody>
                  <a:tcPr marL="82101" marR="82101" marT="41050" marB="41050" anchor="ctr">
                    <a:lnL>
                      <a:noFill/>
                    </a:lnL>
                    <a:lnR>
                      <a:noFill/>
                    </a:lnR>
                    <a:lnT>
                      <a:noFill/>
                    </a:lnT>
                    <a:lnB>
                      <a:noFill/>
                    </a:lnB>
                    <a:noFill/>
                  </a:tcPr>
                </a:tc>
                <a:tc>
                  <a:txBody>
                    <a:bodyPr/>
                    <a:lstStyle/>
                    <a:p>
                      <a:pPr>
                        <a:buNone/>
                      </a:pPr>
                      <a:r>
                        <a:rPr lang="en-US" sz="1600" dirty="0"/>
                        <a:t>["The", "sing", "</a:t>
                      </a:r>
                      <a:r>
                        <a:rPr lang="en-US" sz="1600" dirty="0" err="1"/>
                        <a:t>ing</a:t>
                      </a:r>
                      <a:r>
                        <a:rPr lang="en-US" sz="1600" dirty="0"/>
                        <a:t>", "children", "were", "</a:t>
                      </a:r>
                      <a:r>
                        <a:rPr lang="en-US" sz="1600" dirty="0" err="1"/>
                        <a:t>happ</a:t>
                      </a:r>
                      <a:r>
                        <a:rPr lang="en-US" sz="1600" dirty="0"/>
                        <a:t>", "</a:t>
                      </a:r>
                      <a:r>
                        <a:rPr lang="en-US" sz="1600" dirty="0" err="1"/>
                        <a:t>ily</a:t>
                      </a:r>
                      <a:r>
                        <a:rPr lang="en-US" sz="1600" dirty="0"/>
                        <a:t>", "play", "</a:t>
                      </a:r>
                      <a:r>
                        <a:rPr lang="en-US" sz="1600" dirty="0" err="1"/>
                        <a:t>ing</a:t>
                      </a:r>
                      <a:r>
                        <a:rPr lang="en-US" sz="1600" dirty="0"/>
                        <a:t>", "outside", "."] or</a:t>
                      </a:r>
                    </a:p>
                    <a:p>
                      <a:pPr>
                        <a:buNone/>
                      </a:pPr>
                      <a:r>
                        <a:rPr lang="en-US" sz="1600" dirty="0"/>
                        <a:t>["The", "singing", "child", "ren", "were", "happily", "play", "</a:t>
                      </a:r>
                      <a:r>
                        <a:rPr lang="en-US" sz="1600" dirty="0" err="1"/>
                        <a:t>ing</a:t>
                      </a:r>
                      <a:r>
                        <a:rPr lang="en-US" sz="1600" dirty="0"/>
                        <a:t>", "outside", "."] </a:t>
                      </a:r>
                      <a:r>
                        <a:rPr lang="en-US" sz="1600" i="1" dirty="0"/>
                        <a:t>or</a:t>
                      </a:r>
                      <a:r>
                        <a:rPr lang="en-US" sz="1600" dirty="0"/>
                        <a:t> </a:t>
                      </a:r>
                    </a:p>
                    <a:p>
                      <a:pPr>
                        <a:buNone/>
                      </a:pPr>
                      <a:r>
                        <a:rPr lang="en-US" sz="1600" dirty="0"/>
                        <a:t>["The", "sing", "##</a:t>
                      </a:r>
                      <a:r>
                        <a:rPr lang="en-US" sz="1600" dirty="0" err="1"/>
                        <a:t>ing</a:t>
                      </a:r>
                      <a:r>
                        <a:rPr lang="en-US" sz="1600" dirty="0"/>
                        <a:t>", "child", "##ren", "were", "ha", "##pp", "##</a:t>
                      </a:r>
                      <a:r>
                        <a:rPr lang="en-US" sz="1600" dirty="0" err="1"/>
                        <a:t>ily</a:t>
                      </a:r>
                      <a:r>
                        <a:rPr lang="en-US" sz="1600" dirty="0"/>
                        <a:t>", "play", "##</a:t>
                      </a:r>
                      <a:r>
                        <a:rPr lang="en-US" sz="1600" dirty="0" err="1"/>
                        <a:t>ing</a:t>
                      </a:r>
                      <a:r>
                        <a:rPr lang="en-US" sz="1600" dirty="0"/>
                        <a:t>", "outside", "."]</a:t>
                      </a:r>
                    </a:p>
                  </a:txBody>
                  <a:tcPr marL="82101" marR="82101" marT="41050" marB="41050" anchor="ctr">
                    <a:lnL>
                      <a:noFill/>
                    </a:lnL>
                    <a:lnR>
                      <a:noFill/>
                    </a:lnR>
                    <a:lnT>
                      <a:noFill/>
                    </a:lnT>
                    <a:lnB>
                      <a:noFill/>
                    </a:lnB>
                    <a:noFill/>
                  </a:tcPr>
                </a:tc>
                <a:extLst>
                  <a:ext uri="{0D108BD9-81ED-4DB2-BD59-A6C34878D82A}">
                    <a16:rowId xmlns:a16="http://schemas.microsoft.com/office/drawing/2014/main" val="1295884912"/>
                  </a:ext>
                </a:extLst>
              </a:tr>
            </a:tbl>
          </a:graphicData>
        </a:graphic>
      </p:graphicFrame>
    </p:spTree>
    <p:extLst>
      <p:ext uri="{BB962C8B-B14F-4D97-AF65-F5344CB8AC3E}">
        <p14:creationId xmlns:p14="http://schemas.microsoft.com/office/powerpoint/2010/main" val="1269678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C019F-465E-C85E-3EF1-24B4DC952E26}"/>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23011C6-FF33-2354-BF24-E3613EC0F074}"/>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How Large Language Models Work</a:t>
            </a:r>
          </a:p>
        </p:txBody>
      </p:sp>
      <p:sp>
        <p:nvSpPr>
          <p:cNvPr id="2" name="TextBox 1">
            <a:extLst>
              <a:ext uri="{FF2B5EF4-FFF2-40B4-BE49-F238E27FC236}">
                <a16:creationId xmlns:a16="http://schemas.microsoft.com/office/drawing/2014/main" id="{968A8F7B-ED71-FD43-6051-F2A47F09C113}"/>
              </a:ext>
            </a:extLst>
          </p:cNvPr>
          <p:cNvSpPr txBox="1"/>
          <p:nvPr/>
        </p:nvSpPr>
        <p:spPr>
          <a:xfrm>
            <a:off x="139711" y="905676"/>
            <a:ext cx="6648773" cy="1692771"/>
          </a:xfrm>
          <a:prstGeom prst="rect">
            <a:avLst/>
          </a:prstGeom>
          <a:noFill/>
        </p:spPr>
        <p:txBody>
          <a:bodyPr wrap="square" rtlCol="0">
            <a:spAutoFit/>
          </a:bodyPr>
          <a:lstStyle/>
          <a:p>
            <a:r>
              <a:rPr lang="en-US" sz="3200" b="1" dirty="0"/>
              <a:t>Limits and Biases of Tokenization</a:t>
            </a:r>
          </a:p>
          <a:p>
            <a:pPr marL="457200" indent="-457200">
              <a:buFont typeface="Arial" panose="020B0604020202020204" pitchFamily="34" charset="0"/>
              <a:buChar char="•"/>
            </a:pPr>
            <a:r>
              <a:rPr lang="en-US" sz="2400" dirty="0"/>
              <a:t>Fragmentation alters meaning signals</a:t>
            </a:r>
          </a:p>
          <a:p>
            <a:pPr marL="457200" indent="-457200">
              <a:buFont typeface="Arial" panose="020B0604020202020204" pitchFamily="34" charset="0"/>
              <a:buChar char="•"/>
            </a:pPr>
            <a:r>
              <a:rPr lang="en-US" sz="2400" dirty="0"/>
              <a:t>Rare words handled inconsistently</a:t>
            </a:r>
          </a:p>
          <a:p>
            <a:pPr marL="457200" indent="-457200">
              <a:buFont typeface="Arial" panose="020B0604020202020204" pitchFamily="34" charset="0"/>
              <a:buChar char="•"/>
            </a:pPr>
            <a:r>
              <a:rPr lang="en-US" sz="2400" dirty="0"/>
              <a:t>Symbolic scaffolding shapes learning</a:t>
            </a:r>
          </a:p>
        </p:txBody>
      </p:sp>
      <p:graphicFrame>
        <p:nvGraphicFramePr>
          <p:cNvPr id="3" name="Table 2">
            <a:extLst>
              <a:ext uri="{FF2B5EF4-FFF2-40B4-BE49-F238E27FC236}">
                <a16:creationId xmlns:a16="http://schemas.microsoft.com/office/drawing/2014/main" id="{0D947FF6-79B3-A236-0F90-FE6F8C72ED80}"/>
              </a:ext>
            </a:extLst>
          </p:cNvPr>
          <p:cNvGraphicFramePr>
            <a:graphicFrameLocks noGrp="1"/>
          </p:cNvGraphicFramePr>
          <p:nvPr/>
        </p:nvGraphicFramePr>
        <p:xfrm>
          <a:off x="139711" y="2768961"/>
          <a:ext cx="10515600" cy="1097280"/>
        </p:xfrm>
        <a:graphic>
          <a:graphicData uri="http://schemas.openxmlformats.org/drawingml/2006/table">
            <a:tbl>
              <a:tblPr/>
              <a:tblGrid>
                <a:gridCol w="5257800">
                  <a:extLst>
                    <a:ext uri="{9D8B030D-6E8A-4147-A177-3AD203B41FA5}">
                      <a16:colId xmlns:a16="http://schemas.microsoft.com/office/drawing/2014/main" val="1067373674"/>
                    </a:ext>
                  </a:extLst>
                </a:gridCol>
                <a:gridCol w="5257800">
                  <a:extLst>
                    <a:ext uri="{9D8B030D-6E8A-4147-A177-3AD203B41FA5}">
                      <a16:colId xmlns:a16="http://schemas.microsoft.com/office/drawing/2014/main" val="3331512511"/>
                    </a:ext>
                  </a:extLst>
                </a:gridCol>
              </a:tblGrid>
              <a:tr h="0">
                <a:tc>
                  <a:txBody>
                    <a:bodyPr/>
                    <a:lstStyle/>
                    <a:p>
                      <a:pPr>
                        <a:buNone/>
                      </a:pPr>
                      <a:r>
                        <a:rPr lang="en-US" b="1"/>
                        <a:t>Dialect &amp; Sentence</a:t>
                      </a:r>
                      <a:endParaRPr lang="en-US"/>
                    </a:p>
                  </a:txBody>
                  <a:tcPr anchor="ctr">
                    <a:lnL>
                      <a:noFill/>
                    </a:lnL>
                    <a:lnR>
                      <a:noFill/>
                    </a:lnR>
                    <a:lnT>
                      <a:noFill/>
                    </a:lnT>
                    <a:lnB>
                      <a:noFill/>
                    </a:lnB>
                    <a:noFill/>
                  </a:tcPr>
                </a:tc>
                <a:tc>
                  <a:txBody>
                    <a:bodyPr/>
                    <a:lstStyle/>
                    <a:p>
                      <a:pPr>
                        <a:buNone/>
                      </a:pPr>
                      <a:r>
                        <a:rPr lang="en-US" b="1"/>
                        <a:t>Tokenization (LLM-Style Subwords)</a:t>
                      </a:r>
                      <a:endParaRPr lang="en-US"/>
                    </a:p>
                  </a:txBody>
                  <a:tcPr anchor="ctr">
                    <a:lnL>
                      <a:noFill/>
                    </a:lnL>
                    <a:lnR>
                      <a:noFill/>
                    </a:lnR>
                    <a:lnT>
                      <a:noFill/>
                    </a:lnT>
                    <a:lnB>
                      <a:noFill/>
                    </a:lnB>
                    <a:noFill/>
                  </a:tcPr>
                </a:tc>
                <a:extLst>
                  <a:ext uri="{0D108BD9-81ED-4DB2-BD59-A6C34878D82A}">
                    <a16:rowId xmlns:a16="http://schemas.microsoft.com/office/drawing/2014/main" val="2512658298"/>
                  </a:ext>
                </a:extLst>
              </a:tr>
              <a:tr h="0">
                <a:tc>
                  <a:txBody>
                    <a:bodyPr/>
                    <a:lstStyle/>
                    <a:p>
                      <a:pPr>
                        <a:buNone/>
                      </a:pPr>
                      <a:r>
                        <a:rPr lang="en-US" b="1" dirty="0"/>
                        <a:t>SAE:</a:t>
                      </a:r>
                      <a:r>
                        <a:rPr lang="en-US" dirty="0"/>
                        <a:t> “I’m going to finish this later.”</a:t>
                      </a:r>
                    </a:p>
                  </a:txBody>
                  <a:tcPr anchor="ctr">
                    <a:lnL>
                      <a:noFill/>
                    </a:lnL>
                    <a:lnR>
                      <a:noFill/>
                    </a:lnR>
                    <a:lnT>
                      <a:noFill/>
                    </a:lnT>
                    <a:lnB>
                      <a:noFill/>
                    </a:lnB>
                    <a:noFill/>
                  </a:tcPr>
                </a:tc>
                <a:tc>
                  <a:txBody>
                    <a:bodyPr/>
                    <a:lstStyle/>
                    <a:p>
                      <a:pPr>
                        <a:buNone/>
                      </a:pPr>
                      <a:r>
                        <a:rPr lang="en-US"/>
                        <a:t>["I","’m","going","to","finish","this","later","."]</a:t>
                      </a:r>
                    </a:p>
                  </a:txBody>
                  <a:tcPr anchor="ctr">
                    <a:lnL>
                      <a:noFill/>
                    </a:lnL>
                    <a:lnR>
                      <a:noFill/>
                    </a:lnR>
                    <a:lnT>
                      <a:noFill/>
                    </a:lnT>
                    <a:lnB>
                      <a:noFill/>
                    </a:lnB>
                    <a:noFill/>
                  </a:tcPr>
                </a:tc>
                <a:extLst>
                  <a:ext uri="{0D108BD9-81ED-4DB2-BD59-A6C34878D82A}">
                    <a16:rowId xmlns:a16="http://schemas.microsoft.com/office/drawing/2014/main" val="755125913"/>
                  </a:ext>
                </a:extLst>
              </a:tr>
              <a:tr h="0">
                <a:tc>
                  <a:txBody>
                    <a:bodyPr/>
                    <a:lstStyle/>
                    <a:p>
                      <a:pPr>
                        <a:buNone/>
                      </a:pPr>
                      <a:r>
                        <a:rPr lang="en-US" b="1" dirty="0"/>
                        <a:t>AAE:</a:t>
                      </a:r>
                      <a:r>
                        <a:rPr lang="en-US" dirty="0"/>
                        <a:t> “I’m </a:t>
                      </a:r>
                      <a:r>
                        <a:rPr lang="en-US" dirty="0" err="1"/>
                        <a:t>gon</a:t>
                      </a:r>
                      <a:r>
                        <a:rPr lang="en-US" dirty="0"/>
                        <a:t>’ finish this later.”</a:t>
                      </a:r>
                    </a:p>
                  </a:txBody>
                  <a:tcPr anchor="ctr">
                    <a:lnL>
                      <a:noFill/>
                    </a:lnL>
                    <a:lnR>
                      <a:noFill/>
                    </a:lnR>
                    <a:lnT>
                      <a:noFill/>
                    </a:lnT>
                    <a:lnB>
                      <a:noFill/>
                    </a:lnB>
                    <a:noFill/>
                  </a:tcPr>
                </a:tc>
                <a:tc>
                  <a:txBody>
                    <a:bodyPr/>
                    <a:lstStyle/>
                    <a:p>
                      <a:pPr>
                        <a:buNone/>
                      </a:pPr>
                      <a:r>
                        <a:rPr lang="en-US" dirty="0"/>
                        <a:t>["</a:t>
                      </a:r>
                      <a:r>
                        <a:rPr lang="en-US" dirty="0" err="1"/>
                        <a:t>I","’m","g</a:t>
                      </a:r>
                      <a:r>
                        <a:rPr lang="en-US" dirty="0"/>
                        <a:t>","##</a:t>
                      </a:r>
                      <a:r>
                        <a:rPr lang="en-US" dirty="0" err="1"/>
                        <a:t>on","’","finish","this","later</a:t>
                      </a:r>
                      <a:r>
                        <a:rPr lang="en-US" dirty="0"/>
                        <a:t>","."]</a:t>
                      </a:r>
                    </a:p>
                  </a:txBody>
                  <a:tcPr anchor="ctr">
                    <a:lnL>
                      <a:noFill/>
                    </a:lnL>
                    <a:lnR>
                      <a:noFill/>
                    </a:lnR>
                    <a:lnT>
                      <a:noFill/>
                    </a:lnT>
                    <a:lnB>
                      <a:noFill/>
                    </a:lnB>
                    <a:noFill/>
                  </a:tcPr>
                </a:tc>
                <a:extLst>
                  <a:ext uri="{0D108BD9-81ED-4DB2-BD59-A6C34878D82A}">
                    <a16:rowId xmlns:a16="http://schemas.microsoft.com/office/drawing/2014/main" val="766825818"/>
                  </a:ext>
                </a:extLst>
              </a:tr>
            </a:tbl>
          </a:graphicData>
        </a:graphic>
      </p:graphicFrame>
      <p:graphicFrame>
        <p:nvGraphicFramePr>
          <p:cNvPr id="5" name="Table 4">
            <a:extLst>
              <a:ext uri="{FF2B5EF4-FFF2-40B4-BE49-F238E27FC236}">
                <a16:creationId xmlns:a16="http://schemas.microsoft.com/office/drawing/2014/main" id="{C957B94A-B4AE-DCD4-5568-C9CFBADB3463}"/>
              </a:ext>
            </a:extLst>
          </p:cNvPr>
          <p:cNvGraphicFramePr>
            <a:graphicFrameLocks noGrp="1"/>
          </p:cNvGraphicFramePr>
          <p:nvPr/>
        </p:nvGraphicFramePr>
        <p:xfrm>
          <a:off x="69856" y="4162680"/>
          <a:ext cx="12052288" cy="1615440"/>
        </p:xfrm>
        <a:graphic>
          <a:graphicData uri="http://schemas.openxmlformats.org/drawingml/2006/table">
            <a:tbl>
              <a:tblPr/>
              <a:tblGrid>
                <a:gridCol w="2218139">
                  <a:extLst>
                    <a:ext uri="{9D8B030D-6E8A-4147-A177-3AD203B41FA5}">
                      <a16:colId xmlns:a16="http://schemas.microsoft.com/office/drawing/2014/main" val="1128328124"/>
                    </a:ext>
                  </a:extLst>
                </a:gridCol>
                <a:gridCol w="1678887">
                  <a:extLst>
                    <a:ext uri="{9D8B030D-6E8A-4147-A177-3AD203B41FA5}">
                      <a16:colId xmlns:a16="http://schemas.microsoft.com/office/drawing/2014/main" val="508756493"/>
                    </a:ext>
                  </a:extLst>
                </a:gridCol>
                <a:gridCol w="2756942">
                  <a:extLst>
                    <a:ext uri="{9D8B030D-6E8A-4147-A177-3AD203B41FA5}">
                      <a16:colId xmlns:a16="http://schemas.microsoft.com/office/drawing/2014/main" val="391305773"/>
                    </a:ext>
                  </a:extLst>
                </a:gridCol>
                <a:gridCol w="5398320">
                  <a:extLst>
                    <a:ext uri="{9D8B030D-6E8A-4147-A177-3AD203B41FA5}">
                      <a16:colId xmlns:a16="http://schemas.microsoft.com/office/drawing/2014/main" val="2484003395"/>
                    </a:ext>
                  </a:extLst>
                </a:gridCol>
              </a:tblGrid>
              <a:tr h="0">
                <a:tc>
                  <a:txBody>
                    <a:bodyPr/>
                    <a:lstStyle/>
                    <a:p>
                      <a:pPr>
                        <a:buNone/>
                      </a:pPr>
                      <a:r>
                        <a:rPr lang="en-US" b="1"/>
                        <a:t>Type of Issue</a:t>
                      </a:r>
                      <a:endParaRPr lang="en-US"/>
                    </a:p>
                  </a:txBody>
                  <a:tcPr anchor="ctr">
                    <a:lnL>
                      <a:noFill/>
                    </a:lnL>
                    <a:lnR>
                      <a:noFill/>
                    </a:lnR>
                    <a:lnT>
                      <a:noFill/>
                    </a:lnT>
                    <a:lnB>
                      <a:noFill/>
                    </a:lnB>
                    <a:noFill/>
                  </a:tcPr>
                </a:tc>
                <a:tc>
                  <a:txBody>
                    <a:bodyPr/>
                    <a:lstStyle/>
                    <a:p>
                      <a:pPr>
                        <a:buNone/>
                      </a:pPr>
                      <a:r>
                        <a:rPr lang="en-US" b="1" dirty="0"/>
                        <a:t>Word</a:t>
                      </a:r>
                      <a:endParaRPr lang="en-US" dirty="0"/>
                    </a:p>
                  </a:txBody>
                  <a:tcPr anchor="ctr">
                    <a:lnL>
                      <a:noFill/>
                    </a:lnL>
                    <a:lnR>
                      <a:noFill/>
                    </a:lnR>
                    <a:lnT>
                      <a:noFill/>
                    </a:lnT>
                    <a:lnB>
                      <a:noFill/>
                    </a:lnB>
                    <a:noFill/>
                  </a:tcPr>
                </a:tc>
                <a:tc>
                  <a:txBody>
                    <a:bodyPr/>
                    <a:lstStyle/>
                    <a:p>
                      <a:pPr>
                        <a:buNone/>
                      </a:pPr>
                      <a:r>
                        <a:rPr lang="en-US" b="1"/>
                        <a:t>Likely Tokenization</a:t>
                      </a:r>
                      <a:endParaRPr lang="en-US"/>
                    </a:p>
                  </a:txBody>
                  <a:tcPr anchor="ctr">
                    <a:lnL>
                      <a:noFill/>
                    </a:lnL>
                    <a:lnR>
                      <a:noFill/>
                    </a:lnR>
                    <a:lnT>
                      <a:noFill/>
                    </a:lnT>
                    <a:lnB>
                      <a:noFill/>
                    </a:lnB>
                    <a:noFill/>
                  </a:tcPr>
                </a:tc>
                <a:tc>
                  <a:txBody>
                    <a:bodyPr/>
                    <a:lstStyle/>
                    <a:p>
                      <a:pPr>
                        <a:buNone/>
                      </a:pPr>
                      <a:r>
                        <a:rPr lang="en-US" b="1"/>
                        <a:t>Why It Matters</a:t>
                      </a:r>
                      <a:endParaRPr lang="en-US"/>
                    </a:p>
                  </a:txBody>
                  <a:tcPr anchor="ctr">
                    <a:lnL>
                      <a:noFill/>
                    </a:lnL>
                    <a:lnR>
                      <a:noFill/>
                    </a:lnR>
                    <a:lnT>
                      <a:noFill/>
                    </a:lnT>
                    <a:lnB>
                      <a:noFill/>
                    </a:lnB>
                    <a:noFill/>
                  </a:tcPr>
                </a:tc>
                <a:extLst>
                  <a:ext uri="{0D108BD9-81ED-4DB2-BD59-A6C34878D82A}">
                    <a16:rowId xmlns:a16="http://schemas.microsoft.com/office/drawing/2014/main" val="1526265958"/>
                  </a:ext>
                </a:extLst>
              </a:tr>
              <a:tr h="0">
                <a:tc>
                  <a:txBody>
                    <a:bodyPr/>
                    <a:lstStyle/>
                    <a:p>
                      <a:pPr>
                        <a:buNone/>
                      </a:pPr>
                      <a:r>
                        <a:rPr lang="en-US" sz="1600" dirty="0"/>
                        <a:t>Splitting compounds</a:t>
                      </a:r>
                    </a:p>
                  </a:txBody>
                  <a:tcPr anchor="ctr">
                    <a:lnL>
                      <a:noFill/>
                    </a:lnL>
                    <a:lnR>
                      <a:noFill/>
                    </a:lnR>
                    <a:lnT>
                      <a:noFill/>
                    </a:lnT>
                    <a:lnB>
                      <a:noFill/>
                    </a:lnB>
                    <a:noFill/>
                  </a:tcPr>
                </a:tc>
                <a:tc>
                  <a:txBody>
                    <a:bodyPr/>
                    <a:lstStyle/>
                    <a:p>
                      <a:pPr>
                        <a:buNone/>
                      </a:pPr>
                      <a:r>
                        <a:rPr lang="ja-JP" altLang="en-US" sz="1600"/>
                        <a:t>电脑 </a:t>
                      </a:r>
                      <a:r>
                        <a:rPr lang="en-US" altLang="ja-JP" sz="1600" dirty="0"/>
                        <a:t>(</a:t>
                      </a:r>
                      <a:r>
                        <a:rPr lang="en-US" sz="1600" dirty="0"/>
                        <a:t>computer)</a:t>
                      </a:r>
                    </a:p>
                  </a:txBody>
                  <a:tcPr anchor="ctr">
                    <a:lnL>
                      <a:noFill/>
                    </a:lnL>
                    <a:lnR>
                      <a:noFill/>
                    </a:lnR>
                    <a:lnT>
                      <a:noFill/>
                    </a:lnT>
                    <a:lnB>
                      <a:noFill/>
                    </a:lnB>
                    <a:noFill/>
                  </a:tcPr>
                </a:tc>
                <a:tc>
                  <a:txBody>
                    <a:bodyPr/>
                    <a:lstStyle/>
                    <a:p>
                      <a:pPr>
                        <a:buNone/>
                      </a:pPr>
                      <a:r>
                        <a:rPr lang="en-US" altLang="ja-JP" sz="1600" dirty="0"/>
                        <a:t>["</a:t>
                      </a:r>
                      <a:r>
                        <a:rPr lang="ja-JP" altLang="en-US" sz="1600"/>
                        <a:t>电</a:t>
                      </a:r>
                      <a:r>
                        <a:rPr lang="en-US" altLang="ja-JP" sz="1600" dirty="0"/>
                        <a:t>","</a:t>
                      </a:r>
                      <a:r>
                        <a:rPr lang="ja-JP" altLang="en-US" sz="1600"/>
                        <a:t>脑</a:t>
                      </a:r>
                      <a:r>
                        <a:rPr lang="en-US" altLang="ja-JP" sz="1600" dirty="0"/>
                        <a:t>"]</a:t>
                      </a:r>
                    </a:p>
                  </a:txBody>
                  <a:tcPr anchor="ctr">
                    <a:lnL>
                      <a:noFill/>
                    </a:lnL>
                    <a:lnR>
                      <a:noFill/>
                    </a:lnR>
                    <a:lnT>
                      <a:noFill/>
                    </a:lnT>
                    <a:lnB>
                      <a:noFill/>
                    </a:lnB>
                    <a:noFill/>
                  </a:tcPr>
                </a:tc>
                <a:tc>
                  <a:txBody>
                    <a:bodyPr/>
                    <a:lstStyle/>
                    <a:p>
                      <a:pPr>
                        <a:buNone/>
                      </a:pPr>
                      <a:r>
                        <a:rPr lang="en-US" sz="1600"/>
                        <a:t>Loses lexical identity; weakens semantic representation</a:t>
                      </a:r>
                    </a:p>
                  </a:txBody>
                  <a:tcPr anchor="ctr">
                    <a:lnL>
                      <a:noFill/>
                    </a:lnL>
                    <a:lnR>
                      <a:noFill/>
                    </a:lnR>
                    <a:lnT>
                      <a:noFill/>
                    </a:lnT>
                    <a:lnB>
                      <a:noFill/>
                    </a:lnB>
                    <a:noFill/>
                  </a:tcPr>
                </a:tc>
                <a:extLst>
                  <a:ext uri="{0D108BD9-81ED-4DB2-BD59-A6C34878D82A}">
                    <a16:rowId xmlns:a16="http://schemas.microsoft.com/office/drawing/2014/main" val="1448771291"/>
                  </a:ext>
                </a:extLst>
              </a:tr>
              <a:tr h="0">
                <a:tc>
                  <a:txBody>
                    <a:bodyPr/>
                    <a:lstStyle/>
                    <a:p>
                      <a:pPr>
                        <a:buNone/>
                      </a:pPr>
                      <a:r>
                        <a:rPr lang="en-US" sz="1600" dirty="0"/>
                        <a:t>Splitting compounds</a:t>
                      </a:r>
                    </a:p>
                  </a:txBody>
                  <a:tcPr anchor="ctr">
                    <a:lnL>
                      <a:noFill/>
                    </a:lnL>
                    <a:lnR>
                      <a:noFill/>
                    </a:lnR>
                    <a:lnT>
                      <a:noFill/>
                    </a:lnT>
                    <a:lnB>
                      <a:noFill/>
                    </a:lnB>
                    <a:noFill/>
                  </a:tcPr>
                </a:tc>
                <a:tc>
                  <a:txBody>
                    <a:bodyPr/>
                    <a:lstStyle/>
                    <a:p>
                      <a:pPr>
                        <a:buNone/>
                      </a:pPr>
                      <a:r>
                        <a:rPr lang="ja-JP" altLang="en-US" sz="1600"/>
                        <a:t>手机 </a:t>
                      </a:r>
                      <a:r>
                        <a:rPr lang="en-US" altLang="ja-JP" sz="1600" dirty="0"/>
                        <a:t>(cell </a:t>
                      </a:r>
                      <a:r>
                        <a:rPr lang="en-US" sz="1600" dirty="0"/>
                        <a:t>phone)</a:t>
                      </a:r>
                    </a:p>
                  </a:txBody>
                  <a:tcPr anchor="ctr">
                    <a:lnL>
                      <a:noFill/>
                    </a:lnL>
                    <a:lnR>
                      <a:noFill/>
                    </a:lnR>
                    <a:lnT>
                      <a:noFill/>
                    </a:lnT>
                    <a:lnB>
                      <a:noFill/>
                    </a:lnB>
                    <a:noFill/>
                  </a:tcPr>
                </a:tc>
                <a:tc>
                  <a:txBody>
                    <a:bodyPr/>
                    <a:lstStyle/>
                    <a:p>
                      <a:pPr>
                        <a:buNone/>
                      </a:pPr>
                      <a:r>
                        <a:rPr lang="en-US" altLang="ja-JP" sz="1600" dirty="0"/>
                        <a:t>["</a:t>
                      </a:r>
                      <a:r>
                        <a:rPr lang="ja-JP" altLang="en-US" sz="1600"/>
                        <a:t>手</a:t>
                      </a:r>
                      <a:r>
                        <a:rPr lang="en-US" altLang="ja-JP" sz="1600" dirty="0"/>
                        <a:t>","</a:t>
                      </a:r>
                      <a:r>
                        <a:rPr lang="ja-JP" altLang="en-US" sz="1600"/>
                        <a:t>机</a:t>
                      </a:r>
                      <a:r>
                        <a:rPr lang="en-US" altLang="ja-JP" sz="1600" dirty="0"/>
                        <a:t>"]</a:t>
                      </a:r>
                    </a:p>
                  </a:txBody>
                  <a:tcPr anchor="ctr">
                    <a:lnL>
                      <a:noFill/>
                    </a:lnL>
                    <a:lnR>
                      <a:noFill/>
                    </a:lnR>
                    <a:lnT>
                      <a:noFill/>
                    </a:lnT>
                    <a:lnB>
                      <a:noFill/>
                    </a:lnB>
                    <a:noFill/>
                  </a:tcPr>
                </a:tc>
                <a:tc>
                  <a:txBody>
                    <a:bodyPr/>
                    <a:lstStyle/>
                    <a:p>
                      <a:pPr>
                        <a:buNone/>
                      </a:pPr>
                      <a:r>
                        <a:rPr lang="en-US" sz="1600" dirty="0"/>
                        <a:t>Forces model to infer meaning from parts</a:t>
                      </a:r>
                    </a:p>
                  </a:txBody>
                  <a:tcPr anchor="ctr">
                    <a:lnL>
                      <a:noFill/>
                    </a:lnL>
                    <a:lnR>
                      <a:noFill/>
                    </a:lnR>
                    <a:lnT>
                      <a:noFill/>
                    </a:lnT>
                    <a:lnB>
                      <a:noFill/>
                    </a:lnB>
                    <a:noFill/>
                  </a:tcPr>
                </a:tc>
                <a:extLst>
                  <a:ext uri="{0D108BD9-81ED-4DB2-BD59-A6C34878D82A}">
                    <a16:rowId xmlns:a16="http://schemas.microsoft.com/office/drawing/2014/main" val="2028810854"/>
                  </a:ext>
                </a:extLst>
              </a:tr>
              <a:tr h="0">
                <a:tc>
                  <a:txBody>
                    <a:bodyPr/>
                    <a:lstStyle/>
                    <a:p>
                      <a:pPr>
                        <a:buNone/>
                      </a:pPr>
                      <a:r>
                        <a:rPr lang="en-US" sz="1600" dirty="0"/>
                        <a:t>Splitting inflected words</a:t>
                      </a:r>
                    </a:p>
                  </a:txBody>
                  <a:tcPr anchor="ctr">
                    <a:lnL>
                      <a:noFill/>
                    </a:lnL>
                    <a:lnR>
                      <a:noFill/>
                    </a:lnR>
                    <a:lnT>
                      <a:noFill/>
                    </a:lnT>
                    <a:lnB>
                      <a:noFill/>
                    </a:lnB>
                    <a:noFill/>
                  </a:tcPr>
                </a:tc>
                <a:tc>
                  <a:txBody>
                    <a:bodyPr/>
                    <a:lstStyle/>
                    <a:p>
                      <a:pPr>
                        <a:buNone/>
                      </a:pPr>
                      <a:r>
                        <a:rPr lang="en-US" sz="1600" dirty="0"/>
                        <a:t>jumping, </a:t>
                      </a:r>
                    </a:p>
                    <a:p>
                      <a:pPr>
                        <a:buNone/>
                      </a:pPr>
                      <a:r>
                        <a:rPr lang="en-US" sz="1600" dirty="0"/>
                        <a:t>jumped</a:t>
                      </a:r>
                    </a:p>
                  </a:txBody>
                  <a:tcPr anchor="ctr">
                    <a:lnL>
                      <a:noFill/>
                    </a:lnL>
                    <a:lnR>
                      <a:noFill/>
                    </a:lnR>
                    <a:lnT>
                      <a:noFill/>
                    </a:lnT>
                    <a:lnB>
                      <a:noFill/>
                    </a:lnB>
                    <a:noFill/>
                  </a:tcPr>
                </a:tc>
                <a:tc>
                  <a:txBody>
                    <a:bodyPr/>
                    <a:lstStyle/>
                    <a:p>
                      <a:pPr>
                        <a:buNone/>
                      </a:pPr>
                      <a:r>
                        <a:rPr lang="en-US" altLang="ja-JP" sz="1600" dirty="0"/>
                        <a:t>[“jumping”] or [“jump”, “</a:t>
                      </a:r>
                      <a:r>
                        <a:rPr lang="en-US" altLang="ja-JP" sz="1600" dirty="0" err="1"/>
                        <a:t>ing</a:t>
                      </a:r>
                      <a:r>
                        <a:rPr lang="en-US" altLang="ja-JP" sz="16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[“jumped”] or [“jump”, “ed”]</a:t>
                      </a:r>
                    </a:p>
                  </a:txBody>
                  <a:tcPr anchor="ctr">
                    <a:lnL>
                      <a:noFill/>
                    </a:lnL>
                    <a:lnR>
                      <a:noFill/>
                    </a:lnR>
                    <a:lnT>
                      <a:noFill/>
                    </a:lnT>
                    <a:lnB>
                      <a:noFill/>
                    </a:lnB>
                    <a:noFill/>
                  </a:tcPr>
                </a:tc>
                <a:tc>
                  <a:txBody>
                    <a:bodyPr/>
                    <a:lstStyle/>
                    <a:p>
                      <a:pPr>
                        <a:buNone/>
                      </a:pPr>
                      <a:r>
                        <a:rPr lang="en-US" sz="1600" dirty="0"/>
                        <a:t>learning to track parts separately vs. being told the whole thing matters</a:t>
                      </a:r>
                    </a:p>
                  </a:txBody>
                  <a:tcPr anchor="ctr">
                    <a:lnL>
                      <a:noFill/>
                    </a:lnL>
                    <a:lnR>
                      <a:noFill/>
                    </a:lnR>
                    <a:lnT>
                      <a:noFill/>
                    </a:lnT>
                    <a:lnB>
                      <a:noFill/>
                    </a:lnB>
                    <a:noFill/>
                  </a:tcPr>
                </a:tc>
                <a:extLst>
                  <a:ext uri="{0D108BD9-81ED-4DB2-BD59-A6C34878D82A}">
                    <a16:rowId xmlns:a16="http://schemas.microsoft.com/office/drawing/2014/main" val="3453569322"/>
                  </a:ext>
                </a:extLst>
              </a:tr>
            </a:tbl>
          </a:graphicData>
        </a:graphic>
      </p:graphicFrame>
    </p:spTree>
    <p:extLst>
      <p:ext uri="{BB962C8B-B14F-4D97-AF65-F5344CB8AC3E}">
        <p14:creationId xmlns:p14="http://schemas.microsoft.com/office/powerpoint/2010/main" val="164146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E8702-3C9A-FBEB-D398-5B4EA795118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1E1B8EA7-929B-89E2-1898-83AC5EDFC1B7}"/>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Defining Language Models</a:t>
            </a:r>
            <a:endParaRPr lang="en-US" dirty="0"/>
          </a:p>
        </p:txBody>
      </p:sp>
      <p:sp>
        <p:nvSpPr>
          <p:cNvPr id="3" name="TextBox 2">
            <a:extLst>
              <a:ext uri="{FF2B5EF4-FFF2-40B4-BE49-F238E27FC236}">
                <a16:creationId xmlns:a16="http://schemas.microsoft.com/office/drawing/2014/main" id="{8124C3B6-9906-6577-9192-600F3249845C}"/>
              </a:ext>
            </a:extLst>
          </p:cNvPr>
          <p:cNvSpPr txBox="1"/>
          <p:nvPr/>
        </p:nvSpPr>
        <p:spPr>
          <a:xfrm>
            <a:off x="534572" y="1246558"/>
            <a:ext cx="10241280" cy="3908762"/>
          </a:xfrm>
          <a:prstGeom prst="rect">
            <a:avLst/>
          </a:prstGeom>
          <a:noFill/>
        </p:spPr>
        <p:txBody>
          <a:bodyPr wrap="square">
            <a:spAutoFit/>
          </a:bodyPr>
          <a:lstStyle/>
          <a:p>
            <a:r>
              <a:rPr lang="en-US" sz="2800" b="1" dirty="0"/>
              <a:t>What counts as a “good” model:</a:t>
            </a:r>
          </a:p>
          <a:p>
            <a:endParaRPr lang="en-US" sz="2800" b="1" dirty="0"/>
          </a:p>
          <a:p>
            <a:pPr marL="457200" indent="-457200">
              <a:buFont typeface="Arial" panose="020B0604020202020204" pitchFamily="34" charset="0"/>
              <a:buChar char="•"/>
            </a:pPr>
            <a:r>
              <a:rPr lang="en-US" sz="2400" b="1" dirty="0"/>
              <a:t>Engineering/CS:</a:t>
            </a:r>
            <a:r>
              <a:rPr lang="en-US" sz="2400" dirty="0"/>
              <a:t> does the model predict and generate text effectively for useful tasks.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b="1" dirty="0"/>
              <a:t>Psychology and Cognitive Science:</a:t>
            </a:r>
            <a:r>
              <a:rPr lang="en-US" sz="2400" dirty="0"/>
              <a:t> is the model is a plausible mechanism for human language behavior and representations.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b="1" dirty="0"/>
              <a:t>Linguistics:</a:t>
            </a:r>
            <a:r>
              <a:rPr lang="en-US" sz="2400" dirty="0"/>
              <a:t> does the model capture systematic structure and generalization in ways that inform theories of grammar.</a:t>
            </a:r>
          </a:p>
        </p:txBody>
      </p:sp>
    </p:spTree>
    <p:extLst>
      <p:ext uri="{BB962C8B-B14F-4D97-AF65-F5344CB8AC3E}">
        <p14:creationId xmlns:p14="http://schemas.microsoft.com/office/powerpoint/2010/main" val="35422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D295D-1867-09EE-26D5-9D9EF12751A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2A8C6F5B-D53E-DFBC-FEC4-E237621DFBD7}"/>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Defining Language Models</a:t>
            </a:r>
            <a:endParaRPr lang="en-US" dirty="0"/>
          </a:p>
        </p:txBody>
      </p:sp>
      <p:sp>
        <p:nvSpPr>
          <p:cNvPr id="3" name="TextBox 2">
            <a:extLst>
              <a:ext uri="{FF2B5EF4-FFF2-40B4-BE49-F238E27FC236}">
                <a16:creationId xmlns:a16="http://schemas.microsoft.com/office/drawing/2014/main" id="{909B170C-6A23-2617-B4B1-F301F01D5046}"/>
              </a:ext>
            </a:extLst>
          </p:cNvPr>
          <p:cNvSpPr txBox="1"/>
          <p:nvPr/>
        </p:nvSpPr>
        <p:spPr>
          <a:xfrm>
            <a:off x="534572" y="1246558"/>
            <a:ext cx="10241280" cy="3908762"/>
          </a:xfrm>
          <a:prstGeom prst="rect">
            <a:avLst/>
          </a:prstGeom>
          <a:noFill/>
        </p:spPr>
        <p:txBody>
          <a:bodyPr wrap="square">
            <a:spAutoFit/>
          </a:bodyPr>
          <a:lstStyle/>
          <a:p>
            <a:r>
              <a:rPr lang="en-US" sz="2800" b="1" dirty="0"/>
              <a:t>Discussion Question 2</a:t>
            </a:r>
            <a:endParaRPr lang="en-US" sz="2800" dirty="0"/>
          </a:p>
          <a:p>
            <a:endParaRPr lang="en-US" sz="2800" b="1" dirty="0"/>
          </a:p>
          <a:p>
            <a:r>
              <a:rPr lang="en-US" sz="2400" dirty="0"/>
              <a:t>If someone says “ChatGPT understands language” or that “ChatGPT doesn’t understand language”, what are they actually claiming?</a:t>
            </a:r>
          </a:p>
          <a:p>
            <a:endParaRPr lang="en-US" sz="2400" dirty="0"/>
          </a:p>
          <a:p>
            <a:r>
              <a:rPr lang="en-US" sz="2400" dirty="0"/>
              <a:t>How does the claim change depending on whether we’re coming from engineering, cognitive science, or linguistics?</a:t>
            </a:r>
          </a:p>
          <a:p>
            <a:endParaRPr lang="en-US" sz="2400" dirty="0"/>
          </a:p>
          <a:p>
            <a:r>
              <a:rPr lang="en-US" sz="2400" dirty="0"/>
              <a:t>Give two concrete tests that would count as evidence and one plausible right-for-the-wrong-reasons explanation.</a:t>
            </a:r>
          </a:p>
        </p:txBody>
      </p:sp>
    </p:spTree>
    <p:extLst>
      <p:ext uri="{BB962C8B-B14F-4D97-AF65-F5344CB8AC3E}">
        <p14:creationId xmlns:p14="http://schemas.microsoft.com/office/powerpoint/2010/main" val="2227305572"/>
      </p:ext>
    </p:extLst>
  </p:cSld>
  <p:clrMapOvr>
    <a:masterClrMapping/>
  </p:clrMapOvr>
</p:sld>
</file>

<file path=ppt/theme/theme1.xml><?xml version="1.0" encoding="utf-8"?>
<a:theme xmlns:a="http://schemas.openxmlformats.org/drawingml/2006/main" name="Custom Design">
  <a:themeElements>
    <a:clrScheme name="Custom 5">
      <a:dk1>
        <a:srgbClr val="13284B"/>
      </a:dk1>
      <a:lt1>
        <a:srgbClr val="FFFFFF"/>
      </a:lt1>
      <a:dk2>
        <a:srgbClr val="1E3877"/>
      </a:dk2>
      <a:lt2>
        <a:srgbClr val="F8FAFC"/>
      </a:lt2>
      <a:accent1>
        <a:srgbClr val="FF552E"/>
      </a:accent1>
      <a:accent2>
        <a:srgbClr val="1D58A7"/>
      </a:accent2>
      <a:accent3>
        <a:srgbClr val="F5821E"/>
      </a:accent3>
      <a:accent4>
        <a:srgbClr val="009FD3"/>
      </a:accent4>
      <a:accent5>
        <a:srgbClr val="DD3403"/>
      </a:accent5>
      <a:accent6>
        <a:srgbClr val="D2D2D2"/>
      </a:accent6>
      <a:hlink>
        <a:srgbClr val="1D58A7"/>
      </a:hlink>
      <a:folHlink>
        <a:srgbClr val="DD340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9" id="{EB6B2FBE-53CE-AE45-9D18-D10FBF4063E0}" vid="{7AC8A834-0896-8341-9AC3-2DE1C842C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 Design</Template>
  <TotalTime>45751</TotalTime>
  <Words>1705</Words>
  <Application>Microsoft Macintosh PowerPoint</Application>
  <PresentationFormat>Widescreen</PresentationFormat>
  <Paragraphs>169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Custom Design</vt:lpstr>
      <vt:lpstr>PSYC 496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Willits, Jon Anthony</dc:creator>
  <cp:lastModifiedBy>Willits, Jon Anthony</cp:lastModifiedBy>
  <cp:revision>539</cp:revision>
  <cp:lastPrinted>2025-11-07T13:39:49Z</cp:lastPrinted>
  <dcterms:created xsi:type="dcterms:W3CDTF">2022-08-22T20:35:14Z</dcterms:created>
  <dcterms:modified xsi:type="dcterms:W3CDTF">2026-02-12T20:10:24Z</dcterms:modified>
</cp:coreProperties>
</file>