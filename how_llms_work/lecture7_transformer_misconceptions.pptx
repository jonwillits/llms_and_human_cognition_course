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1"/>
  </p:sldMasterIdLst>
  <p:notesMasterIdLst>
    <p:notesMasterId r:id="rId20"/>
  </p:notesMasterIdLst>
  <p:sldIdLst>
    <p:sldId id="256" r:id="rId2"/>
    <p:sldId id="399" r:id="rId3"/>
    <p:sldId id="414" r:id="rId4"/>
    <p:sldId id="415" r:id="rId5"/>
    <p:sldId id="413" r:id="rId6"/>
    <p:sldId id="416" r:id="rId7"/>
    <p:sldId id="447" r:id="rId8"/>
    <p:sldId id="429" r:id="rId9"/>
    <p:sldId id="430" r:id="rId10"/>
    <p:sldId id="419" r:id="rId11"/>
    <p:sldId id="420" r:id="rId12"/>
    <p:sldId id="421" r:id="rId13"/>
    <p:sldId id="422" r:id="rId14"/>
    <p:sldId id="423" r:id="rId15"/>
    <p:sldId id="424" r:id="rId16"/>
    <p:sldId id="425" r:id="rId17"/>
    <p:sldId id="426" r:id="rId18"/>
    <p:sldId id="42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32C"/>
    <a:srgbClr val="FF552E"/>
    <a:srgbClr val="FFEAE8"/>
    <a:srgbClr val="FFD2CD"/>
    <a:srgbClr val="E84A27"/>
    <a:srgbClr val="FFEAE9"/>
    <a:srgbClr val="9DBBA6"/>
    <a:srgbClr val="131F33"/>
    <a:srgbClr val="1329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24"/>
    <p:restoredTop sz="70340"/>
  </p:normalViewPr>
  <p:slideViewPr>
    <p:cSldViewPr snapToGrid="0" snapToObjects="1">
      <p:cViewPr varScale="1">
        <p:scale>
          <a:sx n="83" d="100"/>
          <a:sy n="83" d="100"/>
        </p:scale>
        <p:origin x="2016" y="208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DA803F-9B8E-6B4A-B2EC-D67A8193DDB0}" type="doc">
      <dgm:prSet loTypeId="urn:microsoft.com/office/officeart/2005/8/layout/chart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E48202E-9C49-1F4C-8F47-6C4A826F66B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400" b="1"/>
            <a:t>Fluency &amp; Coherence</a:t>
          </a:r>
          <a:endParaRPr lang="en-US" sz="2400"/>
        </a:p>
      </dgm:t>
    </dgm:pt>
    <dgm:pt modelId="{7C970F80-9249-7D47-B319-38D8B76DAF3C}" type="parTrans" cxnId="{9DC438F7-AF4F-CC45-8EB4-67876AFEE743}">
      <dgm:prSet/>
      <dgm:spPr/>
      <dgm:t>
        <a:bodyPr/>
        <a:lstStyle/>
        <a:p>
          <a:endParaRPr lang="en-US" sz="2400"/>
        </a:p>
      </dgm:t>
    </dgm:pt>
    <dgm:pt modelId="{413A2804-4D15-0347-BA9C-0BF3C3C79AC9}" type="sibTrans" cxnId="{9DC438F7-AF4F-CC45-8EB4-67876AFEE743}">
      <dgm:prSet/>
      <dgm:spPr/>
      <dgm:t>
        <a:bodyPr/>
        <a:lstStyle/>
        <a:p>
          <a:endParaRPr lang="en-US" sz="2400"/>
        </a:p>
      </dgm:t>
    </dgm:pt>
    <dgm:pt modelId="{EDAAD21B-ADAB-D141-B20A-6AD994AF187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400" b="1"/>
            <a:t>Generalization From Patterns</a:t>
          </a:r>
          <a:endParaRPr lang="en-US" sz="2400"/>
        </a:p>
      </dgm:t>
    </dgm:pt>
    <dgm:pt modelId="{CBF18164-07BA-2345-8F5D-638ECF55581D}" type="parTrans" cxnId="{8A6556AF-F85D-3642-9E34-3DCDC3DD63A0}">
      <dgm:prSet/>
      <dgm:spPr/>
      <dgm:t>
        <a:bodyPr/>
        <a:lstStyle/>
        <a:p>
          <a:endParaRPr lang="en-US" sz="2400"/>
        </a:p>
      </dgm:t>
    </dgm:pt>
    <dgm:pt modelId="{FAAAE886-3548-F04A-8F98-36AD8274FD46}" type="sibTrans" cxnId="{8A6556AF-F85D-3642-9E34-3DCDC3DD63A0}">
      <dgm:prSet/>
      <dgm:spPr/>
      <dgm:t>
        <a:bodyPr/>
        <a:lstStyle/>
        <a:p>
          <a:endParaRPr lang="en-US" sz="2400"/>
        </a:p>
      </dgm:t>
    </dgm:pt>
    <dgm:pt modelId="{A0898D51-FB87-674E-99B0-4D057F31202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400" b="1" dirty="0"/>
            <a:t>Long-Range Context Handling</a:t>
          </a:r>
          <a:r>
            <a:rPr lang="en-US" sz="2400" dirty="0"/>
            <a:t> (due to attention)</a:t>
          </a:r>
        </a:p>
      </dgm:t>
    </dgm:pt>
    <dgm:pt modelId="{2D484D47-4D95-D04A-A262-BEB0FD0759F7}" type="parTrans" cxnId="{618558F7-1C95-754E-BE2C-07F335B4FAA3}">
      <dgm:prSet/>
      <dgm:spPr/>
      <dgm:t>
        <a:bodyPr/>
        <a:lstStyle/>
        <a:p>
          <a:endParaRPr lang="en-US" sz="2400"/>
        </a:p>
      </dgm:t>
    </dgm:pt>
    <dgm:pt modelId="{1090C910-4C84-4348-A64A-644CAC9B30A6}" type="sibTrans" cxnId="{618558F7-1C95-754E-BE2C-07F335B4FAA3}">
      <dgm:prSet/>
      <dgm:spPr/>
      <dgm:t>
        <a:bodyPr/>
        <a:lstStyle/>
        <a:p>
          <a:endParaRPr lang="en-US" sz="2400"/>
        </a:p>
      </dgm:t>
    </dgm:pt>
    <dgm:pt modelId="{3F7907EE-98E7-FF4A-9716-60ACAD40765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400" b="1" dirty="0"/>
            <a:t>Rapid Task Adaptation</a:t>
          </a:r>
          <a:r>
            <a:rPr lang="en-US" sz="2400" dirty="0"/>
            <a:t> (via prompting)</a:t>
          </a:r>
        </a:p>
      </dgm:t>
    </dgm:pt>
    <dgm:pt modelId="{4ACAE966-F1EA-6D41-A720-2E233BB5B108}" type="parTrans" cxnId="{14554586-8EF4-064F-9C8D-62E958C6608C}">
      <dgm:prSet/>
      <dgm:spPr/>
      <dgm:t>
        <a:bodyPr/>
        <a:lstStyle/>
        <a:p>
          <a:endParaRPr lang="en-US" sz="2400"/>
        </a:p>
      </dgm:t>
    </dgm:pt>
    <dgm:pt modelId="{D5CE4F1D-D316-F546-B052-8C032F922060}" type="sibTrans" cxnId="{14554586-8EF4-064F-9C8D-62E958C6608C}">
      <dgm:prSet/>
      <dgm:spPr/>
      <dgm:t>
        <a:bodyPr/>
        <a:lstStyle/>
        <a:p>
          <a:endParaRPr lang="en-US" sz="2400"/>
        </a:p>
      </dgm:t>
    </dgm:pt>
    <dgm:pt modelId="{3E90F3D0-0586-5441-9E8E-7B8835E21DE4}" type="pres">
      <dgm:prSet presAssocID="{AEDA803F-9B8E-6B4A-B2EC-D67A8193DDB0}" presName="compositeShape" presStyleCnt="0">
        <dgm:presLayoutVars>
          <dgm:chMax val="7"/>
          <dgm:dir/>
          <dgm:resizeHandles val="exact"/>
        </dgm:presLayoutVars>
      </dgm:prSet>
      <dgm:spPr/>
    </dgm:pt>
    <dgm:pt modelId="{E3CC8036-AE7E-D141-8F6E-81E0086C5935}" type="pres">
      <dgm:prSet presAssocID="{AEDA803F-9B8E-6B4A-B2EC-D67A8193DDB0}" presName="wedge1" presStyleLbl="node1" presStyleIdx="0" presStyleCnt="4" custLinFactNeighborX="-4085" custLinFactNeighborY="3570"/>
      <dgm:spPr/>
    </dgm:pt>
    <dgm:pt modelId="{8617C6B1-5520-0F4F-8857-D1AC7B663D0A}" type="pres">
      <dgm:prSet presAssocID="{AEDA803F-9B8E-6B4A-B2EC-D67A8193DDB0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C8B6752-D8DE-894D-8B1C-C62AD5C6C8DE}" type="pres">
      <dgm:prSet presAssocID="{AEDA803F-9B8E-6B4A-B2EC-D67A8193DDB0}" presName="wedge2" presStyleLbl="node1" presStyleIdx="1" presStyleCnt="4"/>
      <dgm:spPr/>
    </dgm:pt>
    <dgm:pt modelId="{F3CE35E8-D435-2446-9E0C-0E65BC8EA21E}" type="pres">
      <dgm:prSet presAssocID="{AEDA803F-9B8E-6B4A-B2EC-D67A8193DDB0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CAC984B-DD94-9A43-9A17-0A9B1BA03601}" type="pres">
      <dgm:prSet presAssocID="{AEDA803F-9B8E-6B4A-B2EC-D67A8193DDB0}" presName="wedge3" presStyleLbl="node1" presStyleIdx="2" presStyleCnt="4"/>
      <dgm:spPr/>
    </dgm:pt>
    <dgm:pt modelId="{E601263C-78B1-3F4E-A95A-0C67ED3C61A7}" type="pres">
      <dgm:prSet presAssocID="{AEDA803F-9B8E-6B4A-B2EC-D67A8193DDB0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198ABC0-0B34-9543-BA22-F503157E608C}" type="pres">
      <dgm:prSet presAssocID="{AEDA803F-9B8E-6B4A-B2EC-D67A8193DDB0}" presName="wedge4" presStyleLbl="node1" presStyleIdx="3" presStyleCnt="4" custLinFactNeighborX="38" custLinFactNeighborY="-644"/>
      <dgm:spPr/>
    </dgm:pt>
    <dgm:pt modelId="{6E63FF68-CDF2-7A4D-AB5A-3994E3BB833F}" type="pres">
      <dgm:prSet presAssocID="{AEDA803F-9B8E-6B4A-B2EC-D67A8193DDB0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382BE19-E888-8F4C-B3F7-149DE62EEF4E}" type="presOf" srcId="{0E48202E-9C49-1F4C-8F47-6C4A826F66B1}" destId="{8617C6B1-5520-0F4F-8857-D1AC7B663D0A}" srcOrd="1" destOrd="0" presId="urn:microsoft.com/office/officeart/2005/8/layout/chart3"/>
    <dgm:cxn modelId="{1F5E7A24-4899-7448-8F59-F764A5233C66}" type="presOf" srcId="{3F7907EE-98E7-FF4A-9716-60ACAD40765D}" destId="{6E63FF68-CDF2-7A4D-AB5A-3994E3BB833F}" srcOrd="1" destOrd="0" presId="urn:microsoft.com/office/officeart/2005/8/layout/chart3"/>
    <dgm:cxn modelId="{8ABFEE81-DF04-D547-8D32-EACD1606FBF4}" type="presOf" srcId="{A0898D51-FB87-674E-99B0-4D057F312029}" destId="{0CAC984B-DD94-9A43-9A17-0A9B1BA03601}" srcOrd="0" destOrd="0" presId="urn:microsoft.com/office/officeart/2005/8/layout/chart3"/>
    <dgm:cxn modelId="{90BDB483-1F0E-B54A-9517-A18E7F59334C}" type="presOf" srcId="{A0898D51-FB87-674E-99B0-4D057F312029}" destId="{E601263C-78B1-3F4E-A95A-0C67ED3C61A7}" srcOrd="1" destOrd="0" presId="urn:microsoft.com/office/officeart/2005/8/layout/chart3"/>
    <dgm:cxn modelId="{14554586-8EF4-064F-9C8D-62E958C6608C}" srcId="{AEDA803F-9B8E-6B4A-B2EC-D67A8193DDB0}" destId="{3F7907EE-98E7-FF4A-9716-60ACAD40765D}" srcOrd="3" destOrd="0" parTransId="{4ACAE966-F1EA-6D41-A720-2E233BB5B108}" sibTransId="{D5CE4F1D-D316-F546-B052-8C032F922060}"/>
    <dgm:cxn modelId="{1EE7618D-8D5D-6240-B509-E9B9D27AEB09}" type="presOf" srcId="{EDAAD21B-ADAB-D141-B20A-6AD994AF1870}" destId="{F3CE35E8-D435-2446-9E0C-0E65BC8EA21E}" srcOrd="1" destOrd="0" presId="urn:microsoft.com/office/officeart/2005/8/layout/chart3"/>
    <dgm:cxn modelId="{13A6059D-B3D2-C842-AF8A-615E1F45E9CA}" type="presOf" srcId="{0E48202E-9C49-1F4C-8F47-6C4A826F66B1}" destId="{E3CC8036-AE7E-D141-8F6E-81E0086C5935}" srcOrd="0" destOrd="0" presId="urn:microsoft.com/office/officeart/2005/8/layout/chart3"/>
    <dgm:cxn modelId="{EC2E86A9-ED25-BB49-914C-3C4F8762F6D2}" type="presOf" srcId="{3F7907EE-98E7-FF4A-9716-60ACAD40765D}" destId="{9198ABC0-0B34-9543-BA22-F503157E608C}" srcOrd="0" destOrd="0" presId="urn:microsoft.com/office/officeart/2005/8/layout/chart3"/>
    <dgm:cxn modelId="{8A6556AF-F85D-3642-9E34-3DCDC3DD63A0}" srcId="{AEDA803F-9B8E-6B4A-B2EC-D67A8193DDB0}" destId="{EDAAD21B-ADAB-D141-B20A-6AD994AF1870}" srcOrd="1" destOrd="0" parTransId="{CBF18164-07BA-2345-8F5D-638ECF55581D}" sibTransId="{FAAAE886-3548-F04A-8F98-36AD8274FD46}"/>
    <dgm:cxn modelId="{64FFC3AF-6DA7-A940-9B59-9DF9E686D458}" type="presOf" srcId="{EDAAD21B-ADAB-D141-B20A-6AD994AF1870}" destId="{6C8B6752-D8DE-894D-8B1C-C62AD5C6C8DE}" srcOrd="0" destOrd="0" presId="urn:microsoft.com/office/officeart/2005/8/layout/chart3"/>
    <dgm:cxn modelId="{FBD97FB2-8465-1642-A538-4A062E4F60DA}" type="presOf" srcId="{AEDA803F-9B8E-6B4A-B2EC-D67A8193DDB0}" destId="{3E90F3D0-0586-5441-9E8E-7B8835E21DE4}" srcOrd="0" destOrd="0" presId="urn:microsoft.com/office/officeart/2005/8/layout/chart3"/>
    <dgm:cxn modelId="{9DC438F7-AF4F-CC45-8EB4-67876AFEE743}" srcId="{AEDA803F-9B8E-6B4A-B2EC-D67A8193DDB0}" destId="{0E48202E-9C49-1F4C-8F47-6C4A826F66B1}" srcOrd="0" destOrd="0" parTransId="{7C970F80-9249-7D47-B319-38D8B76DAF3C}" sibTransId="{413A2804-4D15-0347-BA9C-0BF3C3C79AC9}"/>
    <dgm:cxn modelId="{618558F7-1C95-754E-BE2C-07F335B4FAA3}" srcId="{AEDA803F-9B8E-6B4A-B2EC-D67A8193DDB0}" destId="{A0898D51-FB87-674E-99B0-4D057F312029}" srcOrd="2" destOrd="0" parTransId="{2D484D47-4D95-D04A-A262-BEB0FD0759F7}" sibTransId="{1090C910-4C84-4348-A64A-644CAC9B30A6}"/>
    <dgm:cxn modelId="{AEB2AF22-35D8-FD4E-9DC0-0D8A1E1B0FFD}" type="presParOf" srcId="{3E90F3D0-0586-5441-9E8E-7B8835E21DE4}" destId="{E3CC8036-AE7E-D141-8F6E-81E0086C5935}" srcOrd="0" destOrd="0" presId="urn:microsoft.com/office/officeart/2005/8/layout/chart3"/>
    <dgm:cxn modelId="{26AAC435-B0F8-4D45-8DDB-E66CB77E4550}" type="presParOf" srcId="{3E90F3D0-0586-5441-9E8E-7B8835E21DE4}" destId="{8617C6B1-5520-0F4F-8857-D1AC7B663D0A}" srcOrd="1" destOrd="0" presId="urn:microsoft.com/office/officeart/2005/8/layout/chart3"/>
    <dgm:cxn modelId="{8EC1E047-9B1A-B244-9303-6DD7505F69C8}" type="presParOf" srcId="{3E90F3D0-0586-5441-9E8E-7B8835E21DE4}" destId="{6C8B6752-D8DE-894D-8B1C-C62AD5C6C8DE}" srcOrd="2" destOrd="0" presId="urn:microsoft.com/office/officeart/2005/8/layout/chart3"/>
    <dgm:cxn modelId="{8331B680-86A8-314B-966C-7730D6D5A021}" type="presParOf" srcId="{3E90F3D0-0586-5441-9E8E-7B8835E21DE4}" destId="{F3CE35E8-D435-2446-9E0C-0E65BC8EA21E}" srcOrd="3" destOrd="0" presId="urn:microsoft.com/office/officeart/2005/8/layout/chart3"/>
    <dgm:cxn modelId="{47C3E489-B419-C94F-89B7-7C57837BF46E}" type="presParOf" srcId="{3E90F3D0-0586-5441-9E8E-7B8835E21DE4}" destId="{0CAC984B-DD94-9A43-9A17-0A9B1BA03601}" srcOrd="4" destOrd="0" presId="urn:microsoft.com/office/officeart/2005/8/layout/chart3"/>
    <dgm:cxn modelId="{59DB4F82-0640-F44E-92C5-5D225F8A35D5}" type="presParOf" srcId="{3E90F3D0-0586-5441-9E8E-7B8835E21DE4}" destId="{E601263C-78B1-3F4E-A95A-0C67ED3C61A7}" srcOrd="5" destOrd="0" presId="urn:microsoft.com/office/officeart/2005/8/layout/chart3"/>
    <dgm:cxn modelId="{71DB57C6-7B84-A247-BA2A-E73E601B4430}" type="presParOf" srcId="{3E90F3D0-0586-5441-9E8E-7B8835E21DE4}" destId="{9198ABC0-0B34-9543-BA22-F503157E608C}" srcOrd="6" destOrd="0" presId="urn:microsoft.com/office/officeart/2005/8/layout/chart3"/>
    <dgm:cxn modelId="{83ECD806-C6BB-BC40-B8C9-1AB987BE19FF}" type="presParOf" srcId="{3E90F3D0-0586-5441-9E8E-7B8835E21DE4}" destId="{6E63FF68-CDF2-7A4D-AB5A-3994E3BB833F}" srcOrd="7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09F226-A58A-C24F-A326-E08C372E2CDA}" type="doc">
      <dgm:prSet loTypeId="urn:microsoft.com/office/officeart/2005/8/layout/chart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443C9F-21CB-CF47-A06D-AEE5B0CF527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/>
            <a:t>No Grounding in the World</a:t>
          </a:r>
          <a:endParaRPr lang="en-US"/>
        </a:p>
      </dgm:t>
    </dgm:pt>
    <dgm:pt modelId="{3200B573-0E5F-2348-90FC-E6E4794C6E72}" type="parTrans" cxnId="{0357F535-17A8-6D45-8D48-AE04DD6394E0}">
      <dgm:prSet/>
      <dgm:spPr/>
      <dgm:t>
        <a:bodyPr/>
        <a:lstStyle/>
        <a:p>
          <a:endParaRPr lang="en-US"/>
        </a:p>
      </dgm:t>
    </dgm:pt>
    <dgm:pt modelId="{78651410-F0A7-3D49-8B22-174C828424BB}" type="sibTrans" cxnId="{0357F535-17A8-6D45-8D48-AE04DD6394E0}">
      <dgm:prSet/>
      <dgm:spPr/>
      <dgm:t>
        <a:bodyPr/>
        <a:lstStyle/>
        <a:p>
          <a:endParaRPr lang="en-US"/>
        </a:p>
      </dgm:t>
    </dgm:pt>
    <dgm:pt modelId="{34CD0571-500D-2A44-8DB2-80E3E55D777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/>
            <a:t>No Causal Model / Fragile Reasoning</a:t>
          </a:r>
          <a:endParaRPr lang="en-US"/>
        </a:p>
      </dgm:t>
    </dgm:pt>
    <dgm:pt modelId="{42311F25-F912-C240-9FF4-4115E4B77B3A}" type="parTrans" cxnId="{2D4D26CE-FB2B-254D-82F3-64CE858B1C4E}">
      <dgm:prSet/>
      <dgm:spPr/>
      <dgm:t>
        <a:bodyPr/>
        <a:lstStyle/>
        <a:p>
          <a:endParaRPr lang="en-US"/>
        </a:p>
      </dgm:t>
    </dgm:pt>
    <dgm:pt modelId="{B07A12A8-1674-EB4A-99A8-DDD449A211BA}" type="sibTrans" cxnId="{2D4D26CE-FB2B-254D-82F3-64CE858B1C4E}">
      <dgm:prSet/>
      <dgm:spPr/>
      <dgm:t>
        <a:bodyPr/>
        <a:lstStyle/>
        <a:p>
          <a:endParaRPr lang="en-US"/>
        </a:p>
      </dgm:t>
    </dgm:pt>
    <dgm:pt modelId="{BE9D0DCE-E756-FE47-8C61-20FC494E2C9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/>
            <a:t>No Goals or Agency / Pragmatic Failures</a:t>
          </a:r>
          <a:endParaRPr lang="en-US"/>
        </a:p>
      </dgm:t>
    </dgm:pt>
    <dgm:pt modelId="{F2ED5604-9E05-BF40-969A-E2430F2C260C}" type="parTrans" cxnId="{2C5DCC48-CCF4-BF4C-BFCF-5F6595C8D2A2}">
      <dgm:prSet/>
      <dgm:spPr/>
      <dgm:t>
        <a:bodyPr/>
        <a:lstStyle/>
        <a:p>
          <a:endParaRPr lang="en-US"/>
        </a:p>
      </dgm:t>
    </dgm:pt>
    <dgm:pt modelId="{0DA601DB-8301-F149-AC93-80B7A0F3F220}" type="sibTrans" cxnId="{2C5DCC48-CCF4-BF4C-BFCF-5F6595C8D2A2}">
      <dgm:prSet/>
      <dgm:spPr/>
      <dgm:t>
        <a:bodyPr/>
        <a:lstStyle/>
        <a:p>
          <a:endParaRPr lang="en-US"/>
        </a:p>
      </dgm:t>
    </dgm:pt>
    <dgm:pt modelId="{60A12F53-0FD3-D44F-84A4-E940A64E8D29}" type="pres">
      <dgm:prSet presAssocID="{7609F226-A58A-C24F-A326-E08C372E2CDA}" presName="compositeShape" presStyleCnt="0">
        <dgm:presLayoutVars>
          <dgm:chMax val="7"/>
          <dgm:dir/>
          <dgm:resizeHandles val="exact"/>
        </dgm:presLayoutVars>
      </dgm:prSet>
      <dgm:spPr/>
    </dgm:pt>
    <dgm:pt modelId="{34475E99-36C2-124B-AC21-5C66199B438A}" type="pres">
      <dgm:prSet presAssocID="{7609F226-A58A-C24F-A326-E08C372E2CDA}" presName="wedge1" presStyleLbl="node1" presStyleIdx="0" presStyleCnt="3" custLinFactNeighborX="-5040" custLinFactNeighborY="2848"/>
      <dgm:spPr/>
    </dgm:pt>
    <dgm:pt modelId="{87D7E68A-2D36-DB4A-B9CF-E06915C369BF}" type="pres">
      <dgm:prSet presAssocID="{7609F226-A58A-C24F-A326-E08C372E2CDA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6C3F55BA-98B6-F743-8021-9E972725EE59}" type="pres">
      <dgm:prSet presAssocID="{7609F226-A58A-C24F-A326-E08C372E2CDA}" presName="wedge2" presStyleLbl="node1" presStyleIdx="1" presStyleCnt="3"/>
      <dgm:spPr/>
    </dgm:pt>
    <dgm:pt modelId="{357F9134-9C06-304F-BB3A-2E437A2B05B2}" type="pres">
      <dgm:prSet presAssocID="{7609F226-A58A-C24F-A326-E08C372E2CDA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04AF3DD6-295A-5B4B-8645-C516A13F6F9A}" type="pres">
      <dgm:prSet presAssocID="{7609F226-A58A-C24F-A326-E08C372E2CDA}" presName="wedge3" presStyleLbl="node1" presStyleIdx="2" presStyleCnt="3"/>
      <dgm:spPr/>
    </dgm:pt>
    <dgm:pt modelId="{3B167BD2-5C80-9143-9B50-739D0233416F}" type="pres">
      <dgm:prSet presAssocID="{7609F226-A58A-C24F-A326-E08C372E2CDA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AB6D7B35-650D-6C40-B92D-A0D23FB0F3DE}" type="presOf" srcId="{6C443C9F-21CB-CF47-A06D-AEE5B0CF527A}" destId="{34475E99-36C2-124B-AC21-5C66199B438A}" srcOrd="0" destOrd="0" presId="urn:microsoft.com/office/officeart/2005/8/layout/chart3"/>
    <dgm:cxn modelId="{0357F535-17A8-6D45-8D48-AE04DD6394E0}" srcId="{7609F226-A58A-C24F-A326-E08C372E2CDA}" destId="{6C443C9F-21CB-CF47-A06D-AEE5B0CF527A}" srcOrd="0" destOrd="0" parTransId="{3200B573-0E5F-2348-90FC-E6E4794C6E72}" sibTransId="{78651410-F0A7-3D49-8B22-174C828424BB}"/>
    <dgm:cxn modelId="{D285E03D-EEDF-5D4E-AA0F-D68FDDCC5505}" type="presOf" srcId="{34CD0571-500D-2A44-8DB2-80E3E55D7778}" destId="{6C3F55BA-98B6-F743-8021-9E972725EE59}" srcOrd="0" destOrd="0" presId="urn:microsoft.com/office/officeart/2005/8/layout/chart3"/>
    <dgm:cxn modelId="{2C5DCC48-CCF4-BF4C-BFCF-5F6595C8D2A2}" srcId="{7609F226-A58A-C24F-A326-E08C372E2CDA}" destId="{BE9D0DCE-E756-FE47-8C61-20FC494E2C91}" srcOrd="2" destOrd="0" parTransId="{F2ED5604-9E05-BF40-969A-E2430F2C260C}" sibTransId="{0DA601DB-8301-F149-AC93-80B7A0F3F220}"/>
    <dgm:cxn modelId="{92F6EE54-3ACF-B74E-B263-3CB6E882F5C5}" type="presOf" srcId="{34CD0571-500D-2A44-8DB2-80E3E55D7778}" destId="{357F9134-9C06-304F-BB3A-2E437A2B05B2}" srcOrd="1" destOrd="0" presId="urn:microsoft.com/office/officeart/2005/8/layout/chart3"/>
    <dgm:cxn modelId="{554A058E-192D-6049-B354-1B4716891BE4}" type="presOf" srcId="{6C443C9F-21CB-CF47-A06D-AEE5B0CF527A}" destId="{87D7E68A-2D36-DB4A-B9CF-E06915C369BF}" srcOrd="1" destOrd="0" presId="urn:microsoft.com/office/officeart/2005/8/layout/chart3"/>
    <dgm:cxn modelId="{5F60BFCA-4427-D94E-BFF4-6A837868456C}" type="presOf" srcId="{BE9D0DCE-E756-FE47-8C61-20FC494E2C91}" destId="{04AF3DD6-295A-5B4B-8645-C516A13F6F9A}" srcOrd="0" destOrd="0" presId="urn:microsoft.com/office/officeart/2005/8/layout/chart3"/>
    <dgm:cxn modelId="{B7CFE2CA-4024-0641-ADF1-0924A41B30F7}" type="presOf" srcId="{7609F226-A58A-C24F-A326-E08C372E2CDA}" destId="{60A12F53-0FD3-D44F-84A4-E940A64E8D29}" srcOrd="0" destOrd="0" presId="urn:microsoft.com/office/officeart/2005/8/layout/chart3"/>
    <dgm:cxn modelId="{2D4D26CE-FB2B-254D-82F3-64CE858B1C4E}" srcId="{7609F226-A58A-C24F-A326-E08C372E2CDA}" destId="{34CD0571-500D-2A44-8DB2-80E3E55D7778}" srcOrd="1" destOrd="0" parTransId="{42311F25-F912-C240-9FF4-4115E4B77B3A}" sibTransId="{B07A12A8-1674-EB4A-99A8-DDD449A211BA}"/>
    <dgm:cxn modelId="{4FC872F0-A4D7-2641-82CA-2821738F4A60}" type="presOf" srcId="{BE9D0DCE-E756-FE47-8C61-20FC494E2C91}" destId="{3B167BD2-5C80-9143-9B50-739D0233416F}" srcOrd="1" destOrd="0" presId="urn:microsoft.com/office/officeart/2005/8/layout/chart3"/>
    <dgm:cxn modelId="{73F27A32-FC42-0841-8B2D-0C2CCBF1E03F}" type="presParOf" srcId="{60A12F53-0FD3-D44F-84A4-E940A64E8D29}" destId="{34475E99-36C2-124B-AC21-5C66199B438A}" srcOrd="0" destOrd="0" presId="urn:microsoft.com/office/officeart/2005/8/layout/chart3"/>
    <dgm:cxn modelId="{DF84814E-57F4-DE4A-A621-CEE38F75A361}" type="presParOf" srcId="{60A12F53-0FD3-D44F-84A4-E940A64E8D29}" destId="{87D7E68A-2D36-DB4A-B9CF-E06915C369BF}" srcOrd="1" destOrd="0" presId="urn:microsoft.com/office/officeart/2005/8/layout/chart3"/>
    <dgm:cxn modelId="{C0A7E311-46A9-9447-9296-085351B36497}" type="presParOf" srcId="{60A12F53-0FD3-D44F-84A4-E940A64E8D29}" destId="{6C3F55BA-98B6-F743-8021-9E972725EE59}" srcOrd="2" destOrd="0" presId="urn:microsoft.com/office/officeart/2005/8/layout/chart3"/>
    <dgm:cxn modelId="{55390FE7-9208-7C4C-86F0-24252C55C4DE}" type="presParOf" srcId="{60A12F53-0FD3-D44F-84A4-E940A64E8D29}" destId="{357F9134-9C06-304F-BB3A-2E437A2B05B2}" srcOrd="3" destOrd="0" presId="urn:microsoft.com/office/officeart/2005/8/layout/chart3"/>
    <dgm:cxn modelId="{BA64E62F-886E-004A-A882-E5B1ADD8C04A}" type="presParOf" srcId="{60A12F53-0FD3-D44F-84A4-E940A64E8D29}" destId="{04AF3DD6-295A-5B4B-8645-C516A13F6F9A}" srcOrd="4" destOrd="0" presId="urn:microsoft.com/office/officeart/2005/8/layout/chart3"/>
    <dgm:cxn modelId="{1E61DE2D-A863-6F4F-AB5C-09D4F08FAA5B}" type="presParOf" srcId="{60A12F53-0FD3-D44F-84A4-E940A64E8D29}" destId="{3B167BD2-5C80-9143-9B50-739D0233416F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CC8036-AE7E-D141-8F6E-81E0086C5935}">
      <dsp:nvSpPr>
        <dsp:cNvPr id="0" name=""/>
        <dsp:cNvSpPr/>
      </dsp:nvSpPr>
      <dsp:spPr>
        <a:xfrm>
          <a:off x="1835087" y="564675"/>
          <a:ext cx="5139640" cy="5139640"/>
        </a:xfrm>
        <a:prstGeom prst="pie">
          <a:avLst>
            <a:gd name="adj1" fmla="val 16200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b="1" kern="1200"/>
            <a:t>Fluency &amp; Coherence</a:t>
          </a:r>
          <a:endParaRPr lang="en-US" sz="2400" kern="1200"/>
        </a:p>
      </dsp:txBody>
      <dsp:txXfrm>
        <a:off x="4463646" y="1515508"/>
        <a:ext cx="1896772" cy="1529655"/>
      </dsp:txXfrm>
    </dsp:sp>
    <dsp:sp modelId="{6C8B6752-D8DE-894D-8B1C-C62AD5C6C8DE}">
      <dsp:nvSpPr>
        <dsp:cNvPr id="0" name=""/>
        <dsp:cNvSpPr/>
      </dsp:nvSpPr>
      <dsp:spPr>
        <a:xfrm>
          <a:off x="1828442" y="597789"/>
          <a:ext cx="5139640" cy="5139640"/>
        </a:xfrm>
        <a:prstGeom prst="pie">
          <a:avLst>
            <a:gd name="adj1" fmla="val 0"/>
            <a:gd name="adj2" fmla="val 54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b="1" kern="1200"/>
            <a:t>Generalization From Patterns</a:t>
          </a:r>
          <a:endParaRPr lang="en-US" sz="2400" kern="1200"/>
        </a:p>
      </dsp:txBody>
      <dsp:txXfrm>
        <a:off x="4490042" y="3259388"/>
        <a:ext cx="1896772" cy="1529655"/>
      </dsp:txXfrm>
    </dsp:sp>
    <dsp:sp modelId="{0CAC984B-DD94-9A43-9A17-0A9B1BA03601}">
      <dsp:nvSpPr>
        <dsp:cNvPr id="0" name=""/>
        <dsp:cNvSpPr/>
      </dsp:nvSpPr>
      <dsp:spPr>
        <a:xfrm>
          <a:off x="1828442" y="597789"/>
          <a:ext cx="5139640" cy="5139640"/>
        </a:xfrm>
        <a:prstGeom prst="pie">
          <a:avLst>
            <a:gd name="adj1" fmla="val 5400000"/>
            <a:gd name="adj2" fmla="val 10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b="1" kern="1200" dirty="0"/>
            <a:t>Long-Range Context Handling</a:t>
          </a:r>
          <a:r>
            <a:rPr lang="en-US" sz="2400" kern="1200" dirty="0"/>
            <a:t> (due to attention)</a:t>
          </a:r>
        </a:p>
      </dsp:txBody>
      <dsp:txXfrm>
        <a:off x="2409711" y="3259388"/>
        <a:ext cx="1896772" cy="1529655"/>
      </dsp:txXfrm>
    </dsp:sp>
    <dsp:sp modelId="{9198ABC0-0B34-9543-BA22-F503157E608C}">
      <dsp:nvSpPr>
        <dsp:cNvPr id="0" name=""/>
        <dsp:cNvSpPr/>
      </dsp:nvSpPr>
      <dsp:spPr>
        <a:xfrm>
          <a:off x="1830395" y="564689"/>
          <a:ext cx="5139640" cy="5139640"/>
        </a:xfrm>
        <a:prstGeom prst="pie">
          <a:avLst>
            <a:gd name="adj1" fmla="val 108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b="1" kern="1200" dirty="0"/>
            <a:t>Rapid Task Adaptation</a:t>
          </a:r>
          <a:r>
            <a:rPr lang="en-US" sz="2400" kern="1200" dirty="0"/>
            <a:t> (via prompting)</a:t>
          </a:r>
        </a:p>
      </dsp:txBody>
      <dsp:txXfrm>
        <a:off x="2411664" y="1513075"/>
        <a:ext cx="1896772" cy="15296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475E99-36C2-124B-AC21-5C66199B438A}">
      <dsp:nvSpPr>
        <dsp:cNvPr id="0" name=""/>
        <dsp:cNvSpPr/>
      </dsp:nvSpPr>
      <dsp:spPr>
        <a:xfrm>
          <a:off x="1962249" y="534264"/>
          <a:ext cx="4908846" cy="4908846"/>
        </a:xfrm>
        <a:prstGeom prst="pie">
          <a:avLst>
            <a:gd name="adj1" fmla="val 16200000"/>
            <a:gd name="adj2" fmla="val 1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600" b="1" kern="1200"/>
            <a:t>No Grounding in the World</a:t>
          </a:r>
          <a:endParaRPr lang="en-US" sz="2600" kern="1200"/>
        </a:p>
      </dsp:txBody>
      <dsp:txXfrm>
        <a:off x="4631142" y="1440063"/>
        <a:ext cx="1665501" cy="1636282"/>
      </dsp:txXfrm>
    </dsp:sp>
    <dsp:sp modelId="{6C3F55BA-98B6-F743-8021-9E972725EE59}">
      <dsp:nvSpPr>
        <dsp:cNvPr id="0" name=""/>
        <dsp:cNvSpPr/>
      </dsp:nvSpPr>
      <dsp:spPr>
        <a:xfrm>
          <a:off x="1956616" y="540557"/>
          <a:ext cx="4908846" cy="4908846"/>
        </a:xfrm>
        <a:prstGeom prst="pie">
          <a:avLst>
            <a:gd name="adj1" fmla="val 1800000"/>
            <a:gd name="adj2" fmla="val 90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600" b="1" kern="1200"/>
            <a:t>No Causal Model / Fragile Reasoning</a:t>
          </a:r>
          <a:endParaRPr lang="en-US" sz="2600" kern="1200"/>
        </a:p>
      </dsp:txBody>
      <dsp:txXfrm>
        <a:off x="3300704" y="3637805"/>
        <a:ext cx="2220668" cy="1519404"/>
      </dsp:txXfrm>
    </dsp:sp>
    <dsp:sp modelId="{04AF3DD6-295A-5B4B-8645-C516A13F6F9A}">
      <dsp:nvSpPr>
        <dsp:cNvPr id="0" name=""/>
        <dsp:cNvSpPr/>
      </dsp:nvSpPr>
      <dsp:spPr>
        <a:xfrm>
          <a:off x="1956616" y="540557"/>
          <a:ext cx="4908846" cy="4908846"/>
        </a:xfrm>
        <a:prstGeom prst="pie">
          <a:avLst>
            <a:gd name="adj1" fmla="val 90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600" b="1" kern="1200"/>
            <a:t>No Goals or Agency / Pragmatic Failures</a:t>
          </a:r>
          <a:endParaRPr lang="en-US" sz="2600" kern="1200"/>
        </a:p>
      </dsp:txBody>
      <dsp:txXfrm>
        <a:off x="2482563" y="1504795"/>
        <a:ext cx="1665501" cy="16362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D3E08-CD1E-6345-BF3D-6B539ADC1145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32C59-1409-2640-866F-4A1083575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375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052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2FFE1-083F-07E5-968B-1000A37E5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B72C7-F31C-3E95-385A-0A10F2CDD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DD07AA-7B57-08A6-4E18-33F7BB750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their core, large language models are trained to perform one task: predict the next token in a sequence of text.</a:t>
            </a:r>
          </a:p>
          <a:p>
            <a:r>
              <a:rPr lang="en-US" dirty="0"/>
              <a:t>The model sees a string of words or </a:t>
            </a:r>
            <a:r>
              <a:rPr lang="en-US" dirty="0" err="1"/>
              <a:t>subwords</a:t>
            </a:r>
            <a:r>
              <a:rPr lang="en-US" dirty="0"/>
              <a:t> and assigns probabilities to what is most likely to come next.</a:t>
            </a:r>
          </a:p>
          <a:p>
            <a:r>
              <a:rPr lang="en-US" dirty="0"/>
              <a:t>This objective is deceptively simple, but language is richly structured, so solving it well requires capturing syntax, semantics, and discourse patterns.</a:t>
            </a:r>
          </a:p>
          <a:p>
            <a:r>
              <a:rPr lang="en-US" dirty="0"/>
              <a:t>This means LLMs learn much more than surface-level associations when optimizing for prediction accuracy.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This task forces the model to internalize patterns of grammar.</a:t>
            </a:r>
          </a:p>
          <a:p>
            <a:r>
              <a:rPr lang="en-US" dirty="0"/>
              <a:t>To predict the next word in a sentence, the model must learn agreement, ordering, and the dependencies that connect distant parts of a phrase.</a:t>
            </a:r>
          </a:p>
          <a:p>
            <a:r>
              <a:rPr lang="en-US" dirty="0"/>
              <a:t>It discovers these features implicitly, not through explicit rules but by minimizing prediction error across enormous text corpora.</a:t>
            </a:r>
          </a:p>
          <a:p>
            <a:r>
              <a:rPr lang="en-US" dirty="0"/>
              <a:t>In this sense, the learning process resembles earlier material we covered on distributed representations and learned feature hierarchies.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Prediction also requires the model to develop approximate semantic knowledge.</a:t>
            </a:r>
          </a:p>
          <a:p>
            <a:r>
              <a:rPr lang="en-US" dirty="0"/>
              <a:t>If a sentence begins with “The doctor examined the…,” predicting the next tokens requires understanding roles, contexts, and common continuations.</a:t>
            </a:r>
          </a:p>
          <a:p>
            <a:r>
              <a:rPr lang="en-US" dirty="0"/>
              <a:t>The model learns associations among words, topics, and events simply because these relationships support accurate next-token predictions.</a:t>
            </a:r>
          </a:p>
          <a:p>
            <a:r>
              <a:rPr lang="en-US" dirty="0"/>
              <a:t>This leads to behavior that </a:t>
            </a:r>
            <a:r>
              <a:rPr lang="en-US" i="1" dirty="0"/>
              <a:t>resembles</a:t>
            </a:r>
            <a:r>
              <a:rPr lang="en-US" dirty="0"/>
              <a:t> understanding, despite being grounded in pattern learning rather than explicit reasoning.</a:t>
            </a:r>
          </a:p>
          <a:p>
            <a:endParaRPr lang="en-US" dirty="0"/>
          </a:p>
          <a:p>
            <a:r>
              <a:rPr lang="en-US" dirty="0"/>
              <a:t>This predictive objective helps explain both the strengths and limitations of LLMs.</a:t>
            </a:r>
          </a:p>
          <a:p>
            <a:r>
              <a:rPr lang="en-US" dirty="0"/>
              <a:t>They are excellent at tasks that align with language patterns but struggle </a:t>
            </a:r>
          </a:p>
          <a:p>
            <a:r>
              <a:rPr lang="en-US" dirty="0"/>
              <a:t>	when deep reasoning or real-world grounding is needed.</a:t>
            </a:r>
          </a:p>
          <a:p>
            <a:r>
              <a:rPr lang="en-US" dirty="0"/>
              <a:t>Understanding this training goal clarifies why LLMs excel at fluency and generalization </a:t>
            </a:r>
          </a:p>
          <a:p>
            <a:r>
              <a:rPr lang="en-US" dirty="0"/>
              <a:t>	yet can fail unexpectedly at tasks requiring external reference or causal inference.</a:t>
            </a:r>
          </a:p>
          <a:p>
            <a:r>
              <a:rPr lang="en-US" dirty="0"/>
              <a:t>Grasping this fundamental objective prepares us to examine the architectures that support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0C1DC-96CA-F3E3-5A69-1B3CF5C8B9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1594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D0BB2-BC3C-B3EA-9C8B-0DEDF40D0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6CCC10-3C62-D402-DCC9-8C1C13F67A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1B805-62E4-AB88-F2C4-22EFCED30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LLMs learn by absorbing the statistical regularities of the text they are trained on.</a:t>
            </a:r>
          </a:p>
          <a:p>
            <a:r>
              <a:rPr lang="en-US" dirty="0"/>
              <a:t>Through next-token prediction, they internalize which words co-occur, which syntactic forms follow one another, and which semantic relationships are likely in different contexts.</a:t>
            </a:r>
          </a:p>
          <a:p>
            <a:r>
              <a:rPr lang="en-US" dirty="0"/>
              <a:t>They do not learn facts in a symbolic sense; instead, they encode distributed patterns that correlate with real-world knowledge.</a:t>
            </a:r>
          </a:p>
          <a:p>
            <a:r>
              <a:rPr lang="en-US" dirty="0"/>
              <a:t>This statistical grounding allows them to generate text that often appears meaningful and informed.</a:t>
            </a:r>
          </a:p>
          <a:p>
            <a:endParaRPr lang="en-US" dirty="0"/>
          </a:p>
          <a:p>
            <a:r>
              <a:rPr lang="en-US" dirty="0"/>
              <a:t>Because they analyze billions of sentences, LLMs build high-dimensional representations where similar contexts cluster together.</a:t>
            </a:r>
          </a:p>
          <a:p>
            <a:r>
              <a:rPr lang="en-US" dirty="0"/>
              <a:t>Words referring to related concepts—animals, tools, emotions—tend to occupy nearby regions in the embedding space.</a:t>
            </a:r>
          </a:p>
          <a:p>
            <a:r>
              <a:rPr lang="en-US" dirty="0"/>
              <a:t>Syntactic categories also cluster naturally, reflecting part-of-speech distinctions without being explicitly taught.</a:t>
            </a:r>
          </a:p>
          <a:p>
            <a:r>
              <a:rPr lang="en-US" dirty="0"/>
              <a:t>These emergent structures show how much linguistic organization can arise purely from statistical learning.</a:t>
            </a:r>
          </a:p>
          <a:p>
            <a:endParaRPr lang="en-US" dirty="0"/>
          </a:p>
          <a:p>
            <a:r>
              <a:rPr lang="en-US" dirty="0"/>
              <a:t>LLMs also learn higher-order patterns that go beyond simple co-occurrence.</a:t>
            </a:r>
          </a:p>
          <a:p>
            <a:r>
              <a:rPr lang="en-US" dirty="0"/>
              <a:t>They capture discourse cues, pragmatic conventions, narrative structures, and stylistic patterns because these regularities improve prediction accuracy.</a:t>
            </a:r>
          </a:p>
          <a:p>
            <a:r>
              <a:rPr lang="en-US" dirty="0"/>
              <a:t>This is why they can summarize documents, translate languages, or answer questions using only the patterns learned from text.</a:t>
            </a:r>
          </a:p>
          <a:p>
            <a:r>
              <a:rPr lang="en-US" dirty="0"/>
              <a:t>Even without explicit goals or grounding, the structure of language itself encodes a great deal of information.</a:t>
            </a:r>
          </a:p>
          <a:p>
            <a:endParaRPr lang="en-US" dirty="0"/>
          </a:p>
          <a:p>
            <a:r>
              <a:rPr lang="en-US" dirty="0"/>
              <a:t>Still, the knowledge that LLMs acquire is fundamentally different from human conceptual understanding.</a:t>
            </a:r>
          </a:p>
          <a:p>
            <a:r>
              <a:rPr lang="en-US" dirty="0"/>
              <a:t>They lack perception, embodied experience, causal reasoning, and the direct grounding that humans use to link words to the world.</a:t>
            </a:r>
          </a:p>
          <a:p>
            <a:r>
              <a:rPr lang="en-US" dirty="0"/>
              <a:t>Their “understanding” is an emergent product of pattern learning, not a model of lived experience.</a:t>
            </a:r>
          </a:p>
          <a:p>
            <a:r>
              <a:rPr lang="en-US" dirty="0"/>
              <a:t>Recognizing this gap helps us appreciate both the strengths and the limitations of LLMs, setting up the next slide on their capabilities.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9745F-2B15-3C75-AE63-945AC5ACB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22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2DA43-3F86-9A78-68D5-E1C2D5D57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BA4994-7B51-F0E3-40DB-826C675F8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95A6A3-3988-B9FB-BA2F-D5AB593B9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LLMs excel at generating fluent, coherent text across an extraordinary variety of topics.</a:t>
            </a:r>
          </a:p>
          <a:p>
            <a:r>
              <a:rPr lang="en-US" dirty="0"/>
              <a:t>Because they encode broad statistical patterns of language, they can answer questions, summarize documents, translate text, and mimic stylistic conventions with little or no task-specific training.</a:t>
            </a:r>
          </a:p>
          <a:p>
            <a:r>
              <a:rPr lang="en-US" dirty="0"/>
              <a:t>This versatility emerges directly from large-scale pretraining, giving them a wide base of linguistic competence.</a:t>
            </a:r>
          </a:p>
          <a:p>
            <a:r>
              <a:rPr lang="en-US" dirty="0"/>
              <a:t>Few other AI systems have achieved this level of domain generality.</a:t>
            </a:r>
          </a:p>
          <a:p>
            <a:endParaRPr lang="en-US" dirty="0"/>
          </a:p>
          <a:p>
            <a:r>
              <a:rPr lang="en-US" dirty="0"/>
              <a:t>LLMs also adapt quickly to new tasks through prompting.</a:t>
            </a:r>
          </a:p>
          <a:p>
            <a:r>
              <a:rPr lang="en-US" dirty="0"/>
              <a:t>Rather than retraining the model, users can provide examples or instructions that guide behavior at inference time.</a:t>
            </a:r>
          </a:p>
          <a:p>
            <a:r>
              <a:rPr lang="en-US" dirty="0"/>
              <a:t>This flexibility makes LLMs feel interactive and intelligent, even though they are not changing their internal weights during use.</a:t>
            </a:r>
          </a:p>
          <a:p>
            <a:r>
              <a:rPr lang="en-US" dirty="0"/>
              <a:t>Prompting essentially harnesses the latent structure already present in the model’s representations.</a:t>
            </a:r>
          </a:p>
          <a:p>
            <a:endParaRPr lang="en-US" dirty="0"/>
          </a:p>
          <a:p>
            <a:r>
              <a:rPr lang="en-US" dirty="0"/>
              <a:t>Another major strength is their ability to integrate long-range context.</a:t>
            </a:r>
          </a:p>
          <a:p>
            <a:r>
              <a:rPr lang="en-US" dirty="0"/>
              <a:t>Transformers can access information from thousands of tokens at once, allowing them to track discourse structure, maintain topic continuity, and follow complex instructions.</a:t>
            </a:r>
          </a:p>
          <a:p>
            <a:r>
              <a:rPr lang="en-US" dirty="0"/>
              <a:t>This contrasts sharply with earlier models that lost information over long sequences.</a:t>
            </a:r>
          </a:p>
          <a:p>
            <a:r>
              <a:rPr lang="en-US" dirty="0"/>
              <a:t>LLMs therefore perform especially well in tasks that require integrating or transforming large spans of text.</a:t>
            </a:r>
          </a:p>
          <a:p>
            <a:endParaRPr lang="en-US" dirty="0"/>
          </a:p>
          <a:p>
            <a:r>
              <a:rPr lang="en-US" dirty="0"/>
              <a:t>Finally, LLMs are surprisingly robust in their ability to generalize within the domain of written language.</a:t>
            </a:r>
          </a:p>
          <a:p>
            <a:r>
              <a:rPr lang="en-US" dirty="0"/>
              <a:t>They handle spelling variation, incomplete sentences, ambiguous queries, and stylistic shifts with ease.</a:t>
            </a:r>
          </a:p>
          <a:p>
            <a:r>
              <a:rPr lang="en-US" dirty="0"/>
              <a:t>This robustness reflects the breadth of patterns encoded during pretraining and the depth of the internal representations.</a:t>
            </a:r>
          </a:p>
          <a:p>
            <a:r>
              <a:rPr lang="en-US" dirty="0"/>
              <a:t>With these strengths in mind, we now turn to the limitations of LLMs and what they reveal about human cognition.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09226-3C83-5C24-5C52-EF418EEC72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940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1ED34-BA5C-E12D-A59E-05BAEF870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C36965-EE69-2E8B-D9BB-E34BF2CF3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9B737C-E54E-6969-7A1B-8B98B5ACB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of the most striking findings in modern AI is that certain abilities emerge only once models reach a critical scale.</a:t>
            </a:r>
          </a:p>
          <a:p>
            <a:r>
              <a:rPr lang="en-US" dirty="0"/>
              <a:t>Smaller models perform well on basic language prediction but fail on tasks requiring multi-step reasoning, analogies, arithmetic-like operations, or complex instructions.</a:t>
            </a:r>
          </a:p>
          <a:p>
            <a:r>
              <a:rPr lang="en-US" dirty="0"/>
              <a:t>At larger sizes, these same models suddenly begin to succeed at tasks that were never explicitly part of their training objective.</a:t>
            </a:r>
          </a:p>
          <a:p>
            <a:r>
              <a:rPr lang="en-US" dirty="0"/>
              <a:t>These qualitative shifts prompted the field to take scaling seriously as a mechanism for new capabilities.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Emergent abilities are usually measured by examining abrupt improvements on benchmark tasks.</a:t>
            </a:r>
          </a:p>
          <a:p>
            <a:r>
              <a:rPr lang="en-US" dirty="0"/>
              <a:t>For example, a model may answer no multi-step reasoning questions correctly at one size, then perform competently after crossing a particular parameter threshold.</a:t>
            </a:r>
          </a:p>
          <a:p>
            <a:r>
              <a:rPr lang="en-US" dirty="0"/>
              <a:t>The architecture has not changed—only its capacity and exposure to data.</a:t>
            </a:r>
          </a:p>
          <a:p>
            <a:r>
              <a:rPr lang="en-US" dirty="0"/>
              <a:t>This suggests that certain patterns are only representable once the internal space of the model becomes large and structured enough.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These emergent patterns raise deep questions about complexity and abstraction in learning systems.</a:t>
            </a:r>
          </a:p>
          <a:p>
            <a:r>
              <a:rPr lang="en-US" dirty="0"/>
              <a:t>It is tempting to interpret these jumps as evidence of new cognitive mechanisms, but they likely reflect improvements in representational richness and error smoothing.</a:t>
            </a:r>
          </a:p>
          <a:p>
            <a:r>
              <a:rPr lang="en-US" dirty="0"/>
              <a:t>The model becomes better at tracking long-range dependencies, stabilizing internal representations, and leveraging subtle statistical cues.</a:t>
            </a:r>
          </a:p>
          <a:p>
            <a:r>
              <a:rPr lang="en-US" dirty="0"/>
              <a:t>In essence, increased scale reorganizes what kinds of patterns are discoverable within the same objective function.</a:t>
            </a:r>
          </a:p>
          <a:p>
            <a:endParaRPr lang="en-US" dirty="0"/>
          </a:p>
          <a:p>
            <a:r>
              <a:rPr lang="en-US" dirty="0"/>
              <a:t>Importantly, emergence does not imply human-like reasoning or understanding.</a:t>
            </a:r>
          </a:p>
          <a:p>
            <a:r>
              <a:rPr lang="en-US" dirty="0"/>
              <a:t>The model’s apparent reasoning may still be brittle, dependent on surface cues, or vulnerable to adversarial phrasing.</a:t>
            </a:r>
          </a:p>
          <a:p>
            <a:r>
              <a:rPr lang="en-US" dirty="0"/>
              <a:t>But emergent abilities show that simple learning objectives can support surprisingly complex behaviors once the representational machinery is powerful enough.</a:t>
            </a:r>
          </a:p>
          <a:p>
            <a:r>
              <a:rPr lang="en-US" dirty="0"/>
              <a:t>This creates both optimism and caution as we consider what LLMs can—and cannot—tell us about cognition.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1D31F-52E8-4716-822F-460F079526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22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2606F-7F92-6F55-71FA-29D8062FC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F81502-D1CF-FD5C-3C71-B1A468A87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71864D-B8F4-E207-802C-5B2F77DDE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Despite their impressive fluency, LLMs face fundamental limitations that become clear once we ask them to do more than pattern continuation.</a:t>
            </a:r>
          </a:p>
          <a:p>
            <a:r>
              <a:rPr lang="en-US" dirty="0"/>
              <a:t>Because they learn only from text, they have no perceptual grounding—no direct access to physical objects, spatial layouts, or embodied experience.</a:t>
            </a:r>
          </a:p>
          <a:p>
            <a:r>
              <a:rPr lang="en-US" dirty="0"/>
              <a:t>This makes concepts that humans learn through action and perception difficult for them to represent accurately.</a:t>
            </a:r>
          </a:p>
          <a:p>
            <a:r>
              <a:rPr lang="en-US" dirty="0"/>
              <a:t>They can describe the world in detail, but they cannot </a:t>
            </a:r>
            <a:r>
              <a:rPr lang="en-US" i="1" dirty="0"/>
              <a:t>experience</a:t>
            </a:r>
            <a:r>
              <a:rPr lang="en-US" dirty="0"/>
              <a:t> it.</a:t>
            </a:r>
          </a:p>
          <a:p>
            <a:endParaRPr lang="en-US" dirty="0"/>
          </a:p>
          <a:p>
            <a:r>
              <a:rPr lang="en-US" dirty="0"/>
              <a:t>LLMs also struggle with causal reasoning.</a:t>
            </a:r>
          </a:p>
          <a:p>
            <a:r>
              <a:rPr lang="en-US" dirty="0"/>
              <a:t>They are excellent at identifying correlations in text but lack direct knowledge of how actions lead to outcomes in the world.</a:t>
            </a:r>
          </a:p>
          <a:p>
            <a:r>
              <a:rPr lang="en-US" dirty="0"/>
              <a:t>This leads to errors when tasks require inferring hidden causes, predicting consequences, or distinguishing plausible possibilities from impossible ones.</a:t>
            </a:r>
          </a:p>
          <a:p>
            <a:r>
              <a:rPr lang="en-US" dirty="0"/>
              <a:t>Their reasoning is often associative rather than generative or explanatory.</a:t>
            </a:r>
          </a:p>
          <a:p>
            <a:endParaRPr lang="en-US" dirty="0"/>
          </a:p>
          <a:p>
            <a:r>
              <a:rPr lang="en-US" dirty="0"/>
              <a:t>Pragmatic understanding—the ability to infer intentions, norms, and context-sensitive meaning—is another major limitation.</a:t>
            </a:r>
          </a:p>
          <a:p>
            <a:r>
              <a:rPr lang="en-US" dirty="0"/>
              <a:t>Humans use shared background knowledge, social cues, and real-world expectations to interpret utterances.</a:t>
            </a:r>
          </a:p>
          <a:p>
            <a:r>
              <a:rPr lang="en-US" dirty="0"/>
              <a:t>LLMs rely instead on textual patterns, which makes them vulnerable to misleading phrasing, ambiguous contexts, or adversarial prompts.</a:t>
            </a:r>
          </a:p>
          <a:p>
            <a:r>
              <a:rPr lang="en-US" dirty="0"/>
              <a:t>This explains why they sometimes produce confident but nonsensical or inappropriate responses.</a:t>
            </a:r>
          </a:p>
          <a:p>
            <a:endParaRPr lang="en-US" dirty="0"/>
          </a:p>
          <a:p>
            <a:r>
              <a:rPr lang="en-US" dirty="0"/>
              <a:t>These limitations are not incidental; they reflect the boundaries of what next-token prediction over text can achieve.</a:t>
            </a:r>
          </a:p>
          <a:p>
            <a:r>
              <a:rPr lang="en-US" dirty="0"/>
              <a:t>Recognizing these gaps helps us identify which aspects of human cognition cannot be captured by current LLM architectures.</a:t>
            </a:r>
          </a:p>
          <a:p>
            <a:r>
              <a:rPr lang="en-US" dirty="0"/>
              <a:t>They also motivate the questions we turn to in Lecture 4: What does it mean to </a:t>
            </a:r>
            <a:r>
              <a:rPr lang="en-US" i="1" dirty="0"/>
              <a:t>understand</a:t>
            </a:r>
            <a:r>
              <a:rPr lang="en-US" dirty="0"/>
              <a:t> language? What cognitive mechanisms are missing from LLMs? And what can these models teach us about the human mind precisely because of where they fail?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11E83-8D5B-C93F-C7F4-6606152ADF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791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A33B1-FBEC-EE8E-6BEB-0D9E3988D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BC1DCD-A96A-4013-F3A1-F25E9A499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92523D-E82D-BD88-5622-0E5A21228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people worry that LLMs simply repeat their training data, but the reality is more complex.</a:t>
            </a:r>
          </a:p>
          <a:p>
            <a:r>
              <a:rPr lang="en-US" dirty="0"/>
              <a:t>All large models do memorize some examples, particularly rare or highly repeated sequences, because prediction error drives them toward storing patterns verbatim when abstraction is impossible.</a:t>
            </a:r>
          </a:p>
          <a:p>
            <a:r>
              <a:rPr lang="en-US" dirty="0"/>
              <a:t>However, most of what LLMs produce is </a:t>
            </a:r>
            <a:r>
              <a:rPr lang="en-US" b="1" dirty="0"/>
              <a:t>novel</a:t>
            </a:r>
            <a:r>
              <a:rPr lang="en-US" dirty="0"/>
              <a:t>, formed by generalizing across countless overlapping contexts.</a:t>
            </a:r>
          </a:p>
          <a:p>
            <a:r>
              <a:rPr lang="en-US" dirty="0"/>
              <a:t>Their outputs typically reflect interpolation across statistical structure, not exact retrieval.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This distinction is clearer in controlled evaluation.</a:t>
            </a:r>
          </a:p>
          <a:p>
            <a:r>
              <a:rPr lang="en-US" dirty="0"/>
              <a:t>Researchers can test models on problems or sentences never seen during training, and LLMs routinely produce correct or reasonable continuations.</a:t>
            </a:r>
          </a:p>
          <a:p>
            <a:r>
              <a:rPr lang="en-US" dirty="0"/>
              <a:t>Arithmetic interpolation studies, analogy tests, and synthetic distributions show that models learn </a:t>
            </a:r>
            <a:r>
              <a:rPr lang="en-US" b="1" dirty="0"/>
              <a:t>functions</a:t>
            </a:r>
            <a:r>
              <a:rPr lang="en-US" dirty="0"/>
              <a:t>, not just strings.</a:t>
            </a:r>
          </a:p>
          <a:p>
            <a:r>
              <a:rPr lang="en-US" dirty="0"/>
              <a:t>Yet, when the model encounters highly specific or unique phrases (such as snippets of poetry or personal names), occasional verbatim recall does occur.</a:t>
            </a:r>
          </a:p>
          <a:p>
            <a:r>
              <a:rPr lang="en-US" dirty="0"/>
              <a:t>This is expected for any system trained to minimize prediction error over a massive corpus.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Importantly, generalization depends on the statistical richness of the input.</a:t>
            </a:r>
          </a:p>
          <a:p>
            <a:r>
              <a:rPr lang="en-US" dirty="0"/>
              <a:t>When the training data contains many similar examples, the model forms smooth, flexible abstractions.</a:t>
            </a:r>
          </a:p>
          <a:p>
            <a:r>
              <a:rPr lang="en-US" dirty="0"/>
              <a:t>When examples are sparse or unusual, the model has little choice but to store specific forms more directly.</a:t>
            </a:r>
          </a:p>
          <a:p>
            <a:r>
              <a:rPr lang="en-US" dirty="0"/>
              <a:t>This is a predictable tradeoff in any learning system, human or artificial.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Finally, the question of memorization reveals something important about the architecture.</a:t>
            </a:r>
          </a:p>
          <a:p>
            <a:r>
              <a:rPr lang="en-US" dirty="0"/>
              <a:t>Transformers do not explicitly store training items; they store </a:t>
            </a:r>
            <a:r>
              <a:rPr lang="en-US" b="1" dirty="0"/>
              <a:t>weight adjustments</a:t>
            </a:r>
            <a:r>
              <a:rPr lang="en-US" dirty="0"/>
              <a:t> that encode patterns across contexts.</a:t>
            </a:r>
          </a:p>
          <a:p>
            <a:r>
              <a:rPr lang="en-US" dirty="0"/>
              <a:t>When behavior looks memorized, it is often the result of extremely strong statistical signals in the data rather than a dedicated memory mechanism.</a:t>
            </a:r>
          </a:p>
          <a:p>
            <a:r>
              <a:rPr lang="en-US" dirty="0"/>
              <a:t>Understanding this helps frame hallucination, which emerges when those signals are weak or conflicting.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78842-DFCF-96A0-8623-E2DC8AFABC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462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0B2AC-B977-86C7-C5A9-D7EB66255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8B2CA4-773D-3E72-EC3D-785BA9E8BB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D7D004-4190-167E-8620-A25836D99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Hallucination occurs when a model produces fluent, confident statements that are not factually correct.</a:t>
            </a:r>
          </a:p>
          <a:p>
            <a:r>
              <a:rPr lang="en-US" dirty="0"/>
              <a:t>This behavior is not a bug in the usual sense; it is an inherent feature of a system trained only to </a:t>
            </a:r>
            <a:r>
              <a:rPr lang="en-US" b="1" dirty="0"/>
              <a:t>predict the next token</a:t>
            </a:r>
            <a:r>
              <a:rPr lang="en-US" dirty="0"/>
              <a:t>, without grounding in truth, perception, or verification.</a:t>
            </a:r>
          </a:p>
          <a:p>
            <a:r>
              <a:rPr lang="en-US" dirty="0"/>
              <a:t>When the model encounters a context with insufficient statistical constraints, it fills in the gap with the most plausible continuation.</a:t>
            </a:r>
          </a:p>
          <a:p>
            <a:r>
              <a:rPr lang="en-US" dirty="0"/>
              <a:t>This makes hallucination the natural counterpart of generalization.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Hallucinations also occur when the model over-generalizes patterns that usually—but not always—hold in the training data.</a:t>
            </a:r>
          </a:p>
          <a:p>
            <a:r>
              <a:rPr lang="en-US" dirty="0"/>
              <a:t>For example, if biographies typically contain birth years, the model might invent one when none exists.</a:t>
            </a:r>
          </a:p>
          <a:p>
            <a:r>
              <a:rPr lang="en-US" dirty="0"/>
              <a:t>If medical summaries usually include a diagnosis, it may fabricate one to satisfy the expected structure.</a:t>
            </a:r>
          </a:p>
          <a:p>
            <a:r>
              <a:rPr lang="en-US" dirty="0"/>
              <a:t>These errors arise from pattern extension, not deception or intent.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The flip side becomes clear when comparing hallucination to memorization.</a:t>
            </a:r>
          </a:p>
          <a:p>
            <a:r>
              <a:rPr lang="en-US" dirty="0"/>
              <a:t>When statistical signals are extremely strong (e.g., highly repeated phrases), the model drifts toward memorization.</a:t>
            </a:r>
          </a:p>
          <a:p>
            <a:r>
              <a:rPr lang="en-US" dirty="0"/>
              <a:t>When statistical signals are weak, inconsistent, or missing, the model drifts toward hallucination.</a:t>
            </a:r>
          </a:p>
          <a:p>
            <a:r>
              <a:rPr lang="en-US" dirty="0"/>
              <a:t>Both behaviors emerge from the same learning principle: the model must predict </a:t>
            </a:r>
            <a:r>
              <a:rPr lang="en-US" i="1" dirty="0"/>
              <a:t>something</a:t>
            </a:r>
            <a:r>
              <a:rPr lang="en-US" dirty="0"/>
              <a:t>, even when the data provides little guidance.</a:t>
            </a:r>
          </a:p>
          <a:p>
            <a:endParaRPr lang="en-US" dirty="0"/>
          </a:p>
          <a:p>
            <a:r>
              <a:rPr lang="en-US" dirty="0"/>
              <a:t>Humans also produce “hallucinations” in this looser sense—we confabulate, misremember, or fill in gaps with schema-consistent details.</a:t>
            </a:r>
          </a:p>
          <a:p>
            <a:r>
              <a:rPr lang="en-US" dirty="0"/>
              <a:t>But humans can check their guesses using perception, reasoning, memory, or external validation.</a:t>
            </a:r>
          </a:p>
          <a:p>
            <a:r>
              <a:rPr lang="en-US" dirty="0"/>
              <a:t>LLMs cannot: they lack grounding, causal reasoning, and any mechanism for truth-tracking.</a:t>
            </a:r>
          </a:p>
          <a:p>
            <a:r>
              <a:rPr lang="en-US" dirty="0"/>
              <a:t>This makes hallucination a structural feature of LLMs and a key limitation for using them as models of human understanding.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DFF15-D49F-2CF2-28E2-922A3911C9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46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9C462-6530-FCC9-B085-8A9C60028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26FD37-3D28-277A-E861-57D831898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58B935-11EE-DDDF-6E84-F107CAB58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symbol grounding problem asks how words—or any internal representations—acquire meaning in the first place.</a:t>
            </a:r>
          </a:p>
          <a:p>
            <a:r>
              <a:rPr lang="en-US" dirty="0"/>
              <a:t>A definition cannot simply point to another definition; eventually some symbols must connect to perception, action, or experience.</a:t>
            </a:r>
          </a:p>
          <a:p>
            <a:r>
              <a:rPr lang="en-US" dirty="0"/>
              <a:t>Humans ground words through embodied interaction with the world, long before they see written language.</a:t>
            </a:r>
          </a:p>
          <a:p>
            <a:r>
              <a:rPr lang="en-US" dirty="0"/>
              <a:t>This grounding provides the scaffolding for everything else we call “understanding.”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LLMs, by contrast, learn entirely from text.</a:t>
            </a:r>
          </a:p>
          <a:p>
            <a:r>
              <a:rPr lang="en-US" dirty="0"/>
              <a:t>They build associations between word forms without ever encountering the physical objects, sensory experiences, or actions that those words refer to.</a:t>
            </a:r>
          </a:p>
          <a:p>
            <a:r>
              <a:rPr lang="en-US" dirty="0"/>
              <a:t>From a grounding perspective, this means their representations may be rich but still disconnected from real-world reference.</a:t>
            </a:r>
          </a:p>
          <a:p>
            <a:r>
              <a:rPr lang="en-US" dirty="0"/>
              <a:t>This raises the question of whether distributional learning alone can ever yield fully grounded semantics.</a:t>
            </a:r>
          </a:p>
          <a:p>
            <a:endParaRPr lang="en-US" dirty="0"/>
          </a:p>
          <a:p>
            <a:r>
              <a:rPr lang="en-US" dirty="0"/>
              <a:t>Grounding also matters because much of human language depends on shared perceptual context.</a:t>
            </a:r>
          </a:p>
          <a:p>
            <a:r>
              <a:rPr lang="en-US" dirty="0"/>
              <a:t>When we say “that one,” “over there,” or “it’s too hot,” we rely on a common world we can jointly attend to.</a:t>
            </a:r>
          </a:p>
          <a:p>
            <a:r>
              <a:rPr lang="en-US" dirty="0"/>
              <a:t>LLMs do not share this world; they cannot look, point, or act.</a:t>
            </a:r>
          </a:p>
          <a:p>
            <a:r>
              <a:rPr lang="en-US" dirty="0"/>
              <a:t>So they must approximate grounding with patterns in text, which sometimes works surprisingly well—and sometimes fails in predictable ways.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Finally, grounding plays a major role in theories of cognitive development.</a:t>
            </a:r>
          </a:p>
          <a:p>
            <a:r>
              <a:rPr lang="en-US" dirty="0"/>
              <a:t>Infants learn word meanings by connecting sounds to perceptual, motor, and social cues.</a:t>
            </a:r>
          </a:p>
          <a:p>
            <a:r>
              <a:rPr lang="en-US" dirty="0"/>
              <a:t>If LLMs can approximate aspects of meaning without any of that structure, it forces us to rethink what grounding is really doing.</a:t>
            </a:r>
          </a:p>
          <a:p>
            <a:r>
              <a:rPr lang="en-US" dirty="0"/>
              <a:t>Today we’ll explore both the power and the limits of that text-only approach.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371CD-512D-6EF2-2FB4-1D41931DD5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448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A01F8-A7AD-13F7-31F3-3DCD272B6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06FE9B-46D4-3479-9265-10BE66638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BEDFBE-07ED-1D6D-E905-15AE75BDC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LLMs now produce language that looks thoughtful, informed, and conversational.</a:t>
            </a:r>
          </a:p>
          <a:p>
            <a:r>
              <a:rPr lang="en-US" dirty="0"/>
              <a:t>This raises the natural question: do they </a:t>
            </a:r>
            <a:r>
              <a:rPr lang="en-US" i="1" dirty="0"/>
              <a:t>understand</a:t>
            </a:r>
            <a:r>
              <a:rPr lang="en-US" dirty="0"/>
              <a:t> anything they say, or are they simply extending patterns in text?</a:t>
            </a:r>
          </a:p>
          <a:p>
            <a:r>
              <a:rPr lang="en-US" dirty="0"/>
              <a:t>Cognitive science has long distinguished between producing correct outputs and having genuine comprehension.</a:t>
            </a:r>
          </a:p>
          <a:p>
            <a:r>
              <a:rPr lang="en-US" dirty="0"/>
              <a:t>So our starting point is clarifying what kind of thing “understanding” is supposed to be.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One challenge is that “understanding” is a deceptively slippery concept.</a:t>
            </a:r>
          </a:p>
          <a:p>
            <a:r>
              <a:rPr lang="en-US" dirty="0"/>
              <a:t>Sometimes we use it to mean functional success—getting the right answer.</a:t>
            </a:r>
          </a:p>
          <a:p>
            <a:r>
              <a:rPr lang="en-US" dirty="0"/>
              <a:t>Sometimes we use it to mean having internal representations that track meaning in the world.</a:t>
            </a:r>
          </a:p>
          <a:p>
            <a:r>
              <a:rPr lang="en-US" dirty="0"/>
              <a:t>And sometimes we use it to mean consciously grasping concepts, which introduces another layer of complexity.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A second challenge is that high performance can make a system </a:t>
            </a:r>
            <a:r>
              <a:rPr lang="en-US" i="1" dirty="0"/>
              <a:t>look</a:t>
            </a:r>
            <a:r>
              <a:rPr lang="en-US" dirty="0"/>
              <a:t> like it understands, even when the underlying mechanism is very different.</a:t>
            </a:r>
          </a:p>
          <a:p>
            <a:r>
              <a:rPr lang="en-US" dirty="0"/>
              <a:t>Humans naturally interpret fluent behavior through an intentional lens, attributing beliefs or meaning where none may exist.</a:t>
            </a:r>
          </a:p>
          <a:p>
            <a:r>
              <a:rPr lang="en-US" dirty="0"/>
              <a:t>This cognitive bias makes it surprisingly hard to distinguish genuine comprehension from good pattern-matching.</a:t>
            </a:r>
          </a:p>
          <a:p>
            <a:r>
              <a:rPr lang="en-US" dirty="0"/>
              <a:t>So part of today’s work is learning to resist that instinct and examine the mechanisms more carefully.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Finally, we have to ask: what would actually count as evidence of understanding?</a:t>
            </a:r>
          </a:p>
          <a:p>
            <a:r>
              <a:rPr lang="en-US" dirty="0"/>
              <a:t>Should we rely on behavioral tests, like the Turing Test?</a:t>
            </a:r>
          </a:p>
          <a:p>
            <a:r>
              <a:rPr lang="en-US" dirty="0"/>
              <a:t>Should we look at internal representations and compare them to cognitive models?</a:t>
            </a:r>
          </a:p>
          <a:p>
            <a:r>
              <a:rPr lang="en-US" dirty="0"/>
              <a:t>Or should we consider grounding, causation, embodiment, and social interaction as necessary conditions?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83577-AC6D-C9FC-10AF-DC76800D43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8535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B1B12-6466-E5AA-FDF3-5DB79A8C9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2E2332-1CDA-E57B-0939-273505A0FA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116BD5-2B6D-B403-3586-784FDB80E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of the strongest arguments </a:t>
            </a:r>
            <a:r>
              <a:rPr lang="en-US" i="1" dirty="0"/>
              <a:t>for</a:t>
            </a:r>
            <a:r>
              <a:rPr lang="en-US" dirty="0"/>
              <a:t> LLM-style semantics is the distributional hypothesis:</a:t>
            </a:r>
          </a:p>
          <a:p>
            <a:r>
              <a:rPr lang="en-US" dirty="0"/>
              <a:t>“You shall know a word by the company it keeps.”</a:t>
            </a:r>
          </a:p>
          <a:p>
            <a:r>
              <a:rPr lang="en-US" dirty="0"/>
              <a:t>By predicting words from surrounding context, LLMs learn rich patterns of usage that often correspond to conceptual categories.</a:t>
            </a:r>
          </a:p>
          <a:p>
            <a:r>
              <a:rPr lang="en-US" dirty="0"/>
              <a:t>This allows them to approximate aspects of meaning purely from statistical structure.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This statistical learning creates </a:t>
            </a:r>
            <a:r>
              <a:rPr lang="en-US" b="1" dirty="0"/>
              <a:t>semantic embeddings</a:t>
            </a:r>
            <a:r>
              <a:rPr lang="en-US" dirty="0"/>
              <a:t>—high-dimensional vectors that cluster similar concepts together.</a:t>
            </a:r>
          </a:p>
          <a:p>
            <a:r>
              <a:rPr lang="en-US" dirty="0"/>
              <a:t>Words like “cat,” “dog,” “hamster,” and “animal” end up in nearby regions of the model’s representational space.</a:t>
            </a:r>
          </a:p>
          <a:p>
            <a:r>
              <a:rPr lang="en-US" dirty="0"/>
              <a:t>More abstract relationships—gender, tense, size, emotional valence—also emerge as geometric patterns.</a:t>
            </a:r>
          </a:p>
          <a:p>
            <a:r>
              <a:rPr lang="en-US" dirty="0"/>
              <a:t>These clusters arise without explicit supervision, just from the pressure to predict text accurately.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Distributional semantics also explains why LLMs succeed on many meaning-based tasks.</a:t>
            </a:r>
          </a:p>
          <a:p>
            <a:r>
              <a:rPr lang="en-US" dirty="0"/>
              <a:t>They can answer factual questions, paraphrase sentences, translate languages, and detect synonyms because these tasks reflect regularities in how words co-occur.</a:t>
            </a:r>
          </a:p>
          <a:p>
            <a:r>
              <a:rPr lang="en-US" dirty="0"/>
              <a:t>Even tasks like analogy-making or sentiment detection come “for free” from the structure of text.</a:t>
            </a:r>
          </a:p>
          <a:p>
            <a:r>
              <a:rPr lang="en-US" dirty="0"/>
              <a:t>To many researchers, this suggests that linguistic usage contains far more semantic information than previously assumed.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Still, this kind of meaning is incomplete.</a:t>
            </a:r>
          </a:p>
          <a:p>
            <a:r>
              <a:rPr lang="en-US" dirty="0"/>
              <a:t>Distributional patterns capture how words relate to one another </a:t>
            </a:r>
            <a:r>
              <a:rPr lang="en-US" i="1" dirty="0"/>
              <a:t>within language</a:t>
            </a:r>
            <a:r>
              <a:rPr lang="en-US" dirty="0"/>
              <a:t>, not how they connect to perception or the physical world.</a:t>
            </a:r>
          </a:p>
          <a:p>
            <a:r>
              <a:rPr lang="en-US" dirty="0"/>
              <a:t>LLMs can form subtle semantic distinctions but still fail at grounded tasks requiring real spatial, causal, or embodied knowledge.</a:t>
            </a:r>
          </a:p>
          <a:p>
            <a:r>
              <a:rPr lang="en-US" dirty="0"/>
              <a:t>Understanding where distributional meaning succeeds—and where it falls short—sets up the contrast for the next slide.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03FCC-BC2A-4B0C-0F16-0E237C2982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1321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3C99F-9FA9-4225-DD20-A2090B00A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DF0B03-F2DE-FC92-69C5-1ED75A0B2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BCAE81-987A-7B37-1D45-6E2B498E92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 though LLMs capture many semantic regularities, they often fail when meaning depends on </a:t>
            </a:r>
            <a:r>
              <a:rPr lang="en-US" b="1" dirty="0"/>
              <a:t>real-world grounding</a:t>
            </a:r>
            <a:r>
              <a:rPr lang="en-US" dirty="0"/>
              <a:t>.</a:t>
            </a:r>
          </a:p>
          <a:p>
            <a:r>
              <a:rPr lang="en-US" dirty="0"/>
              <a:t>Words referring to physical properties—weight, size, spatial relations, or affordances—require perceptual experience to interpret correctly.</a:t>
            </a:r>
          </a:p>
          <a:p>
            <a:r>
              <a:rPr lang="en-US" dirty="0"/>
              <a:t>Text alone does not provide enough information to reliably encode these relationships.</a:t>
            </a:r>
          </a:p>
          <a:p>
            <a:r>
              <a:rPr lang="en-US" dirty="0"/>
              <a:t>As a result, LLMs sometimes give confident but incorrect answers about simple physical scenarios.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LLMs also struggle with </a:t>
            </a:r>
            <a:r>
              <a:rPr lang="en-US" b="1" dirty="0"/>
              <a:t>pragmatics</a:t>
            </a:r>
            <a:r>
              <a:rPr lang="en-US" dirty="0"/>
              <a:t>, where meaning depends on speaker intent, shared assumptions, or social cues rather than literal text.</a:t>
            </a:r>
          </a:p>
          <a:p>
            <a:r>
              <a:rPr lang="en-US" dirty="0"/>
              <a:t>Humans routinely use implicature, understatement, sarcasm, or indirect requests, drawing on social knowledge that models do not possess.</a:t>
            </a:r>
          </a:p>
          <a:p>
            <a:r>
              <a:rPr lang="en-US" dirty="0"/>
              <a:t>Because LLMs do not participate in conversation as social agents, they approximate pragmatics from patterns but fall apart in less common contexts.</a:t>
            </a:r>
          </a:p>
          <a:p>
            <a:r>
              <a:rPr lang="en-US" dirty="0"/>
              <a:t>This is especially visible in tasks requiring understanding of politeness, humor, or conversational implicature.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Another weak spot is </a:t>
            </a:r>
            <a:r>
              <a:rPr lang="en-US" b="1" dirty="0"/>
              <a:t>ambiguity resolution</a:t>
            </a:r>
            <a:r>
              <a:rPr lang="en-US" dirty="0"/>
              <a:t>, which often depends on grounding or causal reasoning.</a:t>
            </a:r>
          </a:p>
          <a:p>
            <a:r>
              <a:rPr lang="en-US" dirty="0"/>
              <a:t>For example, LLMs may fail to interpret pronouns correctly when the correct referent depends on physical reasoning (“The trophy didn’t fit because it was too big”).</a:t>
            </a:r>
          </a:p>
          <a:p>
            <a:r>
              <a:rPr lang="en-US" dirty="0"/>
              <a:t>Or they may misinterpret polysemous words when the correct meaning relies on situational knowledge rather than linguistic cues.</a:t>
            </a:r>
          </a:p>
          <a:p>
            <a:r>
              <a:rPr lang="en-US" dirty="0"/>
              <a:t>Humans draw on deep world models; LLMs rely on textual patterns that sometimes point the wrong way.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Finally, these limitations reveal something important about the nature of distributional semantics.</a:t>
            </a:r>
          </a:p>
          <a:p>
            <a:r>
              <a:rPr lang="en-US" dirty="0"/>
              <a:t>It captures meaning </a:t>
            </a:r>
            <a:r>
              <a:rPr lang="en-US" i="1" dirty="0"/>
              <a:t>within language</a:t>
            </a:r>
            <a:r>
              <a:rPr lang="en-US" dirty="0"/>
              <a:t>, but not meaning </a:t>
            </a:r>
            <a:r>
              <a:rPr lang="en-US" i="1" dirty="0"/>
              <a:t>beyond</a:t>
            </a:r>
            <a:r>
              <a:rPr lang="en-US" dirty="0"/>
              <a:t> language.</a:t>
            </a:r>
          </a:p>
          <a:p>
            <a:r>
              <a:rPr lang="en-US" dirty="0"/>
              <a:t>Human understanding blends linguistic experience with perception, action, causation, and shared social environments.</a:t>
            </a:r>
          </a:p>
          <a:p>
            <a:r>
              <a:rPr lang="en-US" dirty="0"/>
              <a:t>When language models fail in these ways, the failures illuminate what linguistic distribution alone cannot provide.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97106-25BF-6BBD-DC34-765CE69D4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9246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89060-5AE4-9049-A922-3AA201719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916FF1-2E10-CA67-9A41-F0B56180C9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CCE974-D4C5-F08E-3CFD-FD67DC7A7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central debate in cognitive science is whether LLMs perform something that counts as </a:t>
            </a:r>
            <a:r>
              <a:rPr lang="en-US" b="1" dirty="0"/>
              <a:t>reasoning</a:t>
            </a:r>
            <a:r>
              <a:rPr lang="en-US" dirty="0"/>
              <a:t>.</a:t>
            </a:r>
          </a:p>
          <a:p>
            <a:r>
              <a:rPr lang="en-US" dirty="0"/>
              <a:t>On one view, their successes at math problems, logic puzzles, and multi-step instructions show emerging inferential ability.</a:t>
            </a:r>
          </a:p>
          <a:p>
            <a:r>
              <a:rPr lang="en-US" dirty="0"/>
              <a:t>On another view, these successes arise from sophisticated pattern completion rather than genuine inference.</a:t>
            </a:r>
          </a:p>
          <a:p>
            <a:r>
              <a:rPr lang="en-US" dirty="0"/>
              <a:t>Understanding this distinction is key to evaluating what LLMs can tell us about human cognition.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Associative views</a:t>
            </a:r>
            <a:r>
              <a:rPr lang="en-US" dirty="0"/>
              <a:t> argue that LLMs generate plausible reasoning chains because they have absorbed many examples of human explanations.</a:t>
            </a:r>
          </a:p>
          <a:p>
            <a:r>
              <a:rPr lang="en-US" dirty="0"/>
              <a:t>When asked to “think step by step,” they reproduce linguistic forms of reasoning without actually manipulating structured representations.</a:t>
            </a:r>
          </a:p>
          <a:p>
            <a:r>
              <a:rPr lang="en-US" dirty="0"/>
              <a:t>This explains why they sometimes produce logically coherent arguments and sometimes drift into contradictions or irrelevant steps.</a:t>
            </a:r>
          </a:p>
          <a:p>
            <a:r>
              <a:rPr lang="en-US" dirty="0"/>
              <a:t>Their chain-of-thought is a linguistic artifact, not a cognitive process.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Inferential views</a:t>
            </a:r>
            <a:r>
              <a:rPr lang="en-US" dirty="0"/>
              <a:t> counter that reasoning does not require symbolic manipulation and may emerge from distributed representations.</a:t>
            </a:r>
          </a:p>
          <a:p>
            <a:r>
              <a:rPr lang="en-US" dirty="0"/>
              <a:t>Humans themselves use heuristics, analogies, and pattern-based shortcuts that resemble statistical inference more than formal logic.</a:t>
            </a:r>
          </a:p>
          <a:p>
            <a:r>
              <a:rPr lang="en-US" dirty="0"/>
              <a:t>Under this view, LLM reasoning looks fragile not because it’s fake, but because the models lack grounding, working memory, or stable intermediate representations.</a:t>
            </a:r>
          </a:p>
          <a:p>
            <a:r>
              <a:rPr lang="en-US" dirty="0"/>
              <a:t>The debate reflects deeper disagreements about what reasoning fundamentally is.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Where LLMs differ most from humans is in their </a:t>
            </a:r>
            <a:r>
              <a:rPr lang="en-US" b="1" dirty="0"/>
              <a:t>systematicity and flexibility</a:t>
            </a:r>
            <a:r>
              <a:rPr lang="en-US" dirty="0"/>
              <a:t>.</a:t>
            </a:r>
          </a:p>
          <a:p>
            <a:r>
              <a:rPr lang="en-US" dirty="0"/>
              <a:t>Humans can apply a learned rule to entirely new situations; LLMs often fail when surface features change or when examples fall outside the training distribution.</a:t>
            </a:r>
          </a:p>
          <a:p>
            <a:r>
              <a:rPr lang="en-US" dirty="0"/>
              <a:t>They also struggle with tasks requiring true variable binding, recursive reasoning, or causal explanation.</a:t>
            </a:r>
          </a:p>
          <a:p>
            <a:r>
              <a:rPr lang="en-US" dirty="0"/>
              <a:t>These contrasts highlight that LLM “reasoning” behaves impressively in-distribution but reveals its limits under stress.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22206-8B12-550F-97DF-A8069D1FA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09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F0C6E-A95C-B1A3-C86B-CB4FE8F17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D6DDD4-E985-2733-1109-5DEE785B7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7BE8B7-2EC3-3A56-1C18-8902BA6D8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Systematicity refers to the human ability to understand and generate an unbounded set of expressions from a finite set of components.</a:t>
            </a:r>
          </a:p>
          <a:p>
            <a:r>
              <a:rPr lang="en-US" dirty="0"/>
              <a:t>If you understand “the dog chased the cat,” you typically also understand “the cat chased the dog” and many related variants.</a:t>
            </a:r>
          </a:p>
          <a:p>
            <a:r>
              <a:rPr lang="en-US" dirty="0"/>
              <a:t>This generativity has traditionally been taken as evidence for structured, rule-like cognitive representations.</a:t>
            </a:r>
          </a:p>
          <a:p>
            <a:r>
              <a:rPr lang="en-US" dirty="0"/>
              <a:t>It captures a central intuition about how concepts combine flexibly across contexts.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Fodor and </a:t>
            </a:r>
            <a:r>
              <a:rPr lang="en-US" dirty="0" err="1"/>
              <a:t>Pylyshyn’s</a:t>
            </a:r>
            <a:r>
              <a:rPr lang="en-US" dirty="0"/>
              <a:t> critique held that neural networks cannot produce true systematicity because their representations are distributed rather than symbolic.</a:t>
            </a:r>
          </a:p>
          <a:p>
            <a:r>
              <a:rPr lang="en-US" dirty="0"/>
              <a:t>Under this view, connectionist models—and by extension LLMs—can approximate patterns but cannot encode abstract relational rules.</a:t>
            </a:r>
          </a:p>
          <a:p>
            <a:r>
              <a:rPr lang="en-US" dirty="0"/>
              <a:t>This argument has long shaped debates about the nature of thought and the requirements for genuine understanding.</a:t>
            </a:r>
          </a:p>
          <a:p>
            <a:r>
              <a:rPr lang="en-US" dirty="0"/>
              <a:t>Modern transformer models revive the debate by achieving partial systematic generalization at scale.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LLMs do show some compositional abilities, especially when the training distribution contains many examples illustrating a particular structure.</a:t>
            </a:r>
          </a:p>
          <a:p>
            <a:r>
              <a:rPr lang="en-US" dirty="0"/>
              <a:t>They can produce paraphrases, manipulate nested clauses, and solve some analogy-like tasks.</a:t>
            </a:r>
          </a:p>
          <a:p>
            <a:r>
              <a:rPr lang="en-US" dirty="0"/>
              <a:t>Yet they often fail when asked to apply rules to entirely novel combinations or domains—cases where systematicity should generalize most strongly.</a:t>
            </a:r>
          </a:p>
          <a:p>
            <a:r>
              <a:rPr lang="en-US" dirty="0"/>
              <a:t>These failures highlight that LLMs rely on association rather than stable, explicit rules.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But recent evidence suggests that </a:t>
            </a:r>
            <a:r>
              <a:rPr lang="en-US" b="1" dirty="0"/>
              <a:t>humans themselves are not perfectly compositional</a:t>
            </a:r>
            <a:r>
              <a:rPr lang="en-US" dirty="0"/>
              <a:t>, and may rely far more on statistical patterns, heuristics, and contextual inference than the classical view assumed.</a:t>
            </a:r>
          </a:p>
          <a:p>
            <a:r>
              <a:rPr lang="en-US" dirty="0"/>
              <a:t>People frequently misinterpret novel sentences, fail on unfamiliar syntactic forms, or misuse relational concepts outside familiar contexts.</a:t>
            </a:r>
          </a:p>
          <a:p>
            <a:r>
              <a:rPr lang="en-US" dirty="0"/>
              <a:t>This raises the possibility that compositionality, while real, may be </a:t>
            </a:r>
            <a:r>
              <a:rPr lang="en-US" b="1" dirty="0"/>
              <a:t>situational</a:t>
            </a:r>
            <a:r>
              <a:rPr lang="en-US" dirty="0"/>
              <a:t> rather than an all-purpose cognitive principle.</a:t>
            </a:r>
          </a:p>
          <a:p>
            <a:r>
              <a:rPr lang="en-US" dirty="0"/>
              <a:t>From this perspective, LLMs’ partial success—and partial failure—may actually mirror human cognition more closely than traditional symbolic theories predicted.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7C1A5-92B3-D798-4C6D-E7552C345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931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F6E75-DA2D-BC75-7BA4-E11A5293D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5267DB-65A3-0099-4EF9-6EB2F4AEEB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CFE9B5-C726-F144-44AC-6387A338C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Causal reasoning is one of the clearest domains where LLMs show both striking successes and deep limitations.</a:t>
            </a:r>
          </a:p>
          <a:p>
            <a:r>
              <a:rPr lang="en-US" dirty="0"/>
              <a:t>They can often talk </a:t>
            </a:r>
            <a:r>
              <a:rPr lang="en-US" i="1" dirty="0"/>
              <a:t>as if</a:t>
            </a:r>
            <a:r>
              <a:rPr lang="en-US" dirty="0"/>
              <a:t> they understand causes—describing why something happened or predicting an outcome.</a:t>
            </a:r>
          </a:p>
          <a:p>
            <a:r>
              <a:rPr lang="en-US" dirty="0"/>
              <a:t>But this apparent causal competence is built from patterns in text, not from interacting with the physical world.</a:t>
            </a:r>
          </a:p>
          <a:p>
            <a:r>
              <a:rPr lang="en-US" dirty="0"/>
              <a:t>Because text reflects correlations rather than mechanisms, LLMs frequently confuse association with causation.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The absence of real-world interaction means LLMs do not build the intuitive theories humans acquire through experience.</a:t>
            </a:r>
          </a:p>
          <a:p>
            <a:r>
              <a:rPr lang="en-US" dirty="0"/>
              <a:t>Children learn gravity by dropping things, learn volume by pouring water, and learn agency by acting on the world.</a:t>
            </a:r>
          </a:p>
          <a:p>
            <a:r>
              <a:rPr lang="en-US" dirty="0"/>
              <a:t>LLMs have never seen objects collide or liquids spill; they infer physical and social causality only indirectly through linguistic co-occurrence.</a:t>
            </a:r>
          </a:p>
          <a:p>
            <a:r>
              <a:rPr lang="en-US" dirty="0"/>
              <a:t>This makes their causal judgments brittle, especially for scenarios that are uncommon in text.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These limitations become obvious in tasks where inference requires more than verbal cues.</a:t>
            </a:r>
          </a:p>
          <a:p>
            <a:r>
              <a:rPr lang="en-US" dirty="0"/>
              <a:t>For example, LLMs may misjudge physical impossibilities, misunderstand time-ordering in causal chains, or fail to identify which variable in a scenario is the causal factor.</a:t>
            </a:r>
          </a:p>
          <a:p>
            <a:r>
              <a:rPr lang="en-US" dirty="0"/>
              <a:t>They often produce confident but contradictory explanations when asked to justify predictions.</a:t>
            </a:r>
          </a:p>
          <a:p>
            <a:r>
              <a:rPr lang="en-US" dirty="0"/>
              <a:t>In contrast, humans rely on richly structured mental models acquired through embodied interaction.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Despite these weaknesses, LLM failures in causal reasoning illuminate something important about human cognition.</a:t>
            </a:r>
          </a:p>
          <a:p>
            <a:r>
              <a:rPr lang="en-US" dirty="0"/>
              <a:t>They show how deeply our understanding depends on grounded experience, generative mental models, and intuitive physics—not just linguistic data.</a:t>
            </a:r>
          </a:p>
          <a:p>
            <a:r>
              <a:rPr lang="en-US" dirty="0"/>
              <a:t>At the same time, LLMs reveal how much causal information </a:t>
            </a:r>
            <a:r>
              <a:rPr lang="en-US" i="1" dirty="0"/>
              <a:t>is</a:t>
            </a:r>
            <a:r>
              <a:rPr lang="en-US" dirty="0"/>
              <a:t> embedded in language, given how far text-only systems can get.</a:t>
            </a:r>
          </a:p>
          <a:p>
            <a:r>
              <a:rPr lang="en-US" dirty="0"/>
              <a:t>This contrast helps clarify both the power and the limits of statistical learning as a route to understanding.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3065B-DFAA-70A3-8138-16DA754417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2526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6255B-172D-017E-BE85-B8C354A0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1B0A7-896B-4DB9-5F14-090AD928F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FBD1AC-66A8-98E7-25A1-FEE2DB81A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Arithmetic provides an unusual perspective on LLM abilities because they often outperform humans on basic numerical tasks.</a:t>
            </a:r>
          </a:p>
          <a:p>
            <a:r>
              <a:rPr lang="en-US" dirty="0"/>
              <a:t>Most people cannot instantly add or multiply large five-digit numbers, but LLMs can do these operations fluidly in many cases.</a:t>
            </a:r>
          </a:p>
          <a:p>
            <a:r>
              <a:rPr lang="en-US" dirty="0"/>
              <a:t>This suggests that models learn reliable internal mappings between numerical symbols through exposure to text and examples.</a:t>
            </a:r>
          </a:p>
          <a:p>
            <a:r>
              <a:rPr lang="en-US" dirty="0"/>
              <a:t>It’s one of the rare domains where models seem more precise than human intuition.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Importantly, research shows that LLMs are </a:t>
            </a:r>
            <a:r>
              <a:rPr lang="en-US" b="1" dirty="0"/>
              <a:t>not simply memorizing</a:t>
            </a:r>
            <a:r>
              <a:rPr lang="en-US" dirty="0"/>
              <a:t> the answers to every arithmetic question they’ve seen.</a:t>
            </a:r>
          </a:p>
          <a:p>
            <a:r>
              <a:rPr lang="en-US" dirty="0"/>
              <a:t>Models demonstrate interpolation: they solve novel problems that fall within the numerical range or structural patterns present in training data.</a:t>
            </a:r>
          </a:p>
          <a:p>
            <a:r>
              <a:rPr lang="en-US" dirty="0"/>
              <a:t>This means LLMs have learned an approximate </a:t>
            </a:r>
            <a:r>
              <a:rPr lang="en-US" i="1" dirty="0"/>
              <a:t>function</a:t>
            </a:r>
            <a:r>
              <a:rPr lang="en-US" dirty="0"/>
              <a:t> that maps number sequences to answers.</a:t>
            </a:r>
          </a:p>
          <a:p>
            <a:r>
              <a:rPr lang="en-US" dirty="0"/>
              <a:t>Within familiar ranges, this function is surprisingly accurate.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But LLMs struggle with </a:t>
            </a:r>
            <a:r>
              <a:rPr lang="en-US" b="1" dirty="0"/>
              <a:t>extrapolation</a:t>
            </a:r>
            <a:r>
              <a:rPr lang="en-US" dirty="0"/>
              <a:t>, especially for numbers well outside their training distribution.</a:t>
            </a:r>
          </a:p>
          <a:p>
            <a:r>
              <a:rPr lang="en-US" dirty="0"/>
              <a:t>As the magnitudes grow, their internal approximation functions accumulate error, leading to increasingly incorrect results.</a:t>
            </a:r>
          </a:p>
          <a:p>
            <a:r>
              <a:rPr lang="en-US" dirty="0"/>
              <a:t>This is not surprising: they are fitting a very complex mapping using patterns extracted from text, rather than implementing exact symbolic algorithms.</a:t>
            </a:r>
          </a:p>
          <a:p>
            <a:r>
              <a:rPr lang="en-US" dirty="0"/>
              <a:t>This mirrors their broader difficulty with tasks requiring perfect generalization beyond training context.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Humans differ in both directions.</a:t>
            </a:r>
          </a:p>
          <a:p>
            <a:r>
              <a:rPr lang="en-US" dirty="0"/>
              <a:t>We struggle with large calculations unless we apply explicit, learned algorithms, and even then the process is slow and error-prone.</a:t>
            </a:r>
          </a:p>
          <a:p>
            <a:r>
              <a:rPr lang="en-US" dirty="0"/>
              <a:t>Yet humans </a:t>
            </a:r>
            <a:r>
              <a:rPr lang="en-US" i="1" dirty="0"/>
              <a:t>can</a:t>
            </a:r>
            <a:r>
              <a:rPr lang="en-US" dirty="0"/>
              <a:t> generalize these algorithms to arbitrarily large numbers because the steps are rule-based and scalable.</a:t>
            </a:r>
          </a:p>
          <a:p>
            <a:r>
              <a:rPr lang="en-US" dirty="0"/>
              <a:t>LLMs that succeed at algorithmic performance (e.g., when fine-tuned or tool-augmented) do so by learning or simulating similar stepwise procedures.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8FD13-F450-BC11-594B-76F7B32A86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9028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DAA81-5EA2-E903-18FE-8522BCC34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1A1F13-3EAF-2248-4EA1-3C6B202DB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F0B82E-1D13-B474-995D-C1414DB96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LLMs offer a concrete demonstration of how far predictive learning can go, and this mirrors certain theories in cognitive science.</a:t>
            </a:r>
          </a:p>
          <a:p>
            <a:r>
              <a:rPr lang="en-US" dirty="0"/>
              <a:t>Both humans and LLMs adjust internal representations based on prediction error, and both rely on distributed patterns rather than rigid symbolic rules.</a:t>
            </a:r>
          </a:p>
          <a:p>
            <a:r>
              <a:rPr lang="en-US" dirty="0"/>
              <a:t>This overlap helps us test ideas about language acquisition, representation, and generalization at a scale previously unimaginable.</a:t>
            </a:r>
          </a:p>
          <a:p>
            <a:r>
              <a:rPr lang="en-US" dirty="0"/>
              <a:t>However, these parallels should not obscure profound differences in how humans and models learn.</a:t>
            </a:r>
          </a:p>
          <a:p>
            <a:endParaRPr lang="en-US" dirty="0"/>
          </a:p>
          <a:p>
            <a:r>
              <a:rPr lang="en-US" dirty="0"/>
              <a:t>One major divergence is the learning environment itself.</a:t>
            </a:r>
          </a:p>
          <a:p>
            <a:r>
              <a:rPr lang="en-US" dirty="0"/>
              <a:t>Humans learn language through multimodal, social, embodied interaction, with dense cues from perception, joint attention, and action.</a:t>
            </a:r>
          </a:p>
          <a:p>
            <a:r>
              <a:rPr lang="en-US" dirty="0"/>
              <a:t>LLMs learn from static text divorced from real-world context, meaning, and sensory grounding.</a:t>
            </a:r>
          </a:p>
          <a:p>
            <a:r>
              <a:rPr lang="en-US" dirty="0"/>
              <a:t>This mismatch profoundly shapes what each system can represent and what kinds of mistakes they make.</a:t>
            </a:r>
          </a:p>
          <a:p>
            <a:endParaRPr lang="en-US" dirty="0"/>
          </a:p>
          <a:p>
            <a:r>
              <a:rPr lang="en-US" dirty="0"/>
              <a:t>Another divergence concerns memory and architecture.</a:t>
            </a:r>
          </a:p>
          <a:p>
            <a:r>
              <a:rPr lang="en-US" dirty="0"/>
              <a:t>Humans rely on working memory, hierarchical planning, long-term conceptual structures, and specialized brain systems for vision, motor control, and spatial reasoning.</a:t>
            </a:r>
          </a:p>
          <a:p>
            <a:r>
              <a:rPr lang="en-US" dirty="0"/>
              <a:t>LLMs rely on massive parallel context windows, static embeddings, and entirely text-based internal representations.</a:t>
            </a:r>
          </a:p>
          <a:p>
            <a:r>
              <a:rPr lang="en-US" dirty="0"/>
              <a:t>Their apparent reasoning emerges from statistical association, not from modular cognitive mechanisms.</a:t>
            </a:r>
          </a:p>
          <a:p>
            <a:endParaRPr lang="en-US" dirty="0"/>
          </a:p>
          <a:p>
            <a:r>
              <a:rPr lang="en-US" dirty="0"/>
              <a:t>Finally, humans have goals, beliefs, desires, and social motivations that guide learning and communication.</a:t>
            </a:r>
          </a:p>
          <a:p>
            <a:r>
              <a:rPr lang="en-US" dirty="0"/>
              <a:t>LLMs have none of these—they generate text based on statistical continuation, not intentional action.</a:t>
            </a:r>
          </a:p>
          <a:p>
            <a:r>
              <a:rPr lang="en-US" dirty="0"/>
              <a:t>Their outputs may </a:t>
            </a:r>
            <a:r>
              <a:rPr lang="en-US" i="1" dirty="0"/>
              <a:t>appear</a:t>
            </a:r>
            <a:r>
              <a:rPr lang="en-US" dirty="0"/>
              <a:t> purposeful, but the underlying system lacks agency, world modeling, or self-directed inquiry.</a:t>
            </a:r>
          </a:p>
          <a:p>
            <a:r>
              <a:rPr lang="en-US" dirty="0"/>
              <a:t>Recognizing these divergences prepares us to ask deeper questions about meaning, understanding, and intelligence in the next lecture.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5DF0A-5F17-678E-E646-2692467160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559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34809-F69F-0D48-97F8-9CF76A5308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340" y="1122363"/>
            <a:ext cx="5785769" cy="2387600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  <a:t>Title Here:</a:t>
            </a:r>
            <a:b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</a:br>
            <a: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  <a:t>Tell Your</a:t>
            </a:r>
            <a:b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</a:br>
            <a: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  <a:t>Illinois Story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FA99F5-1DAB-644E-87BD-7B2BE337D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1340" y="3602038"/>
            <a:ext cx="5785769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Name: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E86B4-4E28-5743-B958-4D04BD329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6C45-97B4-7545-8562-07255BCE2FE0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A9BA8F-BF67-344F-9BFA-A8262A79BC8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37075" y="5718264"/>
            <a:ext cx="3117850" cy="80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320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B210D-E74D-9F46-BBEB-61CE8DBFB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7874" y="6095093"/>
            <a:ext cx="2743200" cy="365125"/>
          </a:xfrm>
        </p:spPr>
        <p:txBody>
          <a:bodyPr/>
          <a:lstStyle/>
          <a:p>
            <a:fld id="{47306C45-97B4-7545-8562-07255BC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26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C4261-61FB-7142-9417-2F78D37976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23" y="365125"/>
            <a:ext cx="9614263" cy="1325563"/>
          </a:xfrm>
        </p:spPr>
        <p:txBody>
          <a:bodyPr/>
          <a:lstStyle>
            <a:lvl1pPr algn="ctr">
              <a:defRPr b="1" i="0">
                <a:solidFill>
                  <a:srgbClr val="E84A2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Hello.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12F32-5110-BE43-86BA-CB778EC42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23" y="1690688"/>
            <a:ext cx="9614263" cy="3625895"/>
          </a:xfrm>
        </p:spPr>
        <p:txBody>
          <a:bodyPr/>
          <a:lstStyle>
            <a:lvl1pPr>
              <a:defRPr>
                <a:solidFill>
                  <a:srgbClr val="13294B"/>
                </a:solidFill>
              </a:defRPr>
            </a:lvl1pPr>
            <a:lvl2pPr>
              <a:defRPr>
                <a:solidFill>
                  <a:srgbClr val="13294B"/>
                </a:solidFill>
              </a:defRPr>
            </a:lvl2pPr>
            <a:lvl3pPr>
              <a:defRPr>
                <a:solidFill>
                  <a:srgbClr val="13294B"/>
                </a:solidFill>
              </a:defRPr>
            </a:lvl3pPr>
            <a:lvl4pPr>
              <a:defRPr>
                <a:solidFill>
                  <a:srgbClr val="13294B"/>
                </a:solidFill>
              </a:defRPr>
            </a:lvl4pPr>
            <a:lvl5pPr>
              <a:defRPr>
                <a:solidFill>
                  <a:srgbClr val="13294B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963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26ADA6-32C7-6D47-94AB-D149FA9C1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FDBC8-5F1C-654A-9325-61F424413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1FB5C-A5C2-4C44-A9DF-4F6A196EC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06C45-97B4-7545-8562-07255BC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8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E84A27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3294B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3294B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3294B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3294B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3294B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55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83CDB9E-798C-A842-B031-6BFA04385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9571" y="773546"/>
            <a:ext cx="5935859" cy="272025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0000" dirty="0">
                <a:latin typeface="Calibri"/>
                <a:cs typeface="Calibri"/>
              </a:rPr>
              <a:t>PSYC 496</a:t>
            </a:r>
            <a:endParaRPr lang="en-US" sz="10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2F9A5BC-DE40-064D-98AE-B1AA2F27430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017406" y="3472201"/>
            <a:ext cx="8283862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latin typeface="Calibri"/>
                <a:cs typeface="Calibri"/>
              </a:rPr>
              <a:t>Lecture 7: LLM Strengths, Weaknesses, and Misconceptions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87BCB3F-D51B-11CA-8A5C-B653C02DD655}"/>
              </a:ext>
            </a:extLst>
          </p:cNvPr>
          <p:cNvSpPr/>
          <p:nvPr/>
        </p:nvSpPr>
        <p:spPr>
          <a:xfrm>
            <a:off x="443346" y="1263072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96C562F-8F13-2516-D9AF-45E75A96A3C5}"/>
              </a:ext>
            </a:extLst>
          </p:cNvPr>
          <p:cNvSpPr/>
          <p:nvPr/>
        </p:nvSpPr>
        <p:spPr>
          <a:xfrm>
            <a:off x="1505528" y="3248890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2052EBC-2E12-F996-BB1F-41F23E64F1BE}"/>
              </a:ext>
            </a:extLst>
          </p:cNvPr>
          <p:cNvSpPr/>
          <p:nvPr/>
        </p:nvSpPr>
        <p:spPr>
          <a:xfrm>
            <a:off x="443345" y="3318162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A4D7291-4D5A-9593-1D85-950EBFC1FF07}"/>
              </a:ext>
            </a:extLst>
          </p:cNvPr>
          <p:cNvSpPr/>
          <p:nvPr/>
        </p:nvSpPr>
        <p:spPr>
          <a:xfrm>
            <a:off x="443346" y="5246253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2E91675-03DF-90EE-942D-06C70F754DEE}"/>
              </a:ext>
            </a:extLst>
          </p:cNvPr>
          <p:cNvCxnSpPr/>
          <p:nvPr/>
        </p:nvCxnSpPr>
        <p:spPr>
          <a:xfrm>
            <a:off x="867642" y="2172278"/>
            <a:ext cx="1052944" cy="111067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2D74029-D6FE-2938-F6DF-602FCD9AA658}"/>
              </a:ext>
            </a:extLst>
          </p:cNvPr>
          <p:cNvCxnSpPr>
            <a:cxnSpLocks/>
          </p:cNvCxnSpPr>
          <p:nvPr/>
        </p:nvCxnSpPr>
        <p:spPr>
          <a:xfrm>
            <a:off x="879187" y="2172278"/>
            <a:ext cx="25400" cy="11799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7831A33E-2612-45D1-F1F0-57371C01F8AB}"/>
              </a:ext>
            </a:extLst>
          </p:cNvPr>
          <p:cNvSpPr/>
          <p:nvPr/>
        </p:nvSpPr>
        <p:spPr>
          <a:xfrm>
            <a:off x="1505528" y="5246253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565D7F4-2920-5911-7086-757F822A07E3}"/>
              </a:ext>
            </a:extLst>
          </p:cNvPr>
          <p:cNvSpPr/>
          <p:nvPr/>
        </p:nvSpPr>
        <p:spPr>
          <a:xfrm>
            <a:off x="2694709" y="5246252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E6F4CE-E239-70EB-26D3-C8CB8E270185}"/>
              </a:ext>
            </a:extLst>
          </p:cNvPr>
          <p:cNvCxnSpPr>
            <a:cxnSpLocks/>
          </p:cNvCxnSpPr>
          <p:nvPr/>
        </p:nvCxnSpPr>
        <p:spPr>
          <a:xfrm>
            <a:off x="1941369" y="4169641"/>
            <a:ext cx="1168399" cy="108758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0727C65-F6C0-78C9-A469-40AAD8018B82}"/>
              </a:ext>
            </a:extLst>
          </p:cNvPr>
          <p:cNvCxnSpPr>
            <a:cxnSpLocks/>
          </p:cNvCxnSpPr>
          <p:nvPr/>
        </p:nvCxnSpPr>
        <p:spPr>
          <a:xfrm flipH="1">
            <a:off x="1955223" y="4158096"/>
            <a:ext cx="9238" cy="108758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A7C2072-1E04-8B83-DAA8-B48C97536A6F}"/>
              </a:ext>
            </a:extLst>
          </p:cNvPr>
          <p:cNvCxnSpPr>
            <a:cxnSpLocks/>
          </p:cNvCxnSpPr>
          <p:nvPr/>
        </p:nvCxnSpPr>
        <p:spPr>
          <a:xfrm>
            <a:off x="890732" y="4227368"/>
            <a:ext cx="13855" cy="101831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583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9EBF2-2C25-9B2C-CD8B-6F2756F75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CCE30A50-FDB4-914D-AF99-682BD5A6A4B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How Large Language Models 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4E7FC0-AD0A-995A-76A4-D473D0A4EC9B}"/>
              </a:ext>
            </a:extLst>
          </p:cNvPr>
          <p:cNvSpPr txBox="1"/>
          <p:nvPr/>
        </p:nvSpPr>
        <p:spPr>
          <a:xfrm>
            <a:off x="215153" y="1398655"/>
            <a:ext cx="442408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Problem Do LLMs Actually Solve?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Reveal limits of human assumptions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Show prediction as powerful mechanism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Test theories of mind and language</a:t>
            </a:r>
          </a:p>
        </p:txBody>
      </p:sp>
      <p:pic>
        <p:nvPicPr>
          <p:cNvPr id="2050" name="Picture 2" descr="Large Language Models Explained - At a High Level LLMs such as GPT-4, Bard  and LLama appear magical and have displayed emergent human-like  intelligence Fundamentally, the work on a pretty simple principle -">
            <a:extLst>
              <a:ext uri="{FF2B5EF4-FFF2-40B4-BE49-F238E27FC236}">
                <a16:creationId xmlns:a16="http://schemas.microsoft.com/office/drawing/2014/main" id="{1C96D86D-0424-028D-8F1D-FF07C1668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3369" y="1177812"/>
            <a:ext cx="7668631" cy="4502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6AF58A-D809-23F7-9F2C-5E0FFAECBEE4}"/>
              </a:ext>
            </a:extLst>
          </p:cNvPr>
          <p:cNvSpPr txBox="1"/>
          <p:nvPr/>
        </p:nvSpPr>
        <p:spPr>
          <a:xfrm>
            <a:off x="4772937" y="1550942"/>
            <a:ext cx="968188" cy="32316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An</a:t>
            </a:r>
          </a:p>
          <a:p>
            <a:pPr algn="r"/>
            <a:endParaRPr lang="en-US" sz="2000" dirty="0"/>
          </a:p>
          <a:p>
            <a:pPr algn="r"/>
            <a:endParaRPr lang="en-US" sz="2000" dirty="0"/>
          </a:p>
          <a:p>
            <a:pPr algn="r"/>
            <a:r>
              <a:rPr lang="en-US" sz="2000" dirty="0"/>
              <a:t>eagle</a:t>
            </a:r>
          </a:p>
          <a:p>
            <a:pPr algn="r"/>
            <a:endParaRPr lang="en-US" sz="2000" dirty="0"/>
          </a:p>
          <a:p>
            <a:pPr algn="r"/>
            <a:endParaRPr lang="en-US" sz="2000" dirty="0"/>
          </a:p>
          <a:p>
            <a:pPr algn="r"/>
            <a:r>
              <a:rPr lang="en-US" sz="2000" dirty="0"/>
              <a:t>is</a:t>
            </a:r>
          </a:p>
          <a:p>
            <a:pPr algn="r"/>
            <a:endParaRPr lang="en-US" sz="2000" dirty="0"/>
          </a:p>
          <a:p>
            <a:pPr algn="r"/>
            <a:endParaRPr lang="en-US" sz="2000" dirty="0"/>
          </a:p>
          <a:p>
            <a:pPr algn="r"/>
            <a:r>
              <a:rPr lang="en-US" sz="2000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0F8128-B4A0-AE1C-206F-86F8B5CBCE4B}"/>
              </a:ext>
            </a:extLst>
          </p:cNvPr>
          <p:cNvSpPr txBox="1"/>
          <p:nvPr/>
        </p:nvSpPr>
        <p:spPr>
          <a:xfrm>
            <a:off x="10854628" y="2563953"/>
            <a:ext cx="62762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bird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EC40BC-39A3-169B-2105-D58F97203856}"/>
              </a:ext>
            </a:extLst>
          </p:cNvPr>
          <p:cNvSpPr txBox="1"/>
          <p:nvPr/>
        </p:nvSpPr>
        <p:spPr>
          <a:xfrm>
            <a:off x="10227005" y="2394676"/>
            <a:ext cx="62762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very   </a:t>
            </a:r>
          </a:p>
        </p:txBody>
      </p:sp>
    </p:spTree>
    <p:extLst>
      <p:ext uri="{BB962C8B-B14F-4D97-AF65-F5344CB8AC3E}">
        <p14:creationId xmlns:p14="http://schemas.microsoft.com/office/powerpoint/2010/main" val="2664817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3D1EF-7167-6701-0B51-7C220CBB5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CB5C7932-4383-5143-F949-075D38D26EC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What We Can Learn from LLMs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DF4221-8C07-B706-3C27-19FE81D21F35}"/>
              </a:ext>
            </a:extLst>
          </p:cNvPr>
          <p:cNvSpPr txBox="1"/>
          <p:nvPr/>
        </p:nvSpPr>
        <p:spPr>
          <a:xfrm>
            <a:off x="364346" y="1094775"/>
            <a:ext cx="406817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LLMs Actually Learn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Statistical structure of language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Correlations support fluent output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Meaning emerges through patterns</a:t>
            </a:r>
          </a:p>
        </p:txBody>
      </p:sp>
      <p:pic>
        <p:nvPicPr>
          <p:cNvPr id="3074" name="Picture 2" descr="Word Embedding: Basics. Create a vector from a word | by Hariom Gautam |  Medium">
            <a:extLst>
              <a:ext uri="{FF2B5EF4-FFF2-40B4-BE49-F238E27FC236}">
                <a16:creationId xmlns:a16="http://schemas.microsoft.com/office/drawing/2014/main" id="{DED488F0-614E-9369-0A90-C610F8DCDB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54"/>
          <a:stretch>
            <a:fillRect/>
          </a:stretch>
        </p:blipFill>
        <p:spPr bwMode="auto">
          <a:xfrm>
            <a:off x="4912317" y="3165411"/>
            <a:ext cx="7125952" cy="281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onnectionism - Wikipedia">
            <a:extLst>
              <a:ext uri="{FF2B5EF4-FFF2-40B4-BE49-F238E27FC236}">
                <a16:creationId xmlns:a16="http://schemas.microsoft.com/office/drawing/2014/main" id="{758C6504-4FB6-7C72-EC6C-94F6AA54D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7057" y="408075"/>
            <a:ext cx="2946237" cy="2624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1A826A-4858-170F-45D4-DD323730F634}"/>
              </a:ext>
            </a:extLst>
          </p:cNvPr>
          <p:cNvSpPr txBox="1"/>
          <p:nvPr/>
        </p:nvSpPr>
        <p:spPr>
          <a:xfrm>
            <a:off x="6074379" y="2980745"/>
            <a:ext cx="2400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Hidden Unit Activations</a:t>
            </a:r>
          </a:p>
        </p:txBody>
      </p:sp>
    </p:spTree>
    <p:extLst>
      <p:ext uri="{BB962C8B-B14F-4D97-AF65-F5344CB8AC3E}">
        <p14:creationId xmlns:p14="http://schemas.microsoft.com/office/powerpoint/2010/main" val="3926738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A8F87-C0F7-3816-7146-0C80013F8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53D87B03-0D48-4AB1-2F31-819057E9D48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What We Can Learn from LLMs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0E6339-8638-FD26-A0E6-B4CB799650F4}"/>
              </a:ext>
            </a:extLst>
          </p:cNvPr>
          <p:cNvSpPr txBox="1"/>
          <p:nvPr/>
        </p:nvSpPr>
        <p:spPr>
          <a:xfrm>
            <a:off x="376518" y="1429300"/>
            <a:ext cx="4025001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Strengths of LLMs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Fluent across many domains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Adapt quickly via prompting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Handle long-range patterns and structure well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0F98163-CCFA-AC40-AD04-C8C89571A28A}"/>
              </a:ext>
            </a:extLst>
          </p:cNvPr>
          <p:cNvGraphicFramePr/>
          <p:nvPr/>
        </p:nvGraphicFramePr>
        <p:xfrm>
          <a:off x="3178875" y="170483"/>
          <a:ext cx="9013125" cy="61186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89327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C71CD-0C47-3A97-0E98-08504D958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969118F9-C524-E4E2-5162-C16AFD9CF01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What We Can Learn from LLMs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695A0E-75AA-BE42-EA48-A483F2F97586}"/>
              </a:ext>
            </a:extLst>
          </p:cNvPr>
          <p:cNvSpPr txBox="1"/>
          <p:nvPr/>
        </p:nvSpPr>
        <p:spPr>
          <a:xfrm>
            <a:off x="8260597" y="1628507"/>
            <a:ext cx="3931403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Emergent Abilities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New skills appear at scale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Small models lack these patterns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Not explicitly programmed or taught</a:t>
            </a:r>
          </a:p>
        </p:txBody>
      </p:sp>
      <p:pic>
        <p:nvPicPr>
          <p:cNvPr id="1026" name="Picture 2" descr="Are LLMs truly intelligent? New study questions the 'emergence' of AI  abilities - TechTalks">
            <a:extLst>
              <a:ext uri="{FF2B5EF4-FFF2-40B4-BE49-F238E27FC236}">
                <a16:creationId xmlns:a16="http://schemas.microsoft.com/office/drawing/2014/main" id="{CABCC75F-FEB8-2746-CB2B-D4CD028EE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13" y="783686"/>
            <a:ext cx="7845315" cy="5290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4268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D1781-6339-F398-DC82-5E564F199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F153040F-C6E5-4FA2-4858-AAD3FDBB736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What We Can Learn from LLMs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771CF3-E4A2-7DB8-2F53-029EE6BCDC60}"/>
              </a:ext>
            </a:extLst>
          </p:cNvPr>
          <p:cNvSpPr txBox="1"/>
          <p:nvPr/>
        </p:nvSpPr>
        <p:spPr>
          <a:xfrm>
            <a:off x="376519" y="1348742"/>
            <a:ext cx="3254188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Limitations of LLMs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Lack grounding in perception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Weak causal reasoning abilities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Pragmatics often breaks down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292B612-B12E-B747-97EE-940311F53616}"/>
              </a:ext>
            </a:extLst>
          </p:cNvPr>
          <p:cNvGraphicFramePr/>
          <p:nvPr/>
        </p:nvGraphicFramePr>
        <p:xfrm>
          <a:off x="3116882" y="507067"/>
          <a:ext cx="9075118" cy="5843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21494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88D113-85F5-47F0-DB0C-9A4C4EEF6CC0}"/>
              </a:ext>
            </a:extLst>
          </p:cNvPr>
          <p:cNvSpPr txBox="1"/>
          <p:nvPr/>
        </p:nvSpPr>
        <p:spPr>
          <a:xfrm>
            <a:off x="462643" y="1348742"/>
            <a:ext cx="11266714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Discussion Question:</a:t>
            </a:r>
            <a:br>
              <a:rPr lang="en-US" sz="3200" b="1" dirty="0"/>
            </a:br>
            <a:endParaRPr lang="en-US" sz="3200" b="1" dirty="0"/>
          </a:p>
          <a:p>
            <a:r>
              <a:rPr lang="en-US" sz="3200" b="1" dirty="0"/>
              <a:t>What does it mean to “memorize” an experience?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Which/how much of your knowledge is “memorized”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What would count as evidence of memorization in a human? In an LLM?</a:t>
            </a:r>
          </a:p>
        </p:txBody>
      </p:sp>
    </p:spTree>
    <p:extLst>
      <p:ext uri="{BB962C8B-B14F-4D97-AF65-F5344CB8AC3E}">
        <p14:creationId xmlns:p14="http://schemas.microsoft.com/office/powerpoint/2010/main" val="3762360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81026-EBC1-DADB-CE0E-D2AFA7A75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1BDEE96D-AB60-1B4F-04E5-43F78329CE2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What We Can Learn from LLMs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74F346-0829-27BB-A804-6C694C210C18}"/>
              </a:ext>
            </a:extLst>
          </p:cNvPr>
          <p:cNvSpPr txBox="1"/>
          <p:nvPr/>
        </p:nvSpPr>
        <p:spPr>
          <a:xfrm>
            <a:off x="340961" y="984535"/>
            <a:ext cx="945396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Are LLMs Just Memorizing Their Training Data?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Some memorization is inevitable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But most outputs are generalized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Interpolation ≠ copying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3976F0-8C9D-DA5A-137B-DC16E1B4CE05}"/>
              </a:ext>
            </a:extLst>
          </p:cNvPr>
          <p:cNvGraphicFramePr>
            <a:graphicFrameLocks noGrp="1"/>
          </p:cNvGraphicFramePr>
          <p:nvPr/>
        </p:nvGraphicFramePr>
        <p:xfrm>
          <a:off x="0" y="2926679"/>
          <a:ext cx="12192000" cy="2946008"/>
        </p:xfrm>
        <a:graphic>
          <a:graphicData uri="http://schemas.openxmlformats.org/drawingml/2006/table">
            <a:tbl>
              <a:tblPr/>
              <a:tblGrid>
                <a:gridCol w="1627322">
                  <a:extLst>
                    <a:ext uri="{9D8B030D-6E8A-4147-A177-3AD203B41FA5}">
                      <a16:colId xmlns:a16="http://schemas.microsoft.com/office/drawing/2014/main" val="2148590657"/>
                    </a:ext>
                  </a:extLst>
                </a:gridCol>
                <a:gridCol w="2898183">
                  <a:extLst>
                    <a:ext uri="{9D8B030D-6E8A-4147-A177-3AD203B41FA5}">
                      <a16:colId xmlns:a16="http://schemas.microsoft.com/office/drawing/2014/main" val="847920857"/>
                    </a:ext>
                  </a:extLst>
                </a:gridCol>
                <a:gridCol w="2681207">
                  <a:extLst>
                    <a:ext uri="{9D8B030D-6E8A-4147-A177-3AD203B41FA5}">
                      <a16:colId xmlns:a16="http://schemas.microsoft.com/office/drawing/2014/main" val="642545024"/>
                    </a:ext>
                  </a:extLst>
                </a:gridCol>
                <a:gridCol w="4985288">
                  <a:extLst>
                    <a:ext uri="{9D8B030D-6E8A-4147-A177-3AD203B41FA5}">
                      <a16:colId xmlns:a16="http://schemas.microsoft.com/office/drawing/2014/main" val="4075995416"/>
                    </a:ext>
                  </a:extLst>
                </a:gridCol>
              </a:tblGrid>
              <a:tr h="162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Mode</a:t>
                      </a:r>
                      <a:endParaRPr lang="en-US" sz="1700"/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Definition</a:t>
                      </a:r>
                      <a:endParaRPr lang="en-US" sz="1700"/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Example Output</a:t>
                      </a:r>
                      <a:endParaRPr lang="en-US" sz="1700" dirty="0"/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Why It Happens</a:t>
                      </a:r>
                      <a:endParaRPr lang="en-US" sz="1700"/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591044"/>
                  </a:ext>
                </a:extLst>
              </a:tr>
              <a:tr h="4055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Memorization</a:t>
                      </a:r>
                      <a:endParaRPr lang="en-US" sz="1700"/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Model reproduces text seen many times during training.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i="1"/>
                        <a:t>“To be, or not to be…”</a:t>
                      </a:r>
                      <a:r>
                        <a:rPr lang="en-US" sz="1700"/>
                        <a:t> (nearly verbatim)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Extremely frequent or unique sequences dominate prediction; safest way to reduce loss is to store them closely.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535188"/>
                  </a:ext>
                </a:extLst>
              </a:tr>
              <a:tr h="4045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Generalization</a:t>
                      </a:r>
                      <a:endParaRPr lang="en-US" sz="1700"/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Model produces </a:t>
                      </a:r>
                      <a:r>
                        <a:rPr lang="en-US" sz="1700" i="1"/>
                        <a:t>new</a:t>
                      </a:r>
                      <a:r>
                        <a:rPr lang="en-US" sz="1700"/>
                        <a:t>, correct responses by interpolating across learned patterns.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i="1"/>
                        <a:t>Prompt:</a:t>
                      </a:r>
                      <a:r>
                        <a:rPr lang="en-US" sz="1700"/>
                        <a:t> “345 + 257 = ?” → </a:t>
                      </a:r>
                      <a:r>
                        <a:rPr lang="en-US" sz="1700" b="1"/>
                        <a:t>“602”</a:t>
                      </a:r>
                      <a:r>
                        <a:rPr lang="en-US" sz="1700"/>
                        <a:t> (unseen problem, correct).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Rich, consistent patterns allow the model to infer underlying structure (e.g., arithmetic, analogies).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633721"/>
                  </a:ext>
                </a:extLst>
              </a:tr>
              <a:tr h="4055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Hallucination</a:t>
                      </a:r>
                      <a:endParaRPr lang="en-US" sz="1700"/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Model invents plausible but false content when statistical constraints are weak.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i="1" dirty="0"/>
                        <a:t>Prompt:</a:t>
                      </a:r>
                      <a:r>
                        <a:rPr lang="en-US" sz="1700" dirty="0"/>
                        <a:t> “List Marie Curie’s three children.” → </a:t>
                      </a:r>
                      <a:r>
                        <a:rPr lang="en-US" sz="1700" b="1" dirty="0"/>
                        <a:t>Produces fabricated names.</a:t>
                      </a:r>
                      <a:endParaRPr lang="en-US" sz="1700" dirty="0"/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Sparse, inconsistent, or absent training data leads the model to fill gaps with the most likely continuation.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575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9005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1871C-0240-3FC9-BBEC-982818147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7114AF95-0945-0366-DB07-4A9034C10CE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What We Can Learn from LLMs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CAAD87-2CE2-134B-AF91-D04DCF9038B0}"/>
              </a:ext>
            </a:extLst>
          </p:cNvPr>
          <p:cNvSpPr txBox="1"/>
          <p:nvPr/>
        </p:nvSpPr>
        <p:spPr>
          <a:xfrm>
            <a:off x="1" y="652151"/>
            <a:ext cx="609599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Why LLMs “Hallucinate”: </a:t>
            </a:r>
            <a:br>
              <a:rPr lang="en-US" sz="3200" b="1" dirty="0"/>
            </a:br>
            <a:r>
              <a:rPr lang="en-US" sz="3200" b="1" dirty="0"/>
              <a:t>The Flip Side of Non-Memorization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Prediction without grounding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Gaps → plausible inventions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Same mechanism, opposite outcome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CB12200-4416-0D75-94D0-442C0D0247B4}"/>
              </a:ext>
            </a:extLst>
          </p:cNvPr>
          <p:cNvGraphicFramePr>
            <a:graphicFrameLocks noGrp="1"/>
          </p:cNvGraphicFramePr>
          <p:nvPr/>
        </p:nvGraphicFramePr>
        <p:xfrm>
          <a:off x="0" y="2837365"/>
          <a:ext cx="12192000" cy="413353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578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14985324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05456999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910636399"/>
                    </a:ext>
                  </a:extLst>
                </a:gridCol>
              </a:tblGrid>
              <a:tr h="213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Prompt / Situation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5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Model Output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5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Pattern Being Extended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5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Hallucination Likelihood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53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692097"/>
                  </a:ext>
                </a:extLst>
              </a:tr>
              <a:tr h="583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“Write a biography of Marie Curie’s son.”</a:t>
                      </a:r>
                      <a:r>
                        <a:rPr lang="en-US" sz="1600" dirty="0"/>
                        <a:t> (she had no sons)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Invents a son’s name and career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Filling schematic “biography template”: family → childhood → career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High</a:t>
                      </a:r>
                      <a:r>
                        <a:rPr lang="en-US" sz="1600"/>
                        <a:t> — strong template, weak factual constraints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225506"/>
                  </a:ext>
                </a:extLst>
              </a:tr>
              <a:tr h="448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“Summarize this scientific abstract”</a:t>
                      </a:r>
                      <a:endParaRPr lang="en-US" sz="16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Coherent summary that preserves key points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Captures rhetorical + semantic regularities in academic writing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Low</a:t>
                      </a:r>
                      <a:r>
                        <a:rPr lang="en-US" sz="1600"/>
                        <a:t> — strong textual evidence anchors predictions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925791"/>
                  </a:ext>
                </a:extLst>
              </a:tr>
              <a:tr h="380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“What is the capital of France?”</a:t>
                      </a:r>
                      <a:endParaRPr lang="en-US" sz="16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Correct: “Paris”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Highly stable factual pattern in training data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Very low</a:t>
                      </a:r>
                      <a:r>
                        <a:rPr lang="en-US" sz="1600"/>
                        <a:t> — dense, consistent data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507826"/>
                  </a:ext>
                </a:extLst>
              </a:tr>
              <a:tr h="448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“Provide citations for this claim: Dogs invented calculus.”</a:t>
                      </a:r>
                      <a:endParaRPr lang="en-US" sz="16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Produces fabricated but plausible-looking citations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Academic style templates: author → year → title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High</a:t>
                      </a:r>
                      <a:r>
                        <a:rPr lang="en-US" sz="1600"/>
                        <a:t> — learned form, not fact-checking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154990"/>
                  </a:ext>
                </a:extLst>
              </a:tr>
              <a:tr h="547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“Continue this partially incorrect math solution.”</a:t>
                      </a:r>
                      <a:endParaRPr lang="en-US" sz="16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Confidently extends the incorrect reasoning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Extends local arithmetic or algebraic pattern without global verification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Moderate</a:t>
                      </a:r>
                      <a:r>
                        <a:rPr lang="en-US" sz="1600" dirty="0"/>
                        <a:t> — strong local pattern, weak global structure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481188"/>
                  </a:ext>
                </a:extLst>
              </a:tr>
              <a:tr h="448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“Translate this rare dialect sentence into English.”</a:t>
                      </a:r>
                      <a:endParaRPr lang="en-US" sz="16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Nonsense but grammatical output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Applies dominant-language patterns to unfamiliar forms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High</a:t>
                      </a:r>
                      <a:r>
                        <a:rPr lang="en-US" sz="1600" dirty="0"/>
                        <a:t> — sparse data → guesses based on nearest neighbors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219476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0A2E593C-842A-0932-5CE8-8AB84A7D4410}"/>
              </a:ext>
            </a:extLst>
          </p:cNvPr>
          <p:cNvSpPr/>
          <p:nvPr/>
        </p:nvSpPr>
        <p:spPr>
          <a:xfrm>
            <a:off x="8229600" y="367580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A449AB1-4808-FADF-5C6B-54C0677CEDCC}"/>
              </a:ext>
            </a:extLst>
          </p:cNvPr>
          <p:cNvSpPr/>
          <p:nvPr/>
        </p:nvSpPr>
        <p:spPr>
          <a:xfrm>
            <a:off x="8229600" y="1097280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3CE949-88B6-7BDF-E873-FD99E4501487}"/>
              </a:ext>
            </a:extLst>
          </p:cNvPr>
          <p:cNvSpPr/>
          <p:nvPr/>
        </p:nvSpPr>
        <p:spPr>
          <a:xfrm>
            <a:off x="8229600" y="1828800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17554A9-D1AC-5C8E-7C69-F2FC728D7C1C}"/>
              </a:ext>
            </a:extLst>
          </p:cNvPr>
          <p:cNvSpPr/>
          <p:nvPr/>
        </p:nvSpPr>
        <p:spPr>
          <a:xfrm>
            <a:off x="10233099" y="363863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EF72265-C686-EB60-6EBD-EC94FC21BC28}"/>
              </a:ext>
            </a:extLst>
          </p:cNvPr>
          <p:cNvSpPr/>
          <p:nvPr/>
        </p:nvSpPr>
        <p:spPr>
          <a:xfrm>
            <a:off x="10233099" y="1093563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78264E0-7932-FED1-2ACA-F802F6BB0227}"/>
              </a:ext>
            </a:extLst>
          </p:cNvPr>
          <p:cNvSpPr/>
          <p:nvPr/>
        </p:nvSpPr>
        <p:spPr>
          <a:xfrm>
            <a:off x="10233099" y="1825083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Z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5C5E0A-3CF4-5E3A-41E8-31B7F8EB675D}"/>
              </a:ext>
            </a:extLst>
          </p:cNvPr>
          <p:cNvCxnSpPr>
            <a:stCxn id="6" idx="6"/>
            <a:endCxn id="10" idx="2"/>
          </p:cNvCxnSpPr>
          <p:nvPr/>
        </p:nvCxnSpPr>
        <p:spPr>
          <a:xfrm flipV="1">
            <a:off x="8869680" y="683903"/>
            <a:ext cx="1363419" cy="3717"/>
          </a:xfrm>
          <a:prstGeom prst="line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0995C21-5699-D31B-1EA9-DAC758E592FD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8869680" y="683903"/>
            <a:ext cx="1363419" cy="729700"/>
          </a:xfrm>
          <a:prstGeom prst="line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40441EE-E9EA-334F-ABF4-02B9019384B5}"/>
              </a:ext>
            </a:extLst>
          </p:cNvPr>
          <p:cNvCxnSpPr>
            <a:cxnSpLocks/>
            <a:stCxn id="6" idx="6"/>
            <a:endCxn id="12" idx="2"/>
          </p:cNvCxnSpPr>
          <p:nvPr/>
        </p:nvCxnSpPr>
        <p:spPr>
          <a:xfrm>
            <a:off x="8869680" y="687620"/>
            <a:ext cx="1363419" cy="1457503"/>
          </a:xfrm>
          <a:prstGeom prst="line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41D3E6D-03FD-5A98-4488-991A1037D12D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 flipV="1">
            <a:off x="8869680" y="683903"/>
            <a:ext cx="1363419" cy="733417"/>
          </a:xfrm>
          <a:prstGeom prst="line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3120897-AF34-B007-090E-734DEAC00365}"/>
              </a:ext>
            </a:extLst>
          </p:cNvPr>
          <p:cNvCxnSpPr>
            <a:cxnSpLocks/>
            <a:stCxn id="8" idx="6"/>
            <a:endCxn id="11" idx="2"/>
          </p:cNvCxnSpPr>
          <p:nvPr/>
        </p:nvCxnSpPr>
        <p:spPr>
          <a:xfrm flipV="1">
            <a:off x="8869680" y="1413603"/>
            <a:ext cx="1363419" cy="3717"/>
          </a:xfrm>
          <a:prstGeom prst="line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717D035-A69E-903B-2A3D-F41D7EAED606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>
            <a:off x="8869680" y="1417320"/>
            <a:ext cx="1363419" cy="727803"/>
          </a:xfrm>
          <a:prstGeom prst="line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657180-6108-F0F1-1325-F70F3A34CE84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 flipV="1">
            <a:off x="8869680" y="683903"/>
            <a:ext cx="1363419" cy="1464937"/>
          </a:xfrm>
          <a:prstGeom prst="line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BC47DB4-85F5-3F7F-5302-F6AECD003F33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 flipV="1">
            <a:off x="8869680" y="1413603"/>
            <a:ext cx="1363419" cy="735237"/>
          </a:xfrm>
          <a:prstGeom prst="line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F8D82F9-FE68-3E16-E380-D3D94BD871C9}"/>
              </a:ext>
            </a:extLst>
          </p:cNvPr>
          <p:cNvSpPr txBox="1"/>
          <p:nvPr/>
        </p:nvSpPr>
        <p:spPr>
          <a:xfrm>
            <a:off x="9346093" y="2118172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?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12EE1B5-43E4-A962-C51A-3C6BD069CB4F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 flipV="1">
            <a:off x="8869680" y="2145123"/>
            <a:ext cx="1363419" cy="3717"/>
          </a:xfrm>
          <a:prstGeom prst="line">
            <a:avLst/>
          </a:prstGeom>
          <a:ln w="50800">
            <a:solidFill>
              <a:srgbClr val="131F3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4083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AD739-17B8-A93D-0402-3A5977B17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BCE39D32-60F2-4E50-A72B-80E29E0002C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What We Can Learn from LLMs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CFCC1C-9D55-38C3-61B1-46AD22345FF9}"/>
              </a:ext>
            </a:extLst>
          </p:cNvPr>
          <p:cNvSpPr txBox="1"/>
          <p:nvPr/>
        </p:nvSpPr>
        <p:spPr>
          <a:xfrm>
            <a:off x="7501179" y="1429196"/>
            <a:ext cx="4145795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The Central Puzzle: Do LLMs Understand?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What does “understanding” mean?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Why performance ≠ comprehension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How should we test understanding?</a:t>
            </a:r>
          </a:p>
        </p:txBody>
      </p:sp>
      <p:pic>
        <p:nvPicPr>
          <p:cNvPr id="3" name="Picture 2" descr="How LLMs Learn Like the Human Brain — And Where AI Is Headed Next | ICS Labs">
            <a:extLst>
              <a:ext uri="{FF2B5EF4-FFF2-40B4-BE49-F238E27FC236}">
                <a16:creationId xmlns:a16="http://schemas.microsoft.com/office/drawing/2014/main" id="{59650E05-0DFA-C3CF-C93B-F0C6C99C51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5" t="-592" r="-1905" b="51014"/>
          <a:stretch>
            <a:fillRect/>
          </a:stretch>
        </p:blipFill>
        <p:spPr bwMode="auto">
          <a:xfrm>
            <a:off x="414509" y="1311315"/>
            <a:ext cx="6597818" cy="218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22260E-F80D-7714-DC78-BA96C2C10DDE}"/>
              </a:ext>
            </a:extLst>
          </p:cNvPr>
          <p:cNvSpPr txBox="1"/>
          <p:nvPr/>
        </p:nvSpPr>
        <p:spPr>
          <a:xfrm>
            <a:off x="660082" y="3522077"/>
            <a:ext cx="287424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/>
              <a:t>grounded in perception</a:t>
            </a:r>
          </a:p>
          <a:p>
            <a:pPr algn="ctr"/>
            <a:r>
              <a:rPr lang="en-US" sz="2200" dirty="0"/>
              <a:t>goals &amp; agency</a:t>
            </a:r>
          </a:p>
          <a:p>
            <a:pPr algn="ctr"/>
            <a:r>
              <a:rPr lang="en-US" sz="2200" dirty="0"/>
              <a:t>causal models</a:t>
            </a:r>
          </a:p>
          <a:p>
            <a:pPr algn="ctr"/>
            <a:r>
              <a:rPr lang="en-US" sz="2200" dirty="0"/>
              <a:t>persistent beliefs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9575F3-D01F-F407-C1E0-E2B890F05178}"/>
              </a:ext>
            </a:extLst>
          </p:cNvPr>
          <p:cNvSpPr txBox="1"/>
          <p:nvPr/>
        </p:nvSpPr>
        <p:spPr>
          <a:xfrm>
            <a:off x="4022102" y="3645187"/>
            <a:ext cx="250799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/>
              <a:t>fluent language</a:t>
            </a:r>
          </a:p>
          <a:p>
            <a:pPr algn="ctr"/>
            <a:r>
              <a:rPr lang="en-US" sz="2200" dirty="0"/>
              <a:t>predictive structure</a:t>
            </a:r>
          </a:p>
          <a:p>
            <a:pPr algn="ctr"/>
            <a:r>
              <a:rPr lang="en-US" sz="2200" dirty="0"/>
              <a:t>local coherence</a:t>
            </a:r>
          </a:p>
          <a:p>
            <a:pPr algn="ctr"/>
            <a:r>
              <a:rPr lang="en-US" sz="2200" dirty="0"/>
              <a:t>learned associations</a:t>
            </a:r>
          </a:p>
        </p:txBody>
      </p:sp>
    </p:spTree>
    <p:extLst>
      <p:ext uri="{BB962C8B-B14F-4D97-AF65-F5344CB8AC3E}">
        <p14:creationId xmlns:p14="http://schemas.microsoft.com/office/powerpoint/2010/main" val="469865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DF975-F2EA-0FD3-7A7C-F564EC607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AB423DEA-0046-878D-2CE4-134AFBA8E5F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What We Can Learn from LLMs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ED0DC2-59A0-A728-7A7E-DF3E384BE156}"/>
              </a:ext>
            </a:extLst>
          </p:cNvPr>
          <p:cNvSpPr txBox="1"/>
          <p:nvPr/>
        </p:nvSpPr>
        <p:spPr>
          <a:xfrm>
            <a:off x="6367068" y="1726619"/>
            <a:ext cx="489245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The Symbol Grounding Problem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Words need real-world anchors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LLMs learn only from text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Why grounding matters for meaning</a:t>
            </a:r>
          </a:p>
        </p:txBody>
      </p:sp>
      <p:pic>
        <p:nvPicPr>
          <p:cNvPr id="5" name="Picture 4" descr="give_balloon.png">
            <a:extLst>
              <a:ext uri="{FF2B5EF4-FFF2-40B4-BE49-F238E27FC236}">
                <a16:creationId xmlns:a16="http://schemas.microsoft.com/office/drawing/2014/main" id="{F7860D5D-F555-26B3-3603-A1D40E55E0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007" y="1232947"/>
            <a:ext cx="3019996" cy="37253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E81229-A252-F28B-0581-5A70A38612CD}"/>
              </a:ext>
            </a:extLst>
          </p:cNvPr>
          <p:cNvSpPr txBox="1"/>
          <p:nvPr/>
        </p:nvSpPr>
        <p:spPr>
          <a:xfrm>
            <a:off x="1136004" y="4958273"/>
            <a:ext cx="43324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“Do you want a balloon?</a:t>
            </a:r>
          </a:p>
          <a:p>
            <a:r>
              <a:rPr lang="en-US" sz="2400" dirty="0"/>
              <a:t>Don’t let go, it might float away!”</a:t>
            </a:r>
          </a:p>
        </p:txBody>
      </p:sp>
    </p:spTree>
    <p:extLst>
      <p:ext uri="{BB962C8B-B14F-4D97-AF65-F5344CB8AC3E}">
        <p14:creationId xmlns:p14="http://schemas.microsoft.com/office/powerpoint/2010/main" val="2943961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111D0-C55B-BB80-BF36-9412ADFD7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4AD1CCA3-D6F8-E613-777C-9EC7E784AFB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What We Can Learn from LLMs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B00344-A77A-F937-57C0-3056CCBAA79B}"/>
              </a:ext>
            </a:extLst>
          </p:cNvPr>
          <p:cNvSpPr txBox="1"/>
          <p:nvPr/>
        </p:nvSpPr>
        <p:spPr>
          <a:xfrm>
            <a:off x="1099423" y="4154857"/>
            <a:ext cx="1070157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Distributional Meaning: How LLMs Capture Semantics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Meaning from linguistic context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Embeddings cluster related ideas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Surprising successes without grounding</a:t>
            </a:r>
          </a:p>
        </p:txBody>
      </p:sp>
      <p:pic>
        <p:nvPicPr>
          <p:cNvPr id="3" name="Picture 2" descr="Word Embedding: Basics. Create a vector from a word | by Hariom Gautam |  Medium">
            <a:extLst>
              <a:ext uri="{FF2B5EF4-FFF2-40B4-BE49-F238E27FC236}">
                <a16:creationId xmlns:a16="http://schemas.microsoft.com/office/drawing/2014/main" id="{641D8B33-6E0C-30EA-933E-3C303BAE23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54"/>
          <a:stretch>
            <a:fillRect/>
          </a:stretch>
        </p:blipFill>
        <p:spPr bwMode="auto">
          <a:xfrm>
            <a:off x="390998" y="530711"/>
            <a:ext cx="9183687" cy="3624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1252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B199C-2DCC-46D3-FEB0-4FBFCAE1D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7A1750E1-C48A-E0F1-55DF-5C4158BBEF9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What We Can Learn from LLMs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6A1014-A5C9-1981-1CCA-CAFDE1CA7906}"/>
              </a:ext>
            </a:extLst>
          </p:cNvPr>
          <p:cNvSpPr txBox="1"/>
          <p:nvPr/>
        </p:nvSpPr>
        <p:spPr>
          <a:xfrm>
            <a:off x="0" y="1105287"/>
            <a:ext cx="3270142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Where Distributional Meaning Breaks Down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Fails on grounding &amp; perception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Struggles with pragmatics &amp; context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Ambiguity reveals shallow understanding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553B4C2-03C6-D99D-4182-537DB189CA39}"/>
              </a:ext>
            </a:extLst>
          </p:cNvPr>
          <p:cNvGraphicFramePr>
            <a:graphicFrameLocks noGrp="1"/>
          </p:cNvGraphicFramePr>
          <p:nvPr/>
        </p:nvGraphicFramePr>
        <p:xfrm>
          <a:off x="3812583" y="900618"/>
          <a:ext cx="8379417" cy="5957381"/>
        </p:xfrm>
        <a:graphic>
          <a:graphicData uri="http://schemas.openxmlformats.org/drawingml/2006/table">
            <a:tbl>
              <a:tblPr/>
              <a:tblGrid>
                <a:gridCol w="2080407">
                  <a:extLst>
                    <a:ext uri="{9D8B030D-6E8A-4147-A177-3AD203B41FA5}">
                      <a16:colId xmlns:a16="http://schemas.microsoft.com/office/drawing/2014/main" val="1043508996"/>
                    </a:ext>
                  </a:extLst>
                </a:gridCol>
                <a:gridCol w="2553226">
                  <a:extLst>
                    <a:ext uri="{9D8B030D-6E8A-4147-A177-3AD203B41FA5}">
                      <a16:colId xmlns:a16="http://schemas.microsoft.com/office/drawing/2014/main" val="2238911870"/>
                    </a:ext>
                  </a:extLst>
                </a:gridCol>
                <a:gridCol w="3745784">
                  <a:extLst>
                    <a:ext uri="{9D8B030D-6E8A-4147-A177-3AD203B41FA5}">
                      <a16:colId xmlns:a16="http://schemas.microsoft.com/office/drawing/2014/main" val="1232975401"/>
                    </a:ext>
                  </a:extLst>
                </a:gridCol>
              </a:tblGrid>
              <a:tr h="309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Type of Challenge</a:t>
                      </a:r>
                      <a:endParaRPr lang="en-US" sz="14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Example Prompt / Task</a:t>
                      </a:r>
                      <a:endParaRPr lang="en-US" sz="140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Why Text-Only Distribution Is Stretched</a:t>
                      </a:r>
                      <a:endParaRPr lang="en-US" sz="140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550913"/>
                  </a:ext>
                </a:extLst>
              </a:tr>
              <a:tr h="9312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Fine-grained physical reasoning</a:t>
                      </a:r>
                      <a:endParaRPr lang="en-US" sz="14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“A trophy doesn’t fit into a suitcase because it is too small. What is too small?”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Need a </a:t>
                      </a:r>
                      <a:r>
                        <a:rPr lang="en-US" sz="1400" b="1"/>
                        <a:t>mental model</a:t>
                      </a:r>
                      <a:r>
                        <a:rPr lang="en-US" sz="1400"/>
                        <a:t> of relative sizes; linguistic patterns help, but many variants require robust intuitive physics.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261038"/>
                  </a:ext>
                </a:extLst>
              </a:tr>
              <a:tr h="9312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Counterfactual &amp; causal structure</a:t>
                      </a:r>
                      <a:endParaRPr lang="en-US" sz="14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“If the match had not been lit, would the house have burned down?”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Text encodes correlations, but causal direction and counterfactual dependence are underdetermined by co-occurrence alone.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108712"/>
                  </a:ext>
                </a:extLst>
              </a:tr>
              <a:tr h="812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Embodied spatial perspective</a:t>
                      </a:r>
                      <a:endParaRPr lang="en-US" sz="140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“Turn the book so the picture faces me. Which way is the top now?”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Requires a </a:t>
                      </a:r>
                      <a:r>
                        <a:rPr lang="en-US" sz="1400" b="1" dirty="0"/>
                        <a:t>first-person frame of reference</a:t>
                      </a:r>
                      <a:r>
                        <a:rPr lang="en-US" sz="1400" dirty="0"/>
                        <a:t> and mentally rotating objects—something not present in text statistics.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980979"/>
                  </a:ext>
                </a:extLst>
              </a:tr>
              <a:tr h="9312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Pragmatic inference &amp; implicature</a:t>
                      </a:r>
                      <a:endParaRPr lang="en-US" sz="140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“Wow, that was </a:t>
                      </a:r>
                      <a:r>
                        <a:rPr lang="en-US" sz="1400" i="1" dirty="0"/>
                        <a:t>really</a:t>
                      </a:r>
                      <a:r>
                        <a:rPr lang="en-US" sz="1400" dirty="0"/>
                        <a:t> helpful,” said after someone obviously failed to help.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Sarcasm and implicature depend on shared social context, not just literal word use; distributional cues only approximate this.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320345"/>
                  </a:ext>
                </a:extLst>
              </a:tr>
              <a:tr h="9312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Low-frequency, high-stakes distinctions</a:t>
                      </a:r>
                      <a:endParaRPr lang="en-US" sz="140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“Which of these mushrooms is safe to eat?” with two rare Latin names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Text contains labels, but not enough grounded evidence to safely distinguish; model will interpolate from weak, noisy patterns.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762648"/>
                  </a:ext>
                </a:extLst>
              </a:tr>
              <a:tr h="1110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Experiential qualities (qualia)</a:t>
                      </a:r>
                      <a:endParaRPr lang="en-US" sz="140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“Explain what red looks like to someone blind from birth.”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Distribution gives you </a:t>
                      </a:r>
                      <a:r>
                        <a:rPr lang="en-US" sz="1400" b="1" dirty="0"/>
                        <a:t>relational facts</a:t>
                      </a:r>
                      <a:r>
                        <a:rPr lang="en-US" sz="1400" dirty="0"/>
                        <a:t> (“red is like…”) but not the phenomenal content; there’s nothing to ground in experience.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499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1781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71DEF-6A35-D048-2FEF-D4C2A60FC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FCB851FD-C8EF-BC5A-E979-E245E6B3AEF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What We Can Learn from LLMs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797EF8-40FE-B6DF-76BF-7E8FCEC8ED9C}"/>
              </a:ext>
            </a:extLst>
          </p:cNvPr>
          <p:cNvSpPr txBox="1"/>
          <p:nvPr/>
        </p:nvSpPr>
        <p:spPr>
          <a:xfrm>
            <a:off x="6509288" y="1832152"/>
            <a:ext cx="5199681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Do LLMs Reason? Associative vs. Inferential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Pattern extension vs. true inference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Impressive but fragile reasoning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How humans and LLMs differ</a:t>
            </a:r>
          </a:p>
        </p:txBody>
      </p:sp>
      <p:pic>
        <p:nvPicPr>
          <p:cNvPr id="7170" name="Picture 2" descr="THINKING WELL: WHY REASONING IS MORE IMPORTANT THAN EVER - Spiral Inquiry">
            <a:extLst>
              <a:ext uri="{FF2B5EF4-FFF2-40B4-BE49-F238E27FC236}">
                <a16:creationId xmlns:a16="http://schemas.microsoft.com/office/drawing/2014/main" id="{A45CF690-EBEB-F576-F91F-A63A48EF97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6" r="14216"/>
          <a:stretch>
            <a:fillRect/>
          </a:stretch>
        </p:blipFill>
        <p:spPr bwMode="auto">
          <a:xfrm>
            <a:off x="1296693" y="1048324"/>
            <a:ext cx="4386020" cy="4251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4042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1211A-9592-920B-0D3D-EC36C1A63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11487967-F8EA-5D6B-D0A7-3B092DEEE1E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What We Can Learn from LLMs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1B56EF-CFBB-7D17-D297-E1FC103F66E3}"/>
              </a:ext>
            </a:extLst>
          </p:cNvPr>
          <p:cNvSpPr txBox="1"/>
          <p:nvPr/>
        </p:nvSpPr>
        <p:spPr>
          <a:xfrm>
            <a:off x="370281" y="1240427"/>
            <a:ext cx="347161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Systematicity &amp; Compositionality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Human thought is often combinatorial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LLMs struggle with systematic generalization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But human compositionality may be overstated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6F9BD7-BDB0-A818-919C-FA976490D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2181" y="1376092"/>
            <a:ext cx="7772400" cy="45371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9001FA-67CC-B431-9168-BAE7B9CDC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2181" y="735162"/>
            <a:ext cx="7772400" cy="453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862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05135-D3CE-631E-A818-5E9808BB9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471EA026-9DAD-EB52-5422-10580C16396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What We Can Learn from LLMs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149889-4B83-D7B9-3A8A-63BA848735FA}"/>
              </a:ext>
            </a:extLst>
          </p:cNvPr>
          <p:cNvSpPr txBox="1"/>
          <p:nvPr/>
        </p:nvSpPr>
        <p:spPr>
          <a:xfrm>
            <a:off x="6263500" y="735162"/>
            <a:ext cx="578305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Case Study: Causality &amp; Commonsense Reasoning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Text alone lacks causal structure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LLMs imitate but don’t infer causes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Humans build causal models from experience</a:t>
            </a:r>
          </a:p>
        </p:txBody>
      </p:sp>
      <p:pic>
        <p:nvPicPr>
          <p:cNvPr id="10242" name="Picture 2" descr="Thirteen scatterplots with the same summary statistics show remarkably distinct arrangements of 141 data points, including instances where dots are arranged into a circle, a star, the letter X and a drawing of a T. rex.">
            <a:extLst>
              <a:ext uri="{FF2B5EF4-FFF2-40B4-BE49-F238E27FC236}">
                <a16:creationId xmlns:a16="http://schemas.microsoft.com/office/drawing/2014/main" id="{B4FDB9C8-F2BC-510A-D23D-4940CDB49B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98"/>
          <a:stretch>
            <a:fillRect/>
          </a:stretch>
        </p:blipFill>
        <p:spPr bwMode="auto">
          <a:xfrm>
            <a:off x="145450" y="991906"/>
            <a:ext cx="5783052" cy="5866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Thirteen scatterplots with the same summary statistics show remarkably distinct arrangements of 141 data points, including instances where dots are arranged into a circle, a star, the letter X and a drawing of a T. rex.">
            <a:extLst>
              <a:ext uri="{FF2B5EF4-FFF2-40B4-BE49-F238E27FC236}">
                <a16:creationId xmlns:a16="http://schemas.microsoft.com/office/drawing/2014/main" id="{198F1625-5EBC-6E8F-C167-10ABEF9DA8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499" b="2652"/>
          <a:stretch>
            <a:fillRect/>
          </a:stretch>
        </p:blipFill>
        <p:spPr bwMode="auto">
          <a:xfrm>
            <a:off x="6096000" y="3209221"/>
            <a:ext cx="5541043" cy="3648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1357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E6280-6CC1-6597-7C81-D2A21DB44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4B90A67F-2B87-1CB4-1D2B-FF61FE2234F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What We Can Learn from LLMs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51F95A-6229-AD03-7CDE-82191B563C15}"/>
              </a:ext>
            </a:extLst>
          </p:cNvPr>
          <p:cNvSpPr txBox="1"/>
          <p:nvPr/>
        </p:nvSpPr>
        <p:spPr>
          <a:xfrm>
            <a:off x="164725" y="623285"/>
            <a:ext cx="11482251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Case Study: Arithmetic &amp; Numerical Reasoning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LLMs outperform humans on basics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Not memorized—shows interpolation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But extrapolation breaks down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7F394-C46C-4C72-C468-2964461B4AC5}"/>
              </a:ext>
            </a:extLst>
          </p:cNvPr>
          <p:cNvSpPr txBox="1"/>
          <p:nvPr/>
        </p:nvSpPr>
        <p:spPr>
          <a:xfrm>
            <a:off x="250821" y="2724398"/>
            <a:ext cx="354295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+ 4 = 7</a:t>
            </a:r>
          </a:p>
          <a:p>
            <a:r>
              <a:rPr lang="en-US" dirty="0"/>
              <a:t>3 + 5 = 8</a:t>
            </a:r>
          </a:p>
          <a:p>
            <a:r>
              <a:rPr lang="en-US" dirty="0"/>
              <a:t>3 + 6 = 9</a:t>
            </a:r>
          </a:p>
          <a:p>
            <a:endParaRPr lang="en-US" dirty="0"/>
          </a:p>
          <a:p>
            <a:r>
              <a:rPr lang="en-US" dirty="0"/>
              <a:t>2 + 4 = 6</a:t>
            </a:r>
          </a:p>
          <a:p>
            <a:r>
              <a:rPr lang="en-US" dirty="0"/>
              <a:t>2 + 6 = 8</a:t>
            </a:r>
          </a:p>
          <a:p>
            <a:endParaRPr lang="en-US" dirty="0"/>
          </a:p>
          <a:p>
            <a:r>
              <a:rPr lang="en-US" dirty="0"/>
              <a:t>2 + 5 = 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2321312312312 + 23412412312 = ?</a:t>
            </a:r>
          </a:p>
        </p:txBody>
      </p:sp>
      <p:pic>
        <p:nvPicPr>
          <p:cNvPr id="5" name="Picture 2" descr="Addition Table: Addition Table 1 to 10, Tips, Examples, Facts">
            <a:extLst>
              <a:ext uri="{FF2B5EF4-FFF2-40B4-BE49-F238E27FC236}">
                <a16:creationId xmlns:a16="http://schemas.microsoft.com/office/drawing/2014/main" id="{854945DA-FBFF-112C-029A-83FEC649E7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80"/>
          <a:stretch/>
        </p:blipFill>
        <p:spPr bwMode="auto">
          <a:xfrm>
            <a:off x="3920110" y="2462819"/>
            <a:ext cx="3872300" cy="366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7E4780F-0D48-224A-8726-CE96F5581AFF}"/>
              </a:ext>
            </a:extLst>
          </p:cNvPr>
          <p:cNvSpPr/>
          <p:nvPr/>
        </p:nvSpPr>
        <p:spPr>
          <a:xfrm>
            <a:off x="4977629" y="3136587"/>
            <a:ext cx="356135" cy="3272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66AD1F-24C3-7EF8-1B50-547F479C98A1}"/>
              </a:ext>
            </a:extLst>
          </p:cNvPr>
          <p:cNvSpPr/>
          <p:nvPr/>
        </p:nvSpPr>
        <p:spPr>
          <a:xfrm>
            <a:off x="6727822" y="3463846"/>
            <a:ext cx="356135" cy="3272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ABC303-FCAB-78F8-6CE5-370156C2A86D}"/>
              </a:ext>
            </a:extLst>
          </p:cNvPr>
          <p:cNvSpPr/>
          <p:nvPr/>
        </p:nvSpPr>
        <p:spPr>
          <a:xfrm>
            <a:off x="4977629" y="5117787"/>
            <a:ext cx="356135" cy="3272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1B3324-CA7F-BECF-AF54-5455D513BEF4}"/>
              </a:ext>
            </a:extLst>
          </p:cNvPr>
          <p:cNvSpPr/>
          <p:nvPr/>
        </p:nvSpPr>
        <p:spPr>
          <a:xfrm>
            <a:off x="6727821" y="4792132"/>
            <a:ext cx="356135" cy="3272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762F6B-31AC-EB88-BF89-64E3BD375117}"/>
              </a:ext>
            </a:extLst>
          </p:cNvPr>
          <p:cNvSpPr/>
          <p:nvPr/>
        </p:nvSpPr>
        <p:spPr>
          <a:xfrm>
            <a:off x="8665597" y="3463846"/>
            <a:ext cx="356135" cy="3272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BA7922-CA04-2766-42A4-42A0165B3B6C}"/>
              </a:ext>
            </a:extLst>
          </p:cNvPr>
          <p:cNvSpPr txBox="1"/>
          <p:nvPr/>
        </p:nvSpPr>
        <p:spPr>
          <a:xfrm>
            <a:off x="8603028" y="241322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9FBABF-D129-BCB4-B22E-A3F948B10212}"/>
              </a:ext>
            </a:extLst>
          </p:cNvPr>
          <p:cNvSpPr txBox="1"/>
          <p:nvPr/>
        </p:nvSpPr>
        <p:spPr>
          <a:xfrm>
            <a:off x="11374532" y="2413227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1045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25BA2A-E752-F693-CD8A-A892283D1761}"/>
              </a:ext>
            </a:extLst>
          </p:cNvPr>
          <p:cNvSpPr/>
          <p:nvPr/>
        </p:nvSpPr>
        <p:spPr>
          <a:xfrm>
            <a:off x="11547673" y="3463845"/>
            <a:ext cx="356135" cy="3272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829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32DDF-A42E-B7E9-5643-B7E48624C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E6AB9E84-4B25-58A1-3FB7-367E553965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What We Can Learn from LLMs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6B994C-14A7-6775-D690-45295A7C03B2}"/>
              </a:ext>
            </a:extLst>
          </p:cNvPr>
          <p:cNvSpPr txBox="1"/>
          <p:nvPr/>
        </p:nvSpPr>
        <p:spPr>
          <a:xfrm>
            <a:off x="6723529" y="2142118"/>
            <a:ext cx="489245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Human Cognition Parallels &amp; Divergences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Shared principles of prediction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Different learning conditions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Missing human mechanisms</a:t>
            </a:r>
          </a:p>
        </p:txBody>
      </p:sp>
      <p:pic>
        <p:nvPicPr>
          <p:cNvPr id="9218" name="Picture 2" descr="How LLMs Learn Like the Human Brain — And Where AI Is Headed Next | ICS Labs">
            <a:extLst>
              <a:ext uri="{FF2B5EF4-FFF2-40B4-BE49-F238E27FC236}">
                <a16:creationId xmlns:a16="http://schemas.microsoft.com/office/drawing/2014/main" id="{D19AC8F5-6B1D-93FA-DFA7-81C107A15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11" y="1102659"/>
            <a:ext cx="6597818" cy="439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02838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5">
      <a:dk1>
        <a:srgbClr val="13284B"/>
      </a:dk1>
      <a:lt1>
        <a:srgbClr val="FFFFFF"/>
      </a:lt1>
      <a:dk2>
        <a:srgbClr val="1E3877"/>
      </a:dk2>
      <a:lt2>
        <a:srgbClr val="F8FAFC"/>
      </a:lt2>
      <a:accent1>
        <a:srgbClr val="FF552E"/>
      </a:accent1>
      <a:accent2>
        <a:srgbClr val="1D58A7"/>
      </a:accent2>
      <a:accent3>
        <a:srgbClr val="F5821E"/>
      </a:accent3>
      <a:accent4>
        <a:srgbClr val="009FD3"/>
      </a:accent4>
      <a:accent5>
        <a:srgbClr val="DD3403"/>
      </a:accent5>
      <a:accent6>
        <a:srgbClr val="D2D2D2"/>
      </a:accent6>
      <a:hlink>
        <a:srgbClr val="1D58A7"/>
      </a:hlink>
      <a:folHlink>
        <a:srgbClr val="DD340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9" id="{EB6B2FBE-53CE-AE45-9D18-D10FBF4063E0}" vid="{7AC8A834-0896-8341-9AC3-2DE1C842C7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Custom Design</Template>
  <TotalTime>45753</TotalTime>
  <Words>5975</Words>
  <Application>Microsoft Macintosh PowerPoint</Application>
  <PresentationFormat>Widescreen</PresentationFormat>
  <Paragraphs>521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Georgia</vt:lpstr>
      <vt:lpstr>Custom Design</vt:lpstr>
      <vt:lpstr>PSYC 496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Here</dc:title>
  <dc:creator>Willits, Jon Anthony</dc:creator>
  <cp:lastModifiedBy>Willits, Jon Anthony</cp:lastModifiedBy>
  <cp:revision>538</cp:revision>
  <cp:lastPrinted>2025-11-07T13:39:49Z</cp:lastPrinted>
  <dcterms:created xsi:type="dcterms:W3CDTF">2022-08-22T20:35:14Z</dcterms:created>
  <dcterms:modified xsi:type="dcterms:W3CDTF">2026-02-12T20:13:07Z</dcterms:modified>
</cp:coreProperties>
</file>