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433" r:id="rId3"/>
    <p:sldId id="434" r:id="rId4"/>
    <p:sldId id="435" r:id="rId5"/>
    <p:sldId id="436" r:id="rId6"/>
    <p:sldId id="437" r:id="rId7"/>
    <p:sldId id="438" r:id="rId8"/>
    <p:sldId id="439" r:id="rId9"/>
    <p:sldId id="44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2C"/>
    <a:srgbClr val="FF552E"/>
    <a:srgbClr val="FFEAE8"/>
    <a:srgbClr val="FFD2CD"/>
    <a:srgbClr val="E84A27"/>
    <a:srgbClr val="FFEAE9"/>
    <a:srgbClr val="9DBBA6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70340"/>
  </p:normalViewPr>
  <p:slideViewPr>
    <p:cSldViewPr snapToGrid="0" snapToObjects="1">
      <p:cViewPr varScale="1">
        <p:scale>
          <a:sx n="83" d="100"/>
          <a:sy n="83" d="100"/>
        </p:scale>
        <p:origin x="2016" y="2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27BB7B-08EE-CB4F-8754-6730DF777C4A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9A92AD4D-7F4D-D042-9F16-C52F2D48F6CF}">
      <dgm:prSet phldrT="[Text]"/>
      <dgm:spPr/>
      <dgm:t>
        <a:bodyPr/>
        <a:lstStyle/>
        <a:p>
          <a:r>
            <a:rPr lang="en-US"/>
            <a:t>Language</a:t>
          </a:r>
          <a:br>
            <a:rPr lang="en-US"/>
          </a:br>
          <a:r>
            <a:rPr lang="en-US"/>
            <a:t>Models</a:t>
          </a:r>
        </a:p>
      </dgm:t>
    </dgm:pt>
    <dgm:pt modelId="{89EE9AF8-CE8B-F644-A1E0-E0F1B3DA9895}" type="parTrans" cxnId="{0A2D4D6C-EA1C-EE4F-BE8E-1105DCF1CEAD}">
      <dgm:prSet/>
      <dgm:spPr/>
      <dgm:t>
        <a:bodyPr/>
        <a:lstStyle/>
        <a:p>
          <a:endParaRPr lang="en-US"/>
        </a:p>
      </dgm:t>
    </dgm:pt>
    <dgm:pt modelId="{3A35D6E0-811F-2940-897B-A1DC29AB01B9}" type="sibTrans" cxnId="{0A2D4D6C-EA1C-EE4F-BE8E-1105DCF1CEAD}">
      <dgm:prSet/>
      <dgm:spPr/>
      <dgm:t>
        <a:bodyPr/>
        <a:lstStyle/>
        <a:p>
          <a:endParaRPr lang="en-US"/>
        </a:p>
      </dgm:t>
    </dgm:pt>
    <dgm:pt modelId="{0FE1D946-1FF0-D84C-B5BF-5C6E11EC811B}">
      <dgm:prSet phldrT="[Text]"/>
      <dgm:spPr/>
      <dgm:t>
        <a:bodyPr/>
        <a:lstStyle/>
        <a:p>
          <a:r>
            <a:rPr lang="en-US"/>
            <a:t>Artificial Neural Networks</a:t>
          </a:r>
        </a:p>
      </dgm:t>
    </dgm:pt>
    <dgm:pt modelId="{D1F241E3-91BD-C54D-ABBC-7A41B50C52E7}" type="parTrans" cxnId="{7C14EFEF-0BF3-B04C-8D30-69A3A3B73625}">
      <dgm:prSet/>
      <dgm:spPr/>
      <dgm:t>
        <a:bodyPr/>
        <a:lstStyle/>
        <a:p>
          <a:endParaRPr lang="en-US"/>
        </a:p>
      </dgm:t>
    </dgm:pt>
    <dgm:pt modelId="{31FD5B61-2229-054F-8E7A-F18DF9728D05}" type="sibTrans" cxnId="{7C14EFEF-0BF3-B04C-8D30-69A3A3B73625}">
      <dgm:prSet/>
      <dgm:spPr/>
      <dgm:t>
        <a:bodyPr/>
        <a:lstStyle/>
        <a:p>
          <a:endParaRPr lang="en-US"/>
        </a:p>
      </dgm:t>
    </dgm:pt>
    <dgm:pt modelId="{D8809C03-E204-B847-B9B7-34B54E218CC8}">
      <dgm:prSet phldrT="[Text]"/>
      <dgm:spPr/>
      <dgm:t>
        <a:bodyPr/>
        <a:lstStyle/>
        <a:p>
          <a:r>
            <a:rPr lang="en-US" dirty="0"/>
            <a:t>Distributional Knowledge</a:t>
          </a:r>
        </a:p>
      </dgm:t>
    </dgm:pt>
    <dgm:pt modelId="{63DB7361-376E-8F44-9912-6E1B502058CA}" type="parTrans" cxnId="{9ACFCF02-4E22-5346-B203-676D398B7324}">
      <dgm:prSet/>
      <dgm:spPr/>
      <dgm:t>
        <a:bodyPr/>
        <a:lstStyle/>
        <a:p>
          <a:endParaRPr lang="en-US"/>
        </a:p>
      </dgm:t>
    </dgm:pt>
    <dgm:pt modelId="{D41CB43B-19B0-694F-AE40-5970004B857D}" type="sibTrans" cxnId="{9ACFCF02-4E22-5346-B203-676D398B7324}">
      <dgm:prSet/>
      <dgm:spPr/>
      <dgm:t>
        <a:bodyPr/>
        <a:lstStyle/>
        <a:p>
          <a:endParaRPr lang="en-US"/>
        </a:p>
      </dgm:t>
    </dgm:pt>
    <dgm:pt modelId="{B7BC4DDB-B6CD-0343-8C23-F3C88B70C40E}" type="pres">
      <dgm:prSet presAssocID="{5527BB7B-08EE-CB4F-8754-6730DF777C4A}" presName="compositeShape" presStyleCnt="0">
        <dgm:presLayoutVars>
          <dgm:chMax val="7"/>
          <dgm:dir/>
          <dgm:resizeHandles val="exact"/>
        </dgm:presLayoutVars>
      </dgm:prSet>
      <dgm:spPr/>
    </dgm:pt>
    <dgm:pt modelId="{DAFC9798-A29F-FB41-9156-9B3CAF4EE9F7}" type="pres">
      <dgm:prSet presAssocID="{9A92AD4D-7F4D-D042-9F16-C52F2D48F6CF}" presName="circ1" presStyleLbl="vennNode1" presStyleIdx="0" presStyleCnt="3"/>
      <dgm:spPr/>
    </dgm:pt>
    <dgm:pt modelId="{BC26F006-3743-0345-B62B-958F4B0DCEF6}" type="pres">
      <dgm:prSet presAssocID="{9A92AD4D-7F4D-D042-9F16-C52F2D48F6C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57F53B3-CCC8-8644-9DC4-4FE9B62BFF9B}" type="pres">
      <dgm:prSet presAssocID="{0FE1D946-1FF0-D84C-B5BF-5C6E11EC811B}" presName="circ2" presStyleLbl="vennNode1" presStyleIdx="1" presStyleCnt="3"/>
      <dgm:spPr/>
    </dgm:pt>
    <dgm:pt modelId="{AF2E5719-6BC0-F64F-8DEF-1496E8BF24F2}" type="pres">
      <dgm:prSet presAssocID="{0FE1D946-1FF0-D84C-B5BF-5C6E11EC811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CB0259C-99F4-714C-AE25-B2CE70CA1641}" type="pres">
      <dgm:prSet presAssocID="{D8809C03-E204-B847-B9B7-34B54E218CC8}" presName="circ3" presStyleLbl="vennNode1" presStyleIdx="2" presStyleCnt="3"/>
      <dgm:spPr/>
    </dgm:pt>
    <dgm:pt modelId="{EFF4213F-5BFE-7843-A602-ED33E4A1400D}" type="pres">
      <dgm:prSet presAssocID="{D8809C03-E204-B847-B9B7-34B54E218CC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ACFCF02-4E22-5346-B203-676D398B7324}" srcId="{5527BB7B-08EE-CB4F-8754-6730DF777C4A}" destId="{D8809C03-E204-B847-B9B7-34B54E218CC8}" srcOrd="2" destOrd="0" parTransId="{63DB7361-376E-8F44-9912-6E1B502058CA}" sibTransId="{D41CB43B-19B0-694F-AE40-5970004B857D}"/>
    <dgm:cxn modelId="{1DF15222-C275-FB4F-8A7D-8672FA1CE874}" type="presOf" srcId="{5527BB7B-08EE-CB4F-8754-6730DF777C4A}" destId="{B7BC4DDB-B6CD-0343-8C23-F3C88B70C40E}" srcOrd="0" destOrd="0" presId="urn:microsoft.com/office/officeart/2005/8/layout/venn1"/>
    <dgm:cxn modelId="{5A315455-8392-AF47-A75F-C380D0937E14}" type="presOf" srcId="{0FE1D946-1FF0-D84C-B5BF-5C6E11EC811B}" destId="{AF2E5719-6BC0-F64F-8DEF-1496E8BF24F2}" srcOrd="1" destOrd="0" presId="urn:microsoft.com/office/officeart/2005/8/layout/venn1"/>
    <dgm:cxn modelId="{4F786F69-B31E-D64D-8C1B-917B05CDFEF7}" type="presOf" srcId="{D8809C03-E204-B847-B9B7-34B54E218CC8}" destId="{FCB0259C-99F4-714C-AE25-B2CE70CA1641}" srcOrd="0" destOrd="0" presId="urn:microsoft.com/office/officeart/2005/8/layout/venn1"/>
    <dgm:cxn modelId="{0A2D4D6C-EA1C-EE4F-BE8E-1105DCF1CEAD}" srcId="{5527BB7B-08EE-CB4F-8754-6730DF777C4A}" destId="{9A92AD4D-7F4D-D042-9F16-C52F2D48F6CF}" srcOrd="0" destOrd="0" parTransId="{89EE9AF8-CE8B-F644-A1E0-E0F1B3DA9895}" sibTransId="{3A35D6E0-811F-2940-897B-A1DC29AB01B9}"/>
    <dgm:cxn modelId="{5F05037E-5733-9D48-AE07-9C6AA95F8FAD}" type="presOf" srcId="{0FE1D946-1FF0-D84C-B5BF-5C6E11EC811B}" destId="{A57F53B3-CCC8-8644-9DC4-4FE9B62BFF9B}" srcOrd="0" destOrd="0" presId="urn:microsoft.com/office/officeart/2005/8/layout/venn1"/>
    <dgm:cxn modelId="{21D20594-B278-EE42-A893-0599C09B492E}" type="presOf" srcId="{D8809C03-E204-B847-B9B7-34B54E218CC8}" destId="{EFF4213F-5BFE-7843-A602-ED33E4A1400D}" srcOrd="1" destOrd="0" presId="urn:microsoft.com/office/officeart/2005/8/layout/venn1"/>
    <dgm:cxn modelId="{31FAE795-40C3-A646-A4AC-27397C7C1E49}" type="presOf" srcId="{9A92AD4D-7F4D-D042-9F16-C52F2D48F6CF}" destId="{DAFC9798-A29F-FB41-9156-9B3CAF4EE9F7}" srcOrd="0" destOrd="0" presId="urn:microsoft.com/office/officeart/2005/8/layout/venn1"/>
    <dgm:cxn modelId="{7C14EFEF-0BF3-B04C-8D30-69A3A3B73625}" srcId="{5527BB7B-08EE-CB4F-8754-6730DF777C4A}" destId="{0FE1D946-1FF0-D84C-B5BF-5C6E11EC811B}" srcOrd="1" destOrd="0" parTransId="{D1F241E3-91BD-C54D-ABBC-7A41B50C52E7}" sibTransId="{31FD5B61-2229-054F-8E7A-F18DF9728D05}"/>
    <dgm:cxn modelId="{367442FF-5C2F-384D-885C-A514C1808DBC}" type="presOf" srcId="{9A92AD4D-7F4D-D042-9F16-C52F2D48F6CF}" destId="{BC26F006-3743-0345-B62B-958F4B0DCEF6}" srcOrd="1" destOrd="0" presId="urn:microsoft.com/office/officeart/2005/8/layout/venn1"/>
    <dgm:cxn modelId="{7E07C2E5-DA3C-7342-9077-AAF8F41D09F1}" type="presParOf" srcId="{B7BC4DDB-B6CD-0343-8C23-F3C88B70C40E}" destId="{DAFC9798-A29F-FB41-9156-9B3CAF4EE9F7}" srcOrd="0" destOrd="0" presId="urn:microsoft.com/office/officeart/2005/8/layout/venn1"/>
    <dgm:cxn modelId="{7EF5FA5D-1CC9-9648-B8FA-9C3F2053B34B}" type="presParOf" srcId="{B7BC4DDB-B6CD-0343-8C23-F3C88B70C40E}" destId="{BC26F006-3743-0345-B62B-958F4B0DCEF6}" srcOrd="1" destOrd="0" presId="urn:microsoft.com/office/officeart/2005/8/layout/venn1"/>
    <dgm:cxn modelId="{B765D673-79A0-5746-85C9-8AD661DC9494}" type="presParOf" srcId="{B7BC4DDB-B6CD-0343-8C23-F3C88B70C40E}" destId="{A57F53B3-CCC8-8644-9DC4-4FE9B62BFF9B}" srcOrd="2" destOrd="0" presId="urn:microsoft.com/office/officeart/2005/8/layout/venn1"/>
    <dgm:cxn modelId="{5FEF2525-ABB0-FC4D-9FA8-A95B0DCBDF58}" type="presParOf" srcId="{B7BC4DDB-B6CD-0343-8C23-F3C88B70C40E}" destId="{AF2E5719-6BC0-F64F-8DEF-1496E8BF24F2}" srcOrd="3" destOrd="0" presId="urn:microsoft.com/office/officeart/2005/8/layout/venn1"/>
    <dgm:cxn modelId="{B112D356-4057-714E-B87B-D1BCF7502A27}" type="presParOf" srcId="{B7BC4DDB-B6CD-0343-8C23-F3C88B70C40E}" destId="{FCB0259C-99F4-714C-AE25-B2CE70CA1641}" srcOrd="4" destOrd="0" presId="urn:microsoft.com/office/officeart/2005/8/layout/venn1"/>
    <dgm:cxn modelId="{1DDB1935-C0D6-A149-9056-683EDB77497E}" type="presParOf" srcId="{B7BC4DDB-B6CD-0343-8C23-F3C88B70C40E}" destId="{EFF4213F-5BFE-7843-A602-ED33E4A1400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C9798-A29F-FB41-9156-9B3CAF4EE9F7}">
      <dsp:nvSpPr>
        <dsp:cNvPr id="0" name=""/>
        <dsp:cNvSpPr/>
      </dsp:nvSpPr>
      <dsp:spPr>
        <a:xfrm>
          <a:off x="2650039" y="63962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Language</a:t>
          </a:r>
          <a:br>
            <a:rPr lang="en-US" sz="2600" kern="1200"/>
          </a:br>
          <a:r>
            <a:rPr lang="en-US" sz="2600" kern="1200"/>
            <a:t>Models</a:t>
          </a:r>
        </a:p>
      </dsp:txBody>
      <dsp:txXfrm>
        <a:off x="3059399" y="601247"/>
        <a:ext cx="2251478" cy="1381589"/>
      </dsp:txXfrm>
    </dsp:sp>
    <dsp:sp modelId="{A57F53B3-CCC8-8644-9DC4-4FE9B62BFF9B}">
      <dsp:nvSpPr>
        <dsp:cNvPr id="0" name=""/>
        <dsp:cNvSpPr/>
      </dsp:nvSpPr>
      <dsp:spPr>
        <a:xfrm>
          <a:off x="375786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Artificial Neural Networks</a:t>
          </a:r>
        </a:p>
      </dsp:txBody>
      <dsp:txXfrm>
        <a:off x="4696838" y="2775970"/>
        <a:ext cx="1842118" cy="1688609"/>
      </dsp:txXfrm>
    </dsp:sp>
    <dsp:sp modelId="{FCB0259C-99F4-714C-AE25-B2CE70CA1641}">
      <dsp:nvSpPr>
        <dsp:cNvPr id="0" name=""/>
        <dsp:cNvSpPr/>
      </dsp:nvSpPr>
      <dsp:spPr>
        <a:xfrm>
          <a:off x="1542209" y="1982836"/>
          <a:ext cx="3070198" cy="30701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Distributional Knowledge</a:t>
          </a:r>
        </a:p>
      </dsp:txBody>
      <dsp:txXfrm>
        <a:off x="1831319" y="2775970"/>
        <a:ext cx="1842118" cy="1688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C8BA-1006-1E12-CF0B-DE9B4F33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04E40-DD23-6109-34D9-F69EEF3C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FC4B9-16C1-AFAE-0717-7E0E06FAF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4910C-AF1A-85EF-8FC6-2EA0115F7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1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8A55-5B53-F748-51E5-5C033335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8C921-0913-3E8D-B29C-029666063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8BF10-F1D4-1DCA-7925-F27B92900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277F4-6B50-9D65-8072-3971F3CCF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69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C60F-5AB9-0C32-EC4A-E7169324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01F42-2819-4556-EEA0-DF1944D29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D8760-9D1C-CC50-6FE0-7812460DE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2F454-A01F-8288-BCB7-F708F8E83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54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18AEA-12A7-C936-5006-EECC3D47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C06C8-6758-2F3E-6263-29BBEC724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A277-C2D3-F523-8556-F0D5B8390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1789-65EA-C1BB-E7F8-4CB9A3D91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95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011A-838D-9890-C123-1EF7894E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45B59-A4F3-6679-1AE4-A170EE5E7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E3307-D08D-4D95-2534-F12958B38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88F2-7E6C-050F-74D7-0B8328425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61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B4B8-B061-FF44-F575-C04B9B8E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20924-3E95-C7BB-44CA-D267D0CF8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B547B-5BCA-B7EB-7D6D-735DACEA8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02696-69D3-35F8-9A48-B70C36163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6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EE94-EF0E-DF7D-AA2D-F0829600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CB0C9-6BDD-7C68-F53F-690297693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5AB2B-34FA-BA7C-7708-96FFAB0E4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1DA1-F503-3B36-2CB1-2FBD697F5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67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346F-1AA7-C1E5-85DF-A322FA45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5F589-E8D2-C3C0-7602-1A48F7467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33E73-CD0E-3351-A409-321E98928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705DC-8D87-1F25-77AB-70D81148B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5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PSYC 496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5: Combining the Three Legs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3C9C7-010B-62D8-37C5-83F8EF7B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E85B9807-4915-7358-0D10-8A0E536025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8B507-EA5C-0E3A-AE6F-BD2FE5A3E9F8}"/>
              </a:ext>
            </a:extLst>
          </p:cNvPr>
          <p:cNvSpPr txBox="1"/>
          <p:nvPr/>
        </p:nvSpPr>
        <p:spPr>
          <a:xfrm>
            <a:off x="261089" y="1768893"/>
            <a:ext cx="558638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Discussion Question 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your group, discuss the relationship between the three paradigms we’ve discussed.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Come up with an example of a system or algorithm in all 7 parts of the Venn diagram.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3AB460-D1EF-0231-6383-A945DFE29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39573"/>
              </p:ext>
            </p:extLst>
          </p:nvPr>
        </p:nvGraphicFramePr>
        <p:xfrm>
          <a:off x="4825217" y="870501"/>
          <a:ext cx="8370277" cy="5116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3623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BF17-D051-2D4C-6309-11859067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78B36B70-DFF5-8053-9B69-2614713023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D6399-9135-353C-EDF4-5AD7EA3126BD}"/>
              </a:ext>
            </a:extLst>
          </p:cNvPr>
          <p:cNvSpPr txBox="1"/>
          <p:nvPr/>
        </p:nvSpPr>
        <p:spPr>
          <a:xfrm>
            <a:off x="261089" y="1768893"/>
            <a:ext cx="1112201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One unifying idea: learn representations by predicting contexts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language model training objective gives a clear target: predict what comes next from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do that well, a system benefits from building internal representations that compress and organize contextual regularities.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 distributional structure and learned representations can be understood as what you get when a neural network optimizes prediction.</a:t>
            </a:r>
          </a:p>
        </p:txBody>
      </p:sp>
    </p:spTree>
    <p:extLst>
      <p:ext uri="{BB962C8B-B14F-4D97-AF65-F5344CB8AC3E}">
        <p14:creationId xmlns:p14="http://schemas.microsoft.com/office/powerpoint/2010/main" val="183405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FB6C4-536C-A8C1-415E-CFCCF779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7A9605D-6B37-BC72-0376-65C1FEB0E20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54071-E729-F558-6B39-DEF4FA35CD4E}"/>
              </a:ext>
            </a:extLst>
          </p:cNvPr>
          <p:cNvSpPr txBox="1"/>
          <p:nvPr/>
        </p:nvSpPr>
        <p:spPr>
          <a:xfrm>
            <a:off x="180116" y="689789"/>
            <a:ext cx="52359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Simple Recurrent Networks as the first bridge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SRNs take word inputs over time and maintain a hidden state that summarizes prior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They are neural networks trained with error-driven learning to predict the next word, making them both neural and language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Because the hidden state must carry forward useful information, it can become a learned representation of sequential and syntactic/semantic regularities.</a:t>
            </a:r>
          </a:p>
        </p:txBody>
      </p:sp>
      <p:pic>
        <p:nvPicPr>
          <p:cNvPr id="7170" name="Picture 2" descr="Frontiers | A Dual Simple Recurrent Network Model for Chunking and Abstract  Processes in Sequence Learning">
            <a:extLst>
              <a:ext uri="{FF2B5EF4-FFF2-40B4-BE49-F238E27FC236}">
                <a16:creationId xmlns:a16="http://schemas.microsoft.com/office/drawing/2014/main" id="{1AE20E29-C19D-AEFE-8476-2EF38500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51" y="735162"/>
            <a:ext cx="5324500" cy="501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33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386DF-4B5F-5AEB-B5DE-1C66E7F6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DB09D002-F624-FC27-E213-4CA6B7A9B1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37348-3DD9-BC30-241B-D7E8A3108E9E}"/>
              </a:ext>
            </a:extLst>
          </p:cNvPr>
          <p:cNvSpPr txBox="1"/>
          <p:nvPr/>
        </p:nvSpPr>
        <p:spPr>
          <a:xfrm>
            <a:off x="180116" y="689789"/>
            <a:ext cx="52359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Simple Recurrent Networks as the first bridge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SRNs take word inputs over time and maintain a hidden state that summarizes prior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They are neural networks trained with error-driven learning to predict the next word, making them both neural and language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Because the hidden state must carry forward useful information, it can become a learned representation of sequential and syntactic/semantic regularities.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FB555-2C45-2E87-077C-6FA0E42EE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844" y="367581"/>
            <a:ext cx="5527040" cy="558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6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4BDA-265B-871A-3125-8FED760C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3E311F7-1B23-D822-BC3D-FFC95B1261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D7FD7-A550-7B15-1B05-546DA5BA7BF5}"/>
              </a:ext>
            </a:extLst>
          </p:cNvPr>
          <p:cNvSpPr txBox="1"/>
          <p:nvPr/>
        </p:nvSpPr>
        <p:spPr>
          <a:xfrm>
            <a:off x="180116" y="689789"/>
            <a:ext cx="52359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Simple Recurrent Networks as the first bridge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SRNs take word inputs over time and maintain a hidden state that summarizes prior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They are neural networks trained with error-driven learning to predict the next word, making them both neural and language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Because the hidden state must carry forward useful information, it can become a learned representation of sequential and syntactic/semantic regularities.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D6063D-D7ED-11AE-0A58-61C48EAA0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703" y="233925"/>
            <a:ext cx="5060664" cy="592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3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7C71-C757-1CBE-8757-E4087A3D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E3F319-DCDA-1F90-7FB5-0644411964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659BE-EC6E-32FB-FC6A-111D69F42F4B}"/>
              </a:ext>
            </a:extLst>
          </p:cNvPr>
          <p:cNvSpPr txBox="1"/>
          <p:nvPr/>
        </p:nvSpPr>
        <p:spPr>
          <a:xfrm>
            <a:off x="0" y="3655728"/>
            <a:ext cx="1201188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Word2Vec: distributional vectors trained as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Word2Vec reframes distributional learning as a lightweight prediction task: predict a word from its context or predict context words from a target.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Even without full sentence modeling, the training objective pushes the model to place words in a vector space where similar contexts yield similar vectors.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helped make embeddings mainstream by giving an efficient way to learn useful semantic geometry from large corpora.</a:t>
            </a:r>
          </a:p>
        </p:txBody>
      </p:sp>
      <p:pic>
        <p:nvPicPr>
          <p:cNvPr id="11266" name="Picture 2" descr="Word2Vec (CBOW, Skip-gram) In Depth | by Fraidoon Omarzai | Medium">
            <a:extLst>
              <a:ext uri="{FF2B5EF4-FFF2-40B4-BE49-F238E27FC236}">
                <a16:creationId xmlns:a16="http://schemas.microsoft.com/office/drawing/2014/main" id="{D6C74D84-F57D-C057-EB42-900A4F43A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793" y="211648"/>
            <a:ext cx="5775207" cy="299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76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6201-6B11-600A-86F3-4B4C47E6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9E7D853-7081-8DC7-6A29-F4D3A3285B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72548-36C2-7F1C-6C18-F91C3EAEFC91}"/>
              </a:ext>
            </a:extLst>
          </p:cNvPr>
          <p:cNvSpPr txBox="1"/>
          <p:nvPr/>
        </p:nvSpPr>
        <p:spPr>
          <a:xfrm>
            <a:off x="539262" y="1475235"/>
            <a:ext cx="1059766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 short synthesis: two routes to distributional meaning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SRNs learn representations as a byproduct of sequence prediction across time, emphasizing order and context dependence.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Word2Vec learns representations as a byproduct of local context prediction, emphasizing co-occurrence neighborhoods.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Both show the same general pattern: prediction objectives plus neural learning can produce distributional representations with useful semantic structure.</a:t>
            </a:r>
          </a:p>
        </p:txBody>
      </p:sp>
    </p:spTree>
    <p:extLst>
      <p:ext uri="{BB962C8B-B14F-4D97-AF65-F5344CB8AC3E}">
        <p14:creationId xmlns:p14="http://schemas.microsoft.com/office/powerpoint/2010/main" val="242389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5F33-C065-A5DE-1E7E-B5269F85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9377873A-CCA6-B40B-2011-AFBA6E8B58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Bringing the Three Together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81A5B-5A41-9905-0406-119AD60FD55B}"/>
              </a:ext>
            </a:extLst>
          </p:cNvPr>
          <p:cNvSpPr txBox="1"/>
          <p:nvPr/>
        </p:nvSpPr>
        <p:spPr>
          <a:xfrm>
            <a:off x="961292" y="1381451"/>
            <a:ext cx="1083212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Looking ahead: why transformers change the picture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Recurrent models compress past context into a single evolving state, which can be a bottleneck for long-range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Transformers keep broader access to context and compute context-sensitive representations more directly, scaling much better with data and model size.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sets up the next step in the course: modern LLMs combine large-scale next-token training with architectures that handle long context and rich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5955861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45752</TotalTime>
  <Words>581</Words>
  <Application>Microsoft Macintosh PowerPoint</Application>
  <PresentationFormat>Widescreen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Custom Design</vt:lpstr>
      <vt:lpstr>PSYC 496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538</cp:revision>
  <cp:lastPrinted>2025-11-07T13:39:49Z</cp:lastPrinted>
  <dcterms:created xsi:type="dcterms:W3CDTF">2022-08-22T20:35:14Z</dcterms:created>
  <dcterms:modified xsi:type="dcterms:W3CDTF">2026-02-12T20:07:41Z</dcterms:modified>
</cp:coreProperties>
</file>