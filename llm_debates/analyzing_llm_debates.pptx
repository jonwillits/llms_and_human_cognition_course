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60" r:id="rId4"/>
    <p:sldId id="261" r:id="rId5"/>
    <p:sldId id="262" r:id="rId6"/>
    <p:sldId id="263" r:id="rId7"/>
    <p:sldId id="264" r:id="rId8"/>
    <p:sldId id="265" r:id="rId9"/>
    <p:sldId id="266" r:id="rId10"/>
    <p:sldId id="267" r:id="rId11"/>
    <p:sldId id="268" r:id="rId12"/>
    <p:sldId id="269" r:id="rId13"/>
    <p:sldId id="270" r:id="rId14"/>
    <p:sldId id="258" r:id="rId15"/>
    <p:sldId id="271" r:id="rId16"/>
    <p:sldId id="272" r:id="rId17"/>
    <p:sldId id="288" r:id="rId18"/>
    <p:sldId id="273" r:id="rId19"/>
    <p:sldId id="274" r:id="rId20"/>
    <p:sldId id="275" r:id="rId21"/>
    <p:sldId id="276" r:id="rId22"/>
    <p:sldId id="277" r:id="rId23"/>
    <p:sldId id="278" r:id="rId24"/>
    <p:sldId id="289" r:id="rId25"/>
    <p:sldId id="279" r:id="rId26"/>
    <p:sldId id="280" r:id="rId27"/>
    <p:sldId id="281" r:id="rId28"/>
    <p:sldId id="290" r:id="rId29"/>
    <p:sldId id="282" r:id="rId30"/>
    <p:sldId id="283" r:id="rId31"/>
    <p:sldId id="284" r:id="rId32"/>
    <p:sldId id="285" r:id="rId3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243"/>
    <p:restoredTop sz="71293"/>
  </p:normalViewPr>
  <p:slideViewPr>
    <p:cSldViewPr snapToGrid="0" snapToObjects="1">
      <p:cViewPr varScale="1">
        <p:scale>
          <a:sx n="113" d="100"/>
          <a:sy n="113" d="100"/>
        </p:scale>
        <p:origin x="488"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88149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third and final unit of the course.</a:t>
            </a:r>
          </a:p>
          <a:p>
            <a:r>
              <a:rPr lang="en-US" dirty="0"/>
              <a:t>We've covered a lot of ground since January — from how transformers work to hands-on experiments with prompting, reasoning, and hallucination.</a:t>
            </a:r>
          </a:p>
          <a:p>
            <a:r>
              <a:rPr lang="en-US" dirty="0"/>
              <a:t>Now we shift to a different kind of question: not how LLMs work or what they can do, but what they mean.</a:t>
            </a:r>
          </a:p>
          <a:p>
            <a:r>
              <a:rPr lang="en-US" dirty="0"/>
              <a:t>This unit is about thinking clearly under genuine uncertainty, and the skills you build here will be useful well beyond this course.</a:t>
            </a:r>
          </a:p>
          <a:p>
            <a:endParaRPr lang="en-US" dirty="0"/>
          </a:p>
          <a:p>
            <a:r>
              <a:rPr lang="en-US" dirty="0"/>
              <a:t>These debates are not academic abstractions.</a:t>
            </a:r>
          </a:p>
          <a:p>
            <a:r>
              <a:rPr lang="en-US" dirty="0"/>
              <a:t>They are actively shaping AI policy, research funding, public discourse, and how institutions respond to these technologies.</a:t>
            </a:r>
          </a:p>
          <a:p>
            <a:r>
              <a:rPr lang="en-US" dirty="0"/>
              <a:t>Having good tools for navigating them is not a luxury — it matters.</a:t>
            </a:r>
          </a:p>
          <a:p>
            <a:r>
              <a:rPr lang="en-US" dirty="0"/>
              <a:t>The goal today is to give you those tools before you need them on Wednesday.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units are designed to build on each other in a specific direction.</a:t>
            </a:r>
          </a:p>
          <a:p>
            <a:r>
              <a:rPr lang="en-US" dirty="0"/>
              <a:t>Unit 1 gave you a technical foundation — enough to understand what's actually happening inside these systems and to see through common misconceptions.</a:t>
            </a:r>
          </a:p>
          <a:p>
            <a:r>
              <a:rPr lang="en-US" dirty="0"/>
              <a:t>Unit 2 gave you empirical ground truth — firsthand experience with what LLMs are good at, where they fail, and how prompting and scaffolding change outcomes.</a:t>
            </a:r>
          </a:p>
          <a:p>
            <a:r>
              <a:rPr lang="en-US" dirty="0"/>
              <a:t>Unit 3 asks the harder question: given all that, what do we make of it?</a:t>
            </a:r>
          </a:p>
          <a:p>
            <a:endParaRPr lang="en-US" dirty="0"/>
          </a:p>
          <a:p>
            <a:r>
              <a:rPr lang="en-US" dirty="0"/>
              <a:t>The debates in this unit are harder to resolve than anything in Units 1 or 2, precisely because they involve genuine uncertainty — about science, about values, about the future.</a:t>
            </a:r>
          </a:p>
          <a:p>
            <a:r>
              <a:rPr lang="en-US" dirty="0"/>
              <a:t>Your technical and empirical knowledge from the earlier units is the foundation you need to engage with them well.</a:t>
            </a:r>
          </a:p>
          <a:p>
            <a:r>
              <a:rPr lang="en-US" dirty="0"/>
              <a:t>Someone who knows how LLMs actually work is in a much better position to evaluate claims about what they can or can't do than someone who is just speculating.</a:t>
            </a:r>
          </a:p>
          <a:p>
            <a:r>
              <a:rPr lang="en-US" dirty="0"/>
              <a:t>You are now that person.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this course has involved me at the front and you listening, reading, or doing structured activities.</a:t>
            </a:r>
          </a:p>
          <a:p>
            <a:r>
              <a:rPr lang="en-US" dirty="0"/>
              <a:t>Unit 3 inverts that entirely.</a:t>
            </a:r>
          </a:p>
          <a:p>
            <a:r>
              <a:rPr lang="en-US" dirty="0"/>
              <a:t>My role is to give a brief intro at the start of each cluster and then get out of your way.</a:t>
            </a:r>
          </a:p>
          <a:p>
            <a:r>
              <a:rPr lang="en-US" dirty="0"/>
              <a:t>The substance of the unit lives in your individual analysis, your group discussion, and your presentations.</a:t>
            </a:r>
          </a:p>
          <a:p>
            <a:endParaRPr lang="en-US" dirty="0"/>
          </a:p>
          <a:p>
            <a:r>
              <a:rPr lang="en-US" dirty="0"/>
              <a:t>Because of this, attendance genuinely matters here in a way it may not always in other courses.</a:t>
            </a:r>
          </a:p>
          <a:p>
            <a:r>
              <a:rPr lang="en-US" dirty="0"/>
              <a:t>Your group depends on you showing up with your pre-work done.</a:t>
            </a:r>
          </a:p>
          <a:p>
            <a:r>
              <a:rPr lang="en-US" dirty="0"/>
              <a:t>If you're absent, your group has a hole in it.</a:t>
            </a:r>
          </a:p>
          <a:p>
            <a:r>
              <a:rPr lang="en-US" dirty="0"/>
              <a:t>If you come without having done the pre-work, the discussion suffers.</a:t>
            </a:r>
          </a:p>
          <a:p>
            <a:endParaRPr lang="en-US" dirty="0"/>
          </a:p>
          <a:p>
            <a:r>
              <a:rPr lang="en-US" dirty="0"/>
              <a:t>The absence of right answers is not a cop-out — it's the nature of the territory.</a:t>
            </a:r>
          </a:p>
          <a:p>
            <a:r>
              <a:rPr lang="en-US" dirty="0"/>
              <a:t>We are dealing with questions where smart, well-informed people disagree, often for reasons that don't come down to one side simply being wrong.</a:t>
            </a:r>
          </a:p>
          <a:p>
            <a:r>
              <a:rPr lang="en-US" dirty="0"/>
              <a:t>Your job is not to arrive at the correct position but to reason carefully about an uncertain one.</a:t>
            </a:r>
          </a:p>
          <a:p>
            <a:r>
              <a:rPr lang="en-US" dirty="0"/>
              <a:t>That is actually a harder and more important skill.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organized the 20 debate topics into four thematic clusters so that related questions can be explored together.</a:t>
            </a:r>
          </a:p>
          <a:p>
            <a:r>
              <a:rPr lang="en-US" dirty="0"/>
              <a:t>Each cluster has several sub-topics, and your group will choose which one to analyze in depth.</a:t>
            </a:r>
          </a:p>
          <a:p>
            <a:r>
              <a:rPr lang="en-US" dirty="0"/>
              <a:t>This means different groups in the same week are exploring adjacent but distinct questions, which enriches the Wednesday presentations.</a:t>
            </a:r>
          </a:p>
          <a:p>
            <a:endParaRPr lang="en-US" dirty="0"/>
          </a:p>
          <a:p>
            <a:r>
              <a:rPr lang="en-US" dirty="0"/>
              <a:t>The first cluster — intelligence and cognition — covers foundational questions in cognitive science that LLMs have made newly urgent.</a:t>
            </a:r>
          </a:p>
          <a:p>
            <a:r>
              <a:rPr lang="en-US" dirty="0"/>
              <a:t>What is intelligence? What is meaning? Do cognitive systems require symbols? How is human and AI cognition similar and different?</a:t>
            </a:r>
          </a:p>
          <a:p>
            <a:r>
              <a:rPr lang="en-US" dirty="0"/>
              <a:t>These aren't new questions, but LLMs give us a new kind of entity to test our intuitions against.</a:t>
            </a:r>
          </a:p>
          <a:p>
            <a:endParaRPr lang="en-US" dirty="0"/>
          </a:p>
          <a:p>
            <a:r>
              <a:rPr lang="en-US" dirty="0"/>
              <a:t>Clusters 2 and 3 shift to impact and ethics: how are these systems already changing how people think, work, and reason?</a:t>
            </a:r>
          </a:p>
          <a:p>
            <a:r>
              <a:rPr lang="en-US" dirty="0"/>
              <a:t>And what responsibilities follow from that?</a:t>
            </a:r>
          </a:p>
          <a:p>
            <a:endParaRPr lang="en-US" dirty="0"/>
          </a:p>
          <a:p>
            <a:r>
              <a:rPr lang="en-US" dirty="0"/>
              <a:t>Cluster 4 zooms out to the largest-scale questions — existential risk, posthumanism, the long-run trajectory of AI development.</a:t>
            </a:r>
          </a:p>
          <a:p>
            <a:r>
              <a:rPr lang="en-US" dirty="0"/>
              <a:t>The clusters escalate from foundational to applied to speculative.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weekly rhythm is individual pre-work, then group synthesis, then group presentation.</a:t>
            </a:r>
          </a:p>
          <a:p>
            <a:r>
              <a:rPr lang="en-US" dirty="0"/>
              <a:t>Each stage depends on the one before it.</a:t>
            </a:r>
          </a:p>
          <a:p>
            <a:r>
              <a:rPr lang="en-US" dirty="0"/>
              <a:t>The presentations depend on good group discussion, and the group discussion depends on everyone arriving with a real draft.</a:t>
            </a:r>
          </a:p>
          <a:p>
            <a:r>
              <a:rPr lang="en-US" dirty="0"/>
              <a:t>If you treat the pre-work as optional, the whole system breaks.</a:t>
            </a:r>
          </a:p>
          <a:p>
            <a:endParaRPr lang="en-US" dirty="0"/>
          </a:p>
          <a:p>
            <a:r>
              <a:rPr lang="en-US" dirty="0"/>
              <a:t>The pre-work does not need to be polished.</a:t>
            </a:r>
          </a:p>
          <a:p>
            <a:r>
              <a:rPr lang="en-US" dirty="0"/>
              <a:t>A rough first attempt at each of the six questions is the target — enough that you have something to bring to the table.</a:t>
            </a:r>
          </a:p>
          <a:p>
            <a:r>
              <a:rPr lang="en-US" dirty="0"/>
              <a:t>You'll refine it through conversation with your group on Monday.</a:t>
            </a:r>
          </a:p>
          <a:p>
            <a:r>
              <a:rPr lang="en-US" dirty="0"/>
              <a:t>Come in with questions and uncertainties as much as with answers.</a:t>
            </a:r>
          </a:p>
          <a:p>
            <a:endParaRPr lang="en-US" dirty="0"/>
          </a:p>
          <a:p>
            <a:r>
              <a:rPr lang="en-US" dirty="0"/>
              <a:t>The Wednesday presentations are brief: five minutes, one question per group member.</a:t>
            </a:r>
          </a:p>
          <a:p>
            <a:r>
              <a:rPr lang="en-US" dirty="0"/>
              <a:t>The goal is not a comprehensive report — it's to share your group's most interesting or surprising finding for each question.</a:t>
            </a:r>
          </a:p>
          <a:p>
            <a:r>
              <a:rPr lang="en-US" dirty="0"/>
              <a:t>What did you disagree about? What surprised you? What would you need to know to feel more confident?</a:t>
            </a:r>
          </a:p>
          <a:p>
            <a:r>
              <a:rPr lang="en-US" dirty="0"/>
              <a:t>Those are more interesting than just reporting what the debate is.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self-selection process is intentional.</a:t>
            </a:r>
          </a:p>
          <a:p>
            <a:r>
              <a:rPr lang="en-US" dirty="0"/>
              <a:t>I know you will engage more deeply with topics you've chosen themselves, and the quality of debate is better when participants are genuinely interested.</a:t>
            </a:r>
          </a:p>
          <a:p>
            <a:r>
              <a:rPr lang="en-US" dirty="0"/>
              <a:t>You are more likely to do good epistemic analysis on a question you actually care about.</a:t>
            </a:r>
          </a:p>
          <a:p>
            <a:endParaRPr lang="en-US" dirty="0"/>
          </a:p>
          <a:p>
            <a:r>
              <a:rPr lang="en-US" dirty="0"/>
              <a:t>At the start of class on the first day of each cluster, I'll give a brief overview of the topics in that cluster.</a:t>
            </a:r>
          </a:p>
          <a:p>
            <a:r>
              <a:rPr lang="en-US" dirty="0"/>
              <a:t>You'll then have a few minutes to read the topic descriptions and find others interested in the same one.</a:t>
            </a:r>
          </a:p>
          <a:p>
            <a:r>
              <a:rPr lang="en-US" dirty="0"/>
              <a:t>Groups of around four tend to work best — enough diversity to generate disagreement, small enough to give everyone real airtime.</a:t>
            </a:r>
          </a:p>
          <a:p>
            <a:endParaRPr lang="en-US" dirty="0"/>
          </a:p>
          <a:p>
            <a:r>
              <a:rPr lang="en-US" dirty="0"/>
              <a:t>If you find yourself in a cluster where none of the topics excite you, treat that as a challenge: find the angle of the topic that connects to something you do care about.</a:t>
            </a:r>
          </a:p>
          <a:p>
            <a:r>
              <a:rPr lang="en-US" dirty="0"/>
              <a:t>All of these topics touch on psychology, cognition, ethics, and society in ways that should matter to people in this program.</a:t>
            </a:r>
          </a:p>
          <a:p>
            <a:r>
              <a:rPr lang="en-US" dirty="0"/>
              <a:t>And if you work through a topic and want to try a different one the second week of the cluster, just let me know.</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challenges with open-ended debate topics is that it's hard to know where to start.</a:t>
            </a:r>
          </a:p>
          <a:p>
            <a:r>
              <a:rPr lang="en-US" dirty="0"/>
              <a:t>The starter arguments solve that problem by giving you an argument to start with.</a:t>
            </a:r>
          </a:p>
          <a:p>
            <a:r>
              <a:rPr lang="en-US" dirty="0"/>
              <a:t>This lets you get to the analysis immediately rather than spending your pre-work time just figuring out what you're even arguing about.</a:t>
            </a:r>
          </a:p>
          <a:p>
            <a:endParaRPr lang="en-US" dirty="0"/>
          </a:p>
          <a:p>
            <a:r>
              <a:rPr lang="en-US" dirty="0"/>
              <a:t>The starter arguments are not the "right" arguments or the "best" arguments.</a:t>
            </a:r>
          </a:p>
          <a:p>
            <a:r>
              <a:rPr lang="en-US" dirty="0"/>
              <a:t>They are real arguments that people actually make, written out more explicitly than they usually appear.</a:t>
            </a:r>
          </a:p>
          <a:p>
            <a:r>
              <a:rPr lang="en-US" dirty="0"/>
              <a:t>You might find them compelling, or you might find them flawed — that's fine either way.</a:t>
            </a:r>
          </a:p>
          <a:p>
            <a:r>
              <a:rPr lang="en-US" dirty="0"/>
              <a:t>Your job is to evaluate them, not endorse them.</a:t>
            </a:r>
          </a:p>
          <a:p>
            <a:endParaRPr lang="en-US" dirty="0"/>
          </a:p>
          <a:p>
            <a:r>
              <a:rPr lang="en-US" dirty="0"/>
              <a:t>If you're comfortable constructing your own argument from scratch, go ahead.</a:t>
            </a:r>
          </a:p>
          <a:p>
            <a:r>
              <a:rPr lang="en-US" dirty="0"/>
              <a:t>The framework works the same way regardless of where the argument comes from.</a:t>
            </a:r>
          </a:p>
          <a:p>
            <a:r>
              <a:rPr lang="en-US" dirty="0"/>
              <a:t>You might also find it useful to start with a starter argument, analyze it, and then revise it or construct a competing one.</a:t>
            </a:r>
          </a:p>
          <a:p>
            <a:r>
              <a:rPr lang="en-US" dirty="0"/>
              <a:t>The point of having them is to reduce friction, not to constrain what you analyze.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spent any time reading about AI in popular media or on social platforms, you've probably noticed a pattern.</a:t>
            </a:r>
          </a:p>
          <a:p>
            <a:r>
              <a:rPr lang="en-US" dirty="0"/>
              <a:t>On one side there is breathless enthusiasm — AI will cure cancer, end poverty, solve every problem.</a:t>
            </a:r>
          </a:p>
          <a:p>
            <a:r>
              <a:rPr lang="en-US" dirty="0"/>
              <a:t>On the other side there is alarm or dismissal — AI is dangerous, meaningless, a threat to humanity or to nothing at all.</a:t>
            </a:r>
          </a:p>
          <a:p>
            <a:r>
              <a:rPr lang="en-US" dirty="0"/>
              <a:t>These positions often signal group membership more than they reflect careful thinking.</a:t>
            </a:r>
          </a:p>
          <a:p>
            <a:endParaRPr lang="en-US" dirty="0"/>
          </a:p>
          <a:p>
            <a:r>
              <a:rPr lang="en-US" dirty="0"/>
              <a:t>The problem isn't that people have opinions about AI.</a:t>
            </a:r>
          </a:p>
          <a:p>
            <a:r>
              <a:rPr lang="en-US" dirty="0"/>
              <a:t>The problem is that the confidence people express routinely exceeds what the evidence supports.</a:t>
            </a:r>
          </a:p>
          <a:p>
            <a:r>
              <a:rPr lang="en-US" dirty="0"/>
              <a:t>People speak with certainty about things that are genuinely uncertain, and they don't update when they should.</a:t>
            </a:r>
          </a:p>
          <a:p>
            <a:r>
              <a:rPr lang="en-US" dirty="0"/>
              <a:t>That's epistemically bad regardless of which direction it goes.</a:t>
            </a:r>
          </a:p>
          <a:p>
            <a:endParaRPr lang="en-US" dirty="0"/>
          </a:p>
          <a:p>
            <a:r>
              <a:rPr lang="en-US" dirty="0"/>
              <a:t>This tribal structure also makes it nearly impossible to learn from the debates.</a:t>
            </a:r>
          </a:p>
          <a:p>
            <a:r>
              <a:rPr lang="en-US" dirty="0"/>
              <a:t>If your goal is winning, you're not going to admit uncertainty.</a:t>
            </a:r>
          </a:p>
          <a:p>
            <a:r>
              <a:rPr lang="en-US" dirty="0"/>
              <a:t>If your goal is signaling, evidence doesn't help you.</a:t>
            </a:r>
          </a:p>
          <a:p>
            <a:r>
              <a:rPr lang="en-US" dirty="0"/>
              <a:t>And if everyone is performing rather than thinking, no one gets smarter.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Calibration is a concept from probability and forecasting.</a:t>
            </a:r>
          </a:p>
          <a:p>
            <a:r>
              <a:rPr lang="en-US" dirty="0"/>
              <a:t>A calibrated reasoner is one whose confidence levels match their actual track record of accuracy — when they say they're 80% sure, they're right about 80% of the time.</a:t>
            </a:r>
          </a:p>
          <a:p>
            <a:r>
              <a:rPr lang="en-US" dirty="0"/>
              <a:t>In informal debate, it means not claiming more certainty than you have, and not hiding behind false uncertainty when the evidence is actually pretty clear.</a:t>
            </a:r>
          </a:p>
          <a:p>
            <a:endParaRPr lang="en-US" dirty="0"/>
          </a:p>
          <a:p>
            <a:r>
              <a:rPr lang="en-US" dirty="0"/>
              <a:t>Calibrated reasoning is harder than it sounds, because it requires noticing and resisting motivated reasoning.</a:t>
            </a:r>
          </a:p>
          <a:p>
            <a:r>
              <a:rPr lang="en-US" dirty="0"/>
              <a:t>We naturally evaluate evidence more favorably when it supports what we already believe.</a:t>
            </a:r>
          </a:p>
          <a:p>
            <a:r>
              <a:rPr lang="en-US" dirty="0"/>
              <a:t>We find reasons to dismiss inconvenient findings.</a:t>
            </a:r>
          </a:p>
          <a:p>
            <a:r>
              <a:rPr lang="en-US" dirty="0"/>
              <a:t>Being calibrated means applying the same scrutiny to evidence that supports your view as to evidence that challenges it.</a:t>
            </a:r>
          </a:p>
          <a:p>
            <a:endParaRPr lang="en-US" dirty="0"/>
          </a:p>
          <a:p>
            <a:r>
              <a:rPr lang="en-US" dirty="0"/>
              <a:t>Importantly, calibration doesn't mean being wishy-washy or refusing to take positions.</a:t>
            </a:r>
          </a:p>
          <a:p>
            <a:r>
              <a:rPr lang="en-US" dirty="0"/>
              <a:t>It means holding your positions for the right reasons, with appropriate confidence given the evidence, and being willing to revise when new information warrants it.</a:t>
            </a:r>
          </a:p>
          <a:p>
            <a:r>
              <a:rPr lang="en-US" dirty="0"/>
              <a:t>You can have strong views and still be epistemically responsible.</a:t>
            </a:r>
          </a:p>
          <a:p>
            <a:r>
              <a:rPr lang="en-US" dirty="0"/>
              <a:t>That combination is what we're practicing.</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steps form a workflow for any structured debate analysis.</a:t>
            </a:r>
          </a:p>
          <a:p>
            <a:r>
              <a:rPr lang="en-US" dirty="0"/>
              <a:t>They're sequenced deliberately: first get the argument clearly specified, then evaluate its structure, then dig into its substance.</a:t>
            </a:r>
          </a:p>
          <a:p>
            <a:r>
              <a:rPr lang="en-US" dirty="0"/>
              <a:t>Steps 1–2 anchor the framework in formal logic.</a:t>
            </a:r>
          </a:p>
          <a:p>
            <a:r>
              <a:rPr lang="en-US" dirty="0"/>
              <a:t>Steps 3–6 move into epistemology and the philosophy of science.</a:t>
            </a:r>
          </a:p>
          <a:p>
            <a:endParaRPr lang="en-US" dirty="0"/>
          </a:p>
          <a:p>
            <a:r>
              <a:rPr lang="en-US" dirty="0"/>
              <a:t>The logic background is not just decoration.</a:t>
            </a:r>
          </a:p>
          <a:p>
            <a:r>
              <a:rPr lang="en-US" dirty="0"/>
              <a:t>Argument structure matters because a structurally broken argument can't be fixed by adding more evidence.</a:t>
            </a:r>
          </a:p>
          <a:p>
            <a:r>
              <a:rPr lang="en-US" dirty="0"/>
              <a:t>If the conclusion doesn't follow from the premises even when the premises are true, the argument fails regardless of how much you know about the topic.</a:t>
            </a:r>
          </a:p>
          <a:p>
            <a:endParaRPr lang="en-US" dirty="0"/>
          </a:p>
          <a:p>
            <a:r>
              <a:rPr lang="en-US" dirty="0"/>
              <a:t>The epistemological steps (3–6) are where most of the substantive work happens for these debates.</a:t>
            </a:r>
          </a:p>
          <a:p>
            <a:r>
              <a:rPr lang="en-US" dirty="0"/>
              <a:t>Identifying which claims are empirical, evaluating what evidence exists, naming what's missing, and honestly engaging with value disagreements — these are the moves that separate good analysis from just talking.</a:t>
            </a:r>
          </a:p>
          <a:p>
            <a:r>
              <a:rPr lang="en-US" dirty="0"/>
              <a:t>The framework gives you a checklist so nothing gets skipped.</a:t>
            </a:r>
          </a:p>
          <a:p>
            <a:endParaRPr lang="en-US" dirty="0"/>
          </a:p>
          <a:p>
            <a:r>
              <a:rPr lang="en-US" dirty="0"/>
              <a:t>The full framework is also in the background readings for this unit.</a:t>
            </a:r>
          </a:p>
          <a:p>
            <a:r>
              <a:rPr lang="en-US" dirty="0"/>
              <a:t>If you want to see how each step connects to the broader literature in informal logic and philosophy of science, those references are worth a look.</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step looks simple, and people often want to skip it or rush through it.</a:t>
            </a:r>
          </a:p>
          <a:p>
            <a:r>
              <a:rPr lang="en-US" dirty="0"/>
              <a:t>Don't.</a:t>
            </a:r>
          </a:p>
          <a:p>
            <a:r>
              <a:rPr lang="en-US" dirty="0"/>
              <a:t>The act of writing an argument out in standard form forces implicit assumptions into the open, and that's where the real action is.</a:t>
            </a:r>
          </a:p>
          <a:p>
            <a:r>
              <a:rPr lang="en-US" dirty="0"/>
              <a:t>Most arguments in the wild leave their most questionable premises unstated.</a:t>
            </a:r>
          </a:p>
          <a:p>
            <a:endParaRPr lang="en-US" dirty="0"/>
          </a:p>
          <a:p>
            <a:r>
              <a:rPr lang="en-US" dirty="0"/>
              <a:t>Standard form means each premise is a separate numbered sentence, followed by a clearly stated conclusion.</a:t>
            </a:r>
          </a:p>
          <a:p>
            <a:r>
              <a:rPr lang="en-US" dirty="0"/>
              <a:t>It does not mean flowery language or elaborate framing — the simpler and more direct the better.</a:t>
            </a:r>
          </a:p>
          <a:p>
            <a:r>
              <a:rPr lang="en-US" dirty="0"/>
              <a:t>If a premise can't be stated as a clean declarative sentence, that's a signal that it's doing more work than it appears.</a:t>
            </a:r>
          </a:p>
          <a:p>
            <a:endParaRPr lang="en-US" dirty="0"/>
          </a:p>
          <a:p>
            <a:r>
              <a:rPr lang="en-US" dirty="0"/>
              <a:t>Argument diagrams are optional but useful, especially when arguments have complex structure.</a:t>
            </a:r>
          </a:p>
          <a:p>
            <a:r>
              <a:rPr lang="en-US" dirty="0"/>
              <a:t>An argument diagram shows which premises independently support the conclusion and which ones support each other first before supporting the conclusion.</a:t>
            </a:r>
          </a:p>
          <a:p>
            <a:r>
              <a:rPr lang="en-US" dirty="0"/>
              <a:t>This matters because it tells you which premises are doing the most load-bearing work — those are the ones worth scrutinizing hardest.</a:t>
            </a:r>
          </a:p>
          <a:p>
            <a:endParaRPr lang="en-US" dirty="0"/>
          </a:p>
          <a:p>
            <a:r>
              <a:rPr lang="en-US" dirty="0"/>
              <a:t>A useful test: try writing out the strongest version of the opposing argument in a form that advocates of that position would recognize and accept.</a:t>
            </a:r>
          </a:p>
          <a:p>
            <a:r>
              <a:rPr lang="en-US" dirty="0"/>
              <a:t>If you can't do it, you probably don't understand the opposing view well enough to critique it effectively.</a:t>
            </a:r>
          </a:p>
          <a:p>
            <a:r>
              <a:rPr lang="en-US" dirty="0"/>
              <a:t>Steelmanning the other side is not a nicety — it's a precondition for good analysis.</a:t>
            </a:r>
          </a:p>
          <a:p>
            <a:endParaRPr lang="en-US" dirty="0"/>
          </a:p>
          <a:p>
            <a:r>
              <a:rPr lang="en-US" dirty="0"/>
              <a:t>Your starter arguments are written in natural language — the way they actually appear in real discourse, not as formal logical statements.</a:t>
            </a:r>
          </a:p>
          <a:p>
            <a:r>
              <a:rPr lang="en-US" dirty="0"/>
              <a:t>Part of your Step 1 task is to do this conversion yourself: read the argument, identify what's claimed explicitly, and ask what else has to be true for the conclusion to follow.</a:t>
            </a:r>
          </a:p>
          <a:p>
            <a:r>
              <a:rPr lang="en-US" dirty="0"/>
              <a:t>The hidden claims are often the most important ones.</a:t>
            </a:r>
          </a:p>
          <a:p>
            <a:r>
              <a:rPr lang="en-US" dirty="0"/>
              <a:t>We'll look at an example of this right now.</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natural language version of this argument sounds intuitive and even compelling to many people.</a:t>
            </a:r>
          </a:p>
          <a:p>
            <a:r>
              <a:rPr lang="en-US" dirty="0"/>
              <a:t>But notice what's not in it: the two most important claims are never stated explicitly.</a:t>
            </a:r>
          </a:p>
          <a:p>
            <a:r>
              <a:rPr lang="en-US" dirty="0"/>
              <a:t>The argument as written only tells you that AI has improved — the rest is left for you to assume.</a:t>
            </a:r>
          </a:p>
          <a:p>
            <a:r>
              <a:rPr lang="en-US" dirty="0"/>
              <a:t>Writing it in standard form makes those assumptions visible.</a:t>
            </a:r>
          </a:p>
          <a:p>
            <a:endParaRPr lang="en-US" dirty="0"/>
          </a:p>
          <a:p>
            <a:r>
              <a:rPr lang="en-US" dirty="0"/>
              <a:t>P2 assumes that the trajectory of recent improvement will continue in a straight line until human-level intelligence is reached.</a:t>
            </a:r>
          </a:p>
          <a:p>
            <a:r>
              <a:rPr lang="en-US" dirty="0"/>
              <a:t>That's a strong empirical claim about how technological progress works — and it's exactly the kind of claim where the evidence is contested and uncertain.</a:t>
            </a:r>
          </a:p>
          <a:p>
            <a:r>
              <a:rPr lang="en-US" dirty="0"/>
              <a:t>P3 assumes that superintelligent AI would necessarily act in ways humans cannot control — which is precisely what serious AI safety researchers spend their careers arguing about.</a:t>
            </a:r>
          </a:p>
          <a:p>
            <a:r>
              <a:rPr lang="en-US" dirty="0"/>
              <a:t>Both of those hidden premises are far more questionable than the stated one.</a:t>
            </a:r>
          </a:p>
          <a:p>
            <a:endParaRPr lang="en-US" dirty="0"/>
          </a:p>
          <a:p>
            <a:r>
              <a:rPr lang="en-US" dirty="0"/>
              <a:t>Your starter arguments work the same way — written as they might appear in a think-piece, an op-ed, or a social media thread.</a:t>
            </a:r>
          </a:p>
          <a:p>
            <a:r>
              <a:rPr lang="en-US" dirty="0"/>
              <a:t>Your job in Step 1 is to do what we just did here: read it carefully, figure out what has to be true for the conclusion to follow, and write those things down.</a:t>
            </a:r>
          </a:p>
          <a:p>
            <a:r>
              <a:rPr lang="en-US" dirty="0"/>
              <a:t>Don't assume that because something is unstated it isn't being assumed.</a:t>
            </a:r>
          </a:p>
          <a:p>
            <a:r>
              <a:rPr lang="en-US" dirty="0"/>
              <a:t>Unstated premises are often the most load-bearing part of the whole argument.</a:t>
            </a:r>
          </a:p>
          <a:p>
            <a:endParaRPr lang="en-US" dirty="0"/>
          </a:p>
          <a:p>
            <a:r>
              <a:rPr lang="en-US" dirty="0"/>
              <a:t>A common experience when students first do this: an argument that seemed solid in natural language starts to look shakier once the hidden premises are written out.</a:t>
            </a:r>
          </a:p>
          <a:p>
            <a:r>
              <a:rPr lang="en-US" dirty="0"/>
              <a:t>That's not a failure of analysis — that's the framework doing exactly what it's supposed to do.</a:t>
            </a:r>
          </a:p>
          <a:p>
            <a:r>
              <a:rPr lang="en-US" dirty="0"/>
              <a:t>Making the structure visible is what makes it possible to engage with the argument seriously rather than just react to it.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terms come from formal logic and have specific technical meanings.</a:t>
            </a:r>
          </a:p>
          <a:p>
            <a:r>
              <a:rPr lang="en-US" dirty="0"/>
              <a:t>Validity is a structural property: it says nothing about whether the premises are true, only about whether the conclusion would have to be true if they were.</a:t>
            </a:r>
          </a:p>
          <a:p>
            <a:r>
              <a:rPr lang="en-US" dirty="0"/>
              <a:t>Soundness is stronger: a sound argument is valid and its premises actually are true.</a:t>
            </a:r>
          </a:p>
          <a:p>
            <a:r>
              <a:rPr lang="en-US" dirty="0"/>
              <a:t>Most real-world arguments fail on soundness, not on validity.</a:t>
            </a:r>
          </a:p>
          <a:p>
            <a:endParaRPr lang="en-US" dirty="0"/>
          </a:p>
          <a:p>
            <a:r>
              <a:rPr lang="en-US" dirty="0"/>
              <a:t>It's easy to construct arguments that are valid but obviously unsound.</a:t>
            </a:r>
          </a:p>
          <a:p>
            <a:r>
              <a:rPr lang="en-US" dirty="0"/>
              <a:t>"All swans are white; this is a swan; therefore this is white" is valid — but the first premise is false.</a:t>
            </a:r>
          </a:p>
          <a:p>
            <a:r>
              <a:rPr lang="en-US" dirty="0"/>
              <a:t>The same pattern appears in AI debates constantly: the logical form is fine, but a premise is false, unproven, or much weaker than it appears.</a:t>
            </a:r>
          </a:p>
          <a:p>
            <a:endParaRPr lang="en-US" dirty="0"/>
          </a:p>
          <a:p>
            <a:r>
              <a:rPr lang="en-US" dirty="0"/>
              <a:t>It's also possible to have invalid arguments — ones where even granting the premises, the conclusion doesn't have to follow.</a:t>
            </a:r>
          </a:p>
          <a:p>
            <a:r>
              <a:rPr lang="en-US" dirty="0"/>
              <a:t>These are less common in real debates, but they do appear, especially with causal claims.</a:t>
            </a:r>
          </a:p>
          <a:p>
            <a:r>
              <a:rPr lang="en-US" dirty="0"/>
              <a:t>We'll look at specific examples in a moment.</a:t>
            </a:r>
          </a:p>
          <a:p>
            <a:endParaRPr lang="en-US" dirty="0"/>
          </a:p>
          <a:p>
            <a:r>
              <a:rPr lang="en-US" dirty="0"/>
              <a:t>For your analyses, you should briefly assess validity first (is the argument structurally sound?) and then focus the bulk of your energy on soundness (are the premises actually well-supported?).</a:t>
            </a:r>
          </a:p>
          <a:p>
            <a:r>
              <a:rPr lang="en-US" dirty="0"/>
              <a:t>That's where the interesting questions are for the topics in this unit.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argument is valid in a precise sense: if you grant P1 — that contextual word use is sufficient for understanding — then P2 and C follow necessarily.</a:t>
            </a:r>
          </a:p>
          <a:p>
            <a:r>
              <a:rPr lang="en-US" dirty="0"/>
              <a:t>But P1 is exactly what people disagree about.</a:t>
            </a:r>
          </a:p>
          <a:p>
            <a:r>
              <a:rPr lang="en-US" dirty="0"/>
              <a:t>Is contextually appropriate word use enough for genuine understanding, or does understanding require something more — grounding, intentions, experience in the world?</a:t>
            </a:r>
          </a:p>
          <a:p>
            <a:r>
              <a:rPr lang="en-US" dirty="0"/>
              <a:t>The argument is structurally fine; the problem is that its most contentious claim is sitting quietly in the first premise, where it is easy to miss.</a:t>
            </a:r>
          </a:p>
          <a:p>
            <a:endParaRPr lang="en-US" dirty="0"/>
          </a:p>
          <a:p>
            <a:r>
              <a:rPr lang="en-US" dirty="0"/>
              <a:t>The second argument is invalid: even granting that LLMs sometimes fail at logical reasoning, it doesn't follow that they cannot reason at all.</a:t>
            </a:r>
          </a:p>
          <a:p>
            <a:r>
              <a:rPr lang="en-US" dirty="0"/>
              <a:t>The missing premise would have to be something like "if a system ever fails at X, it cannot do X" — which is obviously false for humans too.</a:t>
            </a:r>
          </a:p>
          <a:p>
            <a:r>
              <a:rPr lang="en-US" dirty="0"/>
              <a:t>Spotting invalidity here means asking: what would have to be added to make this argument work?</a:t>
            </a:r>
          </a:p>
          <a:p>
            <a:r>
              <a:rPr lang="en-US" dirty="0"/>
              <a:t>And is that added premise something anyone actually believes?</a:t>
            </a:r>
          </a:p>
          <a:p>
            <a:endParaRPr lang="en-US" dirty="0"/>
          </a:p>
          <a:p>
            <a:r>
              <a:rPr lang="en-US" dirty="0"/>
              <a:t>Notice again the value of writing arguments out explicitly.</a:t>
            </a:r>
          </a:p>
          <a:p>
            <a:r>
              <a:rPr lang="en-US" dirty="0"/>
              <a:t>The valid-but-unsound example looks much more solid in natural language than in standard form — the contestable claim in P1 is easy to slide past when the argument is presented rhetorically.</a:t>
            </a:r>
          </a:p>
          <a:p>
            <a:r>
              <a:rPr lang="en-US" dirty="0"/>
              <a:t>The invalid example makes a common move — hasty generalization from some failures to a categorical incapacity — that is easy to miss when the argument isn't written out.</a:t>
            </a:r>
          </a:p>
          <a:p>
            <a:r>
              <a:rPr lang="en-US" dirty="0"/>
              <a:t>Making the structure visible is what makes it possible to evaluate rather than just react.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counterexample method is the most accessible tool for testing argument validity.</a:t>
            </a:r>
          </a:p>
          <a:p>
            <a:r>
              <a:rPr lang="en-US" dirty="0"/>
              <a:t>You don't need to know any formal logic to use it — you just need to be able to reason about hypothetical scenarios.</a:t>
            </a:r>
          </a:p>
          <a:p>
            <a:r>
              <a:rPr lang="en-US" dirty="0"/>
              <a:t>Ask yourself: is there any possible world in which all of these premises hold but the conclusion fails?</a:t>
            </a:r>
          </a:p>
          <a:p>
            <a:r>
              <a:rPr lang="en-US" dirty="0"/>
              <a:t>If yes, the argument is invalid.</a:t>
            </a:r>
          </a:p>
          <a:p>
            <a:endParaRPr lang="en-US" dirty="0"/>
          </a:p>
          <a:p>
            <a:r>
              <a:rPr lang="en-US" dirty="0"/>
              <a:t>Here's a simple example: "All psychologists study minds. Jon is a psychologist. Therefore Jon studies his own mind."</a:t>
            </a:r>
          </a:p>
          <a:p>
            <a:r>
              <a:rPr lang="en-US" dirty="0"/>
              <a:t>Both premises are true.</a:t>
            </a:r>
          </a:p>
          <a:p>
            <a:r>
              <a:rPr lang="en-US" dirty="0"/>
              <a:t>But the conclusion doesn't follow — Jon could be a psychologist who studies other people's minds, not his own.</a:t>
            </a:r>
          </a:p>
          <a:p>
            <a:r>
              <a:rPr lang="en-US" dirty="0"/>
              <a:t>That's a counterexample, and it shows the argument is invalid.</a:t>
            </a:r>
          </a:p>
          <a:p>
            <a:endParaRPr lang="en-US" dirty="0"/>
          </a:p>
          <a:p>
            <a:r>
              <a:rPr lang="en-US" dirty="0"/>
              <a:t>In AI debates, this often comes up with causal claims.</a:t>
            </a:r>
          </a:p>
          <a:p>
            <a:r>
              <a:rPr lang="en-US" dirty="0"/>
              <a:t>"LLMs improve student writing performance" and "this student uses LLMs" doesn't guarantee "therefore this student's writing will improve."</a:t>
            </a:r>
          </a:p>
          <a:p>
            <a:r>
              <a:rPr lang="en-US" dirty="0"/>
              <a:t>Maybe they use LLMs badly, or maybe other factors dominate.</a:t>
            </a:r>
          </a:p>
          <a:p>
            <a:r>
              <a:rPr lang="en-US" dirty="0"/>
              <a:t>The counterexample shows the conclusion isn't guaranteed by the premises.</a:t>
            </a:r>
          </a:p>
          <a:p>
            <a:endParaRPr lang="en-US" dirty="0"/>
          </a:p>
          <a:p>
            <a:r>
              <a:rPr lang="en-US" dirty="0"/>
              <a:t>When you find a counterexample, the argument needs repair — either a missing premise must be added, or the conclusion must be weakened.</a:t>
            </a:r>
          </a:p>
          <a:p>
            <a:r>
              <a:rPr lang="en-US" dirty="0"/>
              <a:t>Finding the counterexample is the diagnostic; figuring out what the argument actually needs is the next step.</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Truth tables offer a systematic, exhaustive method for checking validity.</a:t>
            </a:r>
          </a:p>
          <a:p>
            <a:r>
              <a:rPr lang="en-US" dirty="0"/>
              <a:t>Where the counterexample method works by imagination and example, the truth table works by enumeration: you list every logically possible combination of truth and falsity for the premises, then determine what the conclusion would be in each case.</a:t>
            </a:r>
          </a:p>
          <a:p>
            <a:r>
              <a:rPr lang="en-US" dirty="0"/>
              <a:t>If any row has all premises true and the conclusion false, you've found the invalidity.</a:t>
            </a:r>
          </a:p>
          <a:p>
            <a:endParaRPr lang="en-US" dirty="0"/>
          </a:p>
          <a:p>
            <a:r>
              <a:rPr lang="en-US" dirty="0"/>
              <a:t>The table grows quickly — two premises give you four rows, three premises give you eight.</a:t>
            </a:r>
          </a:p>
          <a:p>
            <a:r>
              <a:rPr lang="en-US" dirty="0"/>
              <a:t>For the kinds of arguments you'll encounter in these debates, which often have three to five premises, truth tables become unwieldy to do by hand.</a:t>
            </a:r>
          </a:p>
          <a:p>
            <a:r>
              <a:rPr lang="en-US" dirty="0"/>
              <a:t>But even knowing how they work is useful because it makes the definition of validity concrete.</a:t>
            </a:r>
          </a:p>
          <a:p>
            <a:endParaRPr lang="en-US" dirty="0"/>
          </a:p>
          <a:p>
            <a:r>
              <a:rPr lang="en-US" dirty="0"/>
              <a:t>The main value of truth tables for this course is conceptual clarity, not mechanical application.</a:t>
            </a:r>
          </a:p>
          <a:p>
            <a:r>
              <a:rPr lang="en-US" dirty="0"/>
              <a:t>Understanding that validity means "no possible world where premises are all true and conclusion is false" is the key idea, and truth tables make that visible.</a:t>
            </a:r>
          </a:p>
          <a:p>
            <a:endParaRPr lang="en-US" dirty="0"/>
          </a:p>
          <a:p>
            <a:r>
              <a:rPr lang="en-US" dirty="0"/>
              <a:t>You'll almost certainly use the counterexample method more often in practice.</a:t>
            </a:r>
          </a:p>
          <a:p>
            <a:r>
              <a:rPr lang="en-US" dirty="0"/>
              <a:t>But knowing the truth table framing helps when the counterexample method leaves you uncertain — it gives you a different angle on the same question.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fallacy is a reasoning error, but different kinds of errors require different diagnoses and different fixes.</a:t>
            </a:r>
          </a:p>
          <a:p>
            <a:r>
              <a:rPr lang="en-US" dirty="0"/>
              <a:t>Formal fallacies are purely structural: the logical form of the argument doesn't work, and no matter what the premises say, the conclusion doesn't follow.</a:t>
            </a:r>
          </a:p>
          <a:p>
            <a:r>
              <a:rPr lang="en-US" dirty="0"/>
              <a:t>Informal fallacies live in the content: the argument may be well-structured but relies on premises that are false, misleading, poorly supported, or conceptually confused.</a:t>
            </a:r>
          </a:p>
          <a:p>
            <a:endParaRPr lang="en-US" dirty="0"/>
          </a:p>
          <a:p>
            <a:r>
              <a:rPr lang="en-US" dirty="0"/>
              <a:t>In formal logic courses, formal fallacies get a lot of attention because they're crisp and teachable.</a:t>
            </a:r>
          </a:p>
          <a:p>
            <a:r>
              <a:rPr lang="en-US" dirty="0"/>
              <a:t>But in real arguments — including most AI debates — formal fallacies are actually fairly rare.</a:t>
            </a:r>
          </a:p>
          <a:p>
            <a:r>
              <a:rPr lang="en-US" dirty="0"/>
              <a:t>Most people's arguments, when you write them out, turn out to be structurally valid.</a:t>
            </a:r>
          </a:p>
          <a:p>
            <a:r>
              <a:rPr lang="en-US" dirty="0"/>
              <a:t>The problem is almost always that one or more premises are doing more work than they can support.</a:t>
            </a:r>
          </a:p>
          <a:p>
            <a:endParaRPr lang="en-US" dirty="0"/>
          </a:p>
          <a:p>
            <a:r>
              <a:rPr lang="en-US" dirty="0"/>
              <a:t>That's why the framework puts most of its weight on Steps 3 through 6 — the premise-focused steps.</a:t>
            </a:r>
          </a:p>
          <a:p>
            <a:r>
              <a:rPr lang="en-US" dirty="0"/>
              <a:t>Informal fallacies are essentially a taxonomy of ways premises can go wrong: they can be false, they can beg the question, they can slide from one claim to another without justification, they can present a false choice.</a:t>
            </a:r>
          </a:p>
          <a:p>
            <a:r>
              <a:rPr lang="en-US" dirty="0"/>
              <a:t>Knowing these patterns helps you spot them quickly.</a:t>
            </a:r>
          </a:p>
          <a:p>
            <a:endParaRPr lang="en-US" dirty="0"/>
          </a:p>
          <a:p>
            <a:r>
              <a:rPr lang="en-US" dirty="0"/>
              <a:t>We'll look at one formal fallacy and four informal ones as concrete examples.</a:t>
            </a:r>
          </a:p>
          <a:p>
            <a:r>
              <a:rPr lang="en-US" dirty="0"/>
              <a:t>These aren't exhaustive — there are many informal fallacies — but they're the ones you'll encounter most often in AI debates specifically.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Affirming the consequent is one of the most common formal fallacies in AI debates.</a:t>
            </a:r>
          </a:p>
          <a:p>
            <a:r>
              <a:rPr lang="en-US" dirty="0"/>
              <a:t>Its general form is: If A then B; B is true; therefore A is true.</a:t>
            </a:r>
          </a:p>
          <a:p>
            <a:r>
              <a:rPr lang="en-US" dirty="0"/>
              <a:t>The problem is that B might be true for many reasons besides A.</a:t>
            </a:r>
          </a:p>
          <a:p>
            <a:r>
              <a:rPr lang="en-US" dirty="0"/>
              <a:t>Confirming B doesn't tell you which cause was responsible.</a:t>
            </a:r>
          </a:p>
          <a:p>
            <a:endParaRPr lang="en-US" dirty="0"/>
          </a:p>
          <a:p>
            <a:r>
              <a:rPr lang="en-US" dirty="0"/>
              <a:t>In the example on the slide, passing language tests is what you'd expect if LLMs understand language.</a:t>
            </a:r>
          </a:p>
          <a:p>
            <a:r>
              <a:rPr lang="en-US" dirty="0"/>
              <a:t>But it's also what you'd expect if LLMs are pattern-matching in sophisticated ways without anything we'd call understanding.</a:t>
            </a:r>
          </a:p>
          <a:p>
            <a:r>
              <a:rPr lang="en-US" dirty="0"/>
              <a:t>The test result is consistent with both possibilities, so it doesn't settle which one is true.</a:t>
            </a:r>
          </a:p>
          <a:p>
            <a:endParaRPr lang="en-US" dirty="0"/>
          </a:p>
          <a:p>
            <a:r>
              <a:rPr lang="en-US" dirty="0"/>
              <a:t>This fallacy matters especially in AI because behavioral performance is often used as evidence for underlying capability.</a:t>
            </a:r>
          </a:p>
          <a:p>
            <a:r>
              <a:rPr lang="en-US" dirty="0"/>
              <a:t>But behavior underdetermines mechanism — multiple different internal processes can produce the same observable output.</a:t>
            </a:r>
          </a:p>
          <a:p>
            <a:r>
              <a:rPr lang="en-US" dirty="0"/>
              <a:t>That's not unique to AI; it's a longstanding problem in cognitive science more broadly.</a:t>
            </a:r>
          </a:p>
          <a:p>
            <a:r>
              <a:rPr lang="en-US" dirty="0"/>
              <a:t>The Chinese Room argument, for example, is partly pointing at this issue.</a:t>
            </a:r>
          </a:p>
          <a:p>
            <a:endParaRPr lang="en-US" dirty="0"/>
          </a:p>
          <a:p>
            <a:r>
              <a:rPr lang="en-US" dirty="0"/>
              <a:t>Importantly, spotting this fallacy doesn't tell you the conclusion is false.</a:t>
            </a:r>
          </a:p>
          <a:p>
            <a:r>
              <a:rPr lang="en-US" dirty="0"/>
              <a:t>LLMs might understand language in some sense.</a:t>
            </a:r>
          </a:p>
          <a:p>
            <a:r>
              <a:rPr lang="en-US" dirty="0"/>
              <a:t>The point is that this particular argument doesn't prove it.</a:t>
            </a:r>
          </a:p>
          <a:p>
            <a:r>
              <a:rPr lang="en-US" dirty="0"/>
              <a:t>You'd need different evidence — and specifying what that evidence would look like is exactly what Steps 4 and 5 of the framework are for.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Slippery slope arguments claim that a first step will inevitably lead to a cascade of downstream consequences.</a:t>
            </a:r>
          </a:p>
          <a:p>
            <a:r>
              <a:rPr lang="en-US" dirty="0"/>
              <a:t>The problem is that "inevitably" is doing a lot of work, and that work often isn't justified.</a:t>
            </a:r>
          </a:p>
          <a:p>
            <a:r>
              <a:rPr lang="en-US" dirty="0"/>
              <a:t>Each link in the chain needs to be independently supported — just because one bad thing could happen doesn't mean the next one will.</a:t>
            </a:r>
          </a:p>
          <a:p>
            <a:r>
              <a:rPr lang="en-US" dirty="0"/>
              <a:t>You see this in both AI risk arguments and AI benefit arguments: "once we have X, Y and Z are inevitable."</a:t>
            </a:r>
          </a:p>
          <a:p>
            <a:endParaRPr lang="en-US" dirty="0"/>
          </a:p>
          <a:p>
            <a:r>
              <a:rPr lang="en-US" dirty="0"/>
              <a:t>False dilemma frames a complex situation as if only two extreme options exist.</a:t>
            </a:r>
          </a:p>
          <a:p>
            <a:r>
              <a:rPr lang="en-US" dirty="0"/>
              <a:t>"Either we embrace AI fully or we fall behind" erases the space of partial, targeted, context-sensitive responses.</a:t>
            </a:r>
          </a:p>
          <a:p>
            <a:r>
              <a:rPr lang="en-US" dirty="0"/>
              <a:t>In reality, almost every policy or technological choice involves a range of options, and the most defensible position is usually somewhere in the middle ground that the false dilemma pretends doesn't exist.</a:t>
            </a:r>
          </a:p>
          <a:p>
            <a:endParaRPr lang="en-US" dirty="0"/>
          </a:p>
          <a:p>
            <a:r>
              <a:rPr lang="en-US" dirty="0"/>
              <a:t>Appeal to nature assumes that what is biological or organic is better, more legitimate, or more trustworthy than what is artificial.</a:t>
            </a:r>
          </a:p>
          <a:p>
            <a:r>
              <a:rPr lang="en-US" dirty="0"/>
              <a:t>This is a premise, not a given, and it needs support.</a:t>
            </a:r>
          </a:p>
          <a:p>
            <a:r>
              <a:rPr lang="en-US" dirty="0"/>
              <a:t>Whether the substrate matters for a given cognitive or ethical question is itself an empirical and philosophical question — you can't resolve it by asserting that nature is good.</a:t>
            </a:r>
          </a:p>
          <a:p>
            <a:endParaRPr lang="en-US" dirty="0"/>
          </a:p>
          <a:p>
            <a:r>
              <a:rPr lang="en-US" dirty="0"/>
              <a:t>Begging the question means building the conclusion into a premise.</a:t>
            </a:r>
          </a:p>
          <a:p>
            <a:r>
              <a:rPr lang="en-US" dirty="0"/>
              <a:t>"LLMs can't reason because reasoning requires understanding and LLMs don't understand" assumes the very thing it's supposed to establish.</a:t>
            </a:r>
          </a:p>
          <a:p>
            <a:r>
              <a:rPr lang="en-US" dirty="0"/>
              <a:t>The claim that LLMs don't understand is exactly what's in dispute — you can't use it as a premise without circularity.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slippery slope: a first step is described as leading inevitably to a catastrophic end state through a chain of intermediate steps.</a:t>
            </a:r>
          </a:p>
          <a:p>
            <a:r>
              <a:rPr lang="en-US" dirty="0"/>
              <a:t>The problem isn't that the chain is impossible — it's that each link in the chain needs independent evidence, and none is provided.</a:t>
            </a:r>
          </a:p>
          <a:p>
            <a:r>
              <a:rPr lang="en-US" dirty="0"/>
              <a:t>Writing the argument out in standard form makes visible just how much work "leads to" is doing in each premise.</a:t>
            </a:r>
          </a:p>
          <a:p>
            <a:r>
              <a:rPr lang="en-US" dirty="0"/>
              <a:t>Each arrow in the chain is a claim about social, institutional, or technological change that needs its own support.</a:t>
            </a:r>
          </a:p>
          <a:p>
            <a:endParaRPr lang="en-US" dirty="0"/>
          </a:p>
          <a:p>
            <a:r>
              <a:rPr lang="en-US" dirty="0"/>
              <a:t>P1 might be the most plausible: there's probably some truth to the idea that normalizing one kind of AI assistance affects attitudes toward others.</a:t>
            </a:r>
          </a:p>
          <a:p>
            <a:r>
              <a:rPr lang="en-US" dirty="0"/>
              <a:t>But P2 requires an argument that specifically normalizing AI email writing leads to accepting AI decision-making — a much bigger step involving questions about how institutions and norms actually change over time.</a:t>
            </a:r>
          </a:p>
          <a:p>
            <a:r>
              <a:rPr lang="en-US" dirty="0"/>
              <a:t>And P3 requires that normalized decision-support use eventually leads to fully replacing human judgment — a strong empirical claim about human and institutional behavior that needs support, not just assertion.</a:t>
            </a:r>
          </a:p>
          <a:p>
            <a:r>
              <a:rPr lang="en-US" dirty="0"/>
              <a:t>Even if each link is somewhat plausible, none of them is inevitable, and the argument presents them as if they were.</a:t>
            </a:r>
          </a:p>
          <a:p>
            <a:endParaRPr lang="en-US" dirty="0"/>
          </a:p>
          <a:p>
            <a:r>
              <a:rPr lang="en-US" dirty="0"/>
              <a:t>To fix a slippery slope argument, you either provide evidence for each link in the chain, or weaken the conclusion to match only what you can actually support.</a:t>
            </a:r>
          </a:p>
          <a:p>
            <a:r>
              <a:rPr lang="en-US" dirty="0"/>
              <a:t>"Allowing AI to write reports may contribute to broader normalization of AI assistance, which merits monitoring" is a defensible version of this argument.</a:t>
            </a:r>
          </a:p>
          <a:p>
            <a:r>
              <a:rPr lang="en-US" dirty="0"/>
              <a:t>"Will inevitably lead to replacing human judgment entirely" is not defensible without substantially more.</a:t>
            </a:r>
          </a:p>
          <a:p>
            <a:r>
              <a:rPr lang="en-US" dirty="0"/>
              <a:t>The goal of identifying the fallacy isn't to dismiss the concern — it's to hold it to the standard of evidence it deserves.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you've written out the argument and assessed its structure, the next step is to go through the premises one by one and label each one.</a:t>
            </a:r>
          </a:p>
          <a:p>
            <a:r>
              <a:rPr lang="en-US" dirty="0"/>
              <a:t>Is this an empirical claim — a claim about what happens in the world that could in principle be measured or tested?</a:t>
            </a:r>
          </a:p>
          <a:p>
            <a:r>
              <a:rPr lang="en-US" dirty="0"/>
              <a:t>Or is it a normative claim — about what should be done or what has value?</a:t>
            </a:r>
          </a:p>
          <a:p>
            <a:r>
              <a:rPr lang="en-US" dirty="0"/>
              <a:t>Or is it a conceptual claim — about what a term means or how a category should be defined?</a:t>
            </a:r>
          </a:p>
          <a:p>
            <a:endParaRPr lang="en-US" dirty="0"/>
          </a:p>
          <a:p>
            <a:r>
              <a:rPr lang="en-US" dirty="0"/>
              <a:t>Empirical premises are the ones evidence can speak to.</a:t>
            </a:r>
          </a:p>
          <a:p>
            <a:r>
              <a:rPr lang="en-US" dirty="0"/>
              <a:t>Not all empirical questions are easy to test — some would require long-term longitudinal studies, measurement tools we don't have, or access to populations that are hard to study.</a:t>
            </a:r>
          </a:p>
          <a:p>
            <a:r>
              <a:rPr lang="en-US" dirty="0"/>
              <a:t>But in principle, these are the claims where data is relevant.</a:t>
            </a:r>
          </a:p>
          <a:p>
            <a:endParaRPr lang="en-US" dirty="0"/>
          </a:p>
          <a:p>
            <a:r>
              <a:rPr lang="en-US" dirty="0"/>
              <a:t>Non-empirical premises are genuinely different.</a:t>
            </a:r>
          </a:p>
          <a:p>
            <a:r>
              <a:rPr lang="en-US" dirty="0"/>
              <a:t>No study can tell you whether human cognitive autonomy is intrinsically valuable, or whether efficiency is worth more than fairness.</a:t>
            </a:r>
          </a:p>
          <a:p>
            <a:r>
              <a:rPr lang="en-US" dirty="0"/>
              <a:t>These are real disagreements, but they're not resolved by data alone — they're resolved by working out the implications of foundational values and checking them for consistency.</a:t>
            </a:r>
          </a:p>
          <a:p>
            <a:endParaRPr lang="en-US" dirty="0"/>
          </a:p>
          <a:p>
            <a:r>
              <a:rPr lang="en-US" dirty="0"/>
              <a:t>The classification matters because people often argue past each other by treating empirical and normative disagreements as if they were the same kind of thing.</a:t>
            </a:r>
          </a:p>
          <a:p>
            <a:r>
              <a:rPr lang="en-US" dirty="0"/>
              <a:t>One person demands evidence; the other person is asserting a value commitment.</a:t>
            </a:r>
          </a:p>
          <a:p>
            <a:r>
              <a:rPr lang="en-US" dirty="0"/>
              <a:t>Neither realizes the mismatch.</a:t>
            </a:r>
          </a:p>
          <a:p>
            <a:r>
              <a:rPr lang="en-US" dirty="0"/>
              <a:t>Identifying which type of premise you're dealing with prevents that confusion.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return to the running example from earlier, now with Step 3 applied.</a:t>
            </a:r>
          </a:p>
          <a:p>
            <a:r>
              <a:rPr lang="en-US" dirty="0"/>
              <a:t>P1 is clearly empirical — we can measure AI capability over time across a range of domains and check whether the historical record supports the claim.</a:t>
            </a:r>
          </a:p>
          <a:p>
            <a:r>
              <a:rPr lang="en-US" dirty="0"/>
              <a:t>The evidence here is actually fairly strong: there has been dramatic improvement across many tasks over the past decade.</a:t>
            </a:r>
          </a:p>
          <a:p>
            <a:r>
              <a:rPr lang="en-US" dirty="0"/>
              <a:t>So P1 is an empirical premise where the existing evidence is reasonably good — Step 4 will confirm this.</a:t>
            </a:r>
          </a:p>
          <a:p>
            <a:endParaRPr lang="en-US" dirty="0"/>
          </a:p>
          <a:p>
            <a:r>
              <a:rPr lang="en-US" dirty="0"/>
              <a:t>P2 is also empirical, but it's a forecast rather than a historical claim, and forecasting technological trajectories has a notoriously poor track record.</a:t>
            </a:r>
          </a:p>
          <a:p>
            <a:r>
              <a:rPr lang="en-US" dirty="0"/>
              <a:t>This is exactly the kind of premise where Steps 4 and 5 will do real work: what evidence could support or undermine this claim, and what would a rigorous analysis of AI progress trajectories need to look like?</a:t>
            </a:r>
          </a:p>
          <a:p>
            <a:r>
              <a:rPr lang="en-US" dirty="0"/>
              <a:t>"The trend has continued so far" is some evidence, but not nearly enough to license "will continue until superintelligence."</a:t>
            </a:r>
          </a:p>
          <a:p>
            <a:r>
              <a:rPr lang="en-US" dirty="0"/>
              <a:t>P2 is where the argument's load-bearing weight actually sits.</a:t>
            </a:r>
          </a:p>
          <a:p>
            <a:endParaRPr lang="en-US" dirty="0"/>
          </a:p>
          <a:p>
            <a:r>
              <a:rPr lang="en-US" dirty="0"/>
              <a:t>P3 is the most complex case.</a:t>
            </a:r>
          </a:p>
          <a:p>
            <a:r>
              <a:rPr lang="en-US" dirty="0"/>
              <a:t>The word "necessarily" makes a universal claim — not just that a specific system might be uncontrollable, but that any superintelligent system would be.</a:t>
            </a:r>
          </a:p>
          <a:p>
            <a:r>
              <a:rPr lang="en-US" dirty="0"/>
              <a:t>This involves both empirical questions (what do systems with greater-than-human capability actually do?) and conceptual ones (what does "control" mean?).</a:t>
            </a:r>
          </a:p>
          <a:p>
            <a:r>
              <a:rPr lang="en-US" dirty="0"/>
              <a:t>When a premise is mixed like this, the right move is to split it: identify the empirical component and the conceptual component, and address each separately.</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you've identified your empirical premises, the question is: what do we actually know?</a:t>
            </a:r>
          </a:p>
          <a:p>
            <a:r>
              <a:rPr lang="en-US" dirty="0"/>
              <a:t>Step 4 asks you to do a real inventory of the existing evidence bearing on each claim.</a:t>
            </a:r>
          </a:p>
          <a:p>
            <a:r>
              <a:rPr lang="en-US" dirty="0"/>
              <a:t>What studies have been done? What do they show? How confident should we be in those results?</a:t>
            </a:r>
          </a:p>
          <a:p>
            <a:endParaRPr lang="en-US" dirty="0"/>
          </a:p>
          <a:p>
            <a:r>
              <a:rPr lang="en-US" dirty="0"/>
              <a:t>Quality assessment is the core of this step.</a:t>
            </a:r>
          </a:p>
          <a:p>
            <a:r>
              <a:rPr lang="en-US" dirty="0"/>
              <a:t>A single study with a small sample in a specific context is much weaker evidence than multiple replications across diverse populations.</a:t>
            </a:r>
          </a:p>
          <a:p>
            <a:r>
              <a:rPr lang="en-US" dirty="0"/>
              <a:t>Effect sizes matter — an effect can be statistically significant but practically negligible.</a:t>
            </a:r>
          </a:p>
          <a:p>
            <a:r>
              <a:rPr lang="en-US" dirty="0"/>
              <a:t>Measurement validity matters — if the outcome measure doesn't actually capture what the argument is about, the study doesn't help much.</a:t>
            </a:r>
          </a:p>
          <a:p>
            <a:endParaRPr lang="en-US" dirty="0"/>
          </a:p>
          <a:p>
            <a:r>
              <a:rPr lang="en-US" dirty="0"/>
              <a:t>In AI debates specifically, watch for a few common patterns.</a:t>
            </a:r>
          </a:p>
          <a:p>
            <a:r>
              <a:rPr lang="en-US" dirty="0"/>
              <a:t>Cherry-picked examples — individual cases presented as if they represent the general case — are ubiquitous.</a:t>
            </a:r>
          </a:p>
          <a:p>
            <a:r>
              <a:rPr lang="en-US" dirty="0"/>
              <a:t>Anecdotal evidence scaled to universal claims is everywhere, especially in opinion pieces and public discourse.</a:t>
            </a:r>
          </a:p>
          <a:p>
            <a:r>
              <a:rPr lang="en-US" dirty="0"/>
              <a:t>And benchmark performance is routinely conflated with real-world capability, which is almost never warranted.</a:t>
            </a:r>
          </a:p>
          <a:p>
            <a:endParaRPr lang="en-US" dirty="0"/>
          </a:p>
          <a:p>
            <a:r>
              <a:rPr lang="en-US" dirty="0"/>
              <a:t>For example: a study shows GPT-4 scored 90% on a medical licensing exam, and the takeaway is that it is ready to assist in clinical settings.</a:t>
            </a:r>
          </a:p>
          <a:p>
            <a:r>
              <a:rPr lang="en-US" dirty="0"/>
              <a:t>What's wrong here?</a:t>
            </a:r>
          </a:p>
          <a:p>
            <a:r>
              <a:rPr lang="en-US" dirty="0"/>
              <a:t>The exam tests a narrow range of medical knowledge under controlled conditions; actual clinical work involves uncertainty, real-time patient communication, and edge cases the test doesn't represent.</a:t>
            </a:r>
          </a:p>
          <a:p>
            <a:r>
              <a:rPr lang="en-US" dirty="0"/>
              <a:t>That's benchmark conflation — the performance measure is real, but the claim being drawn from it goes far beyond what it can establish.</a:t>
            </a:r>
          </a:p>
          <a:p>
            <a:endParaRPr lang="en-US" dirty="0"/>
          </a:p>
          <a:p>
            <a:r>
              <a:rPr lang="en-US" dirty="0"/>
              <a:t>The goal is not to dismiss all evidence as imperfect.</a:t>
            </a:r>
          </a:p>
          <a:p>
            <a:r>
              <a:rPr lang="en-US" dirty="0"/>
              <a:t>All evidence is imperfect; that's not disqualifying.</a:t>
            </a:r>
          </a:p>
          <a:p>
            <a:r>
              <a:rPr lang="en-US" dirty="0"/>
              <a:t>The goal is to be accurate about the strength of the evidence and the degree to which it actually supports the specific claim in the argument.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versions of evidence differ not in topic but in how well they rule out alternative explanations.</a:t>
            </a:r>
          </a:p>
          <a:p>
            <a:r>
              <a:rPr lang="en-US" dirty="0"/>
              <a:t>The weak version is confounded: we don't know whether the judges are responding to actual quality differences or to their own attitudes about AI use.</a:t>
            </a:r>
          </a:p>
          <a:p>
            <a:r>
              <a:rPr lang="en-US" dirty="0"/>
              <a:t>That's a measurement validity problem — the outcome measure doesn't cleanly capture what the claim is about.</a:t>
            </a:r>
          </a:p>
          <a:p>
            <a:r>
              <a:rPr lang="en-US" dirty="0"/>
              <a:t>Confounded evidence isn't zero evidence, but it should substantially reduce your confidence in the conclusion.</a:t>
            </a:r>
          </a:p>
          <a:p>
            <a:endParaRPr lang="en-US" dirty="0"/>
          </a:p>
          <a:p>
            <a:r>
              <a:rPr lang="en-US" dirty="0"/>
              <a:t>The moderate version is better — it uses a longitudinal design and includes a control group, which rules out some alternative explanations.</a:t>
            </a:r>
          </a:p>
          <a:p>
            <a:r>
              <a:rPr lang="en-US" dirty="0"/>
              <a:t>But one semester at one institution is a thin basis for a broad general claim about "student writing quality."</a:t>
            </a:r>
          </a:p>
          <a:p>
            <a:r>
              <a:rPr lang="en-US" dirty="0"/>
              <a:t>Does the effect generalize to graduate students? To professional writing? To students with different initial skill levels? To LLM use in different modes — heavy drafting vs. light editing?</a:t>
            </a:r>
          </a:p>
          <a:p>
            <a:r>
              <a:rPr lang="en-US" dirty="0"/>
              <a:t>A single study, even a good one, is rarely sufficient to license confident general claims.</a:t>
            </a:r>
          </a:p>
          <a:p>
            <a:endParaRPr lang="en-US" dirty="0"/>
          </a:p>
          <a:p>
            <a:r>
              <a:rPr lang="en-US" dirty="0"/>
              <a:t>The strong version is what you'd need to make confident claims, and it's also the standard you should hold in mind when evaluating evidence in the debates.</a:t>
            </a:r>
          </a:p>
          <a:p>
            <a:r>
              <a:rPr lang="en-US" dirty="0"/>
              <a:t>Notice that even the "strong" version doesn't prove the claim beyond doubt — there are always limitations.</a:t>
            </a:r>
          </a:p>
          <a:p>
            <a:r>
              <a:rPr lang="en-US" dirty="0"/>
              <a:t>The question is not whether evidence is perfect but whether it is strong enough to warrant the degree of confidence being expressed.</a:t>
            </a:r>
          </a:p>
          <a:p>
            <a:r>
              <a:rPr lang="en-US" dirty="0"/>
              <a:t>Calibrating your confidence to the actual evidence you have — not the evidence you wish you had — is the core discipline here.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evaluating the existing evidence, you'll often find that some empirical questions are genuinely unresolved.</a:t>
            </a:r>
          </a:p>
          <a:p>
            <a:r>
              <a:rPr lang="en-US" dirty="0"/>
              <a:t>The evidence is insufficient, absent, or too preliminary to settle the claim.</a:t>
            </a:r>
          </a:p>
          <a:p>
            <a:r>
              <a:rPr lang="en-US" dirty="0"/>
              <a:t>Step 5 asks you not just to note this absence but to specify what would fill it.</a:t>
            </a:r>
          </a:p>
          <a:p>
            <a:endParaRPr lang="en-US" dirty="0"/>
          </a:p>
          <a:p>
            <a:r>
              <a:rPr lang="en-US" dirty="0"/>
              <a:t>"More research is needed" is not a useful answer.</a:t>
            </a:r>
          </a:p>
          <a:p>
            <a:r>
              <a:rPr lang="en-US" dirty="0"/>
              <a:t>What research, specifically?</a:t>
            </a:r>
          </a:p>
          <a:p>
            <a:r>
              <a:rPr lang="en-US" dirty="0"/>
              <a:t>What would be measured — which behaviors, outcomes, or processes?</a:t>
            </a:r>
          </a:p>
          <a:p>
            <a:r>
              <a:rPr lang="en-US" dirty="0"/>
              <a:t>In which populations — students, professionals, specific age groups, specific cultures?</a:t>
            </a:r>
          </a:p>
          <a:p>
            <a:r>
              <a:rPr lang="en-US" dirty="0"/>
              <a:t>Over what time period — short-term lab studies miss long-term effects; longitudinal studies are costly but often necessary?</a:t>
            </a:r>
          </a:p>
          <a:p>
            <a:endParaRPr lang="en-US" dirty="0"/>
          </a:p>
          <a:p>
            <a:r>
              <a:rPr lang="en-US" dirty="0"/>
              <a:t>Feasibility is a real consideration.</a:t>
            </a:r>
          </a:p>
          <a:p>
            <a:r>
              <a:rPr lang="en-US" dirty="0"/>
              <a:t>Some studies that would settle important questions are ethically impossible — you can't randomly assign children to conditions that might harm their development.</a:t>
            </a:r>
          </a:p>
          <a:p>
            <a:r>
              <a:rPr lang="en-US" dirty="0"/>
              <a:t>Some would take decades to run.</a:t>
            </a:r>
          </a:p>
          <a:p>
            <a:r>
              <a:rPr lang="en-US" dirty="0"/>
              <a:t>Some require measurement instruments that don't yet exist.</a:t>
            </a:r>
          </a:p>
          <a:p>
            <a:r>
              <a:rPr lang="en-US" dirty="0"/>
              <a:t>Noting these constraints honestly is part of the analysis, not a way of avoiding it.</a:t>
            </a:r>
          </a:p>
          <a:p>
            <a:endParaRPr lang="en-US" dirty="0"/>
          </a:p>
          <a:p>
            <a:r>
              <a:rPr lang="en-US" dirty="0"/>
              <a:t>Even when you can't collect the missing data, specifying what it would look like accomplishes something important.</a:t>
            </a:r>
          </a:p>
          <a:p>
            <a:r>
              <a:rPr lang="en-US" dirty="0"/>
              <a:t>It makes the debate concrete.</a:t>
            </a:r>
          </a:p>
          <a:p>
            <a:r>
              <a:rPr lang="en-US" dirty="0"/>
              <a:t>It reveals whether the disagreement is about facts that could in principle be settled, or about something deeper.</a:t>
            </a:r>
          </a:p>
          <a:p>
            <a:r>
              <a:rPr lang="en-US" dirty="0"/>
              <a:t>And it converts vague uncertainty into specific, actionable questions.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Notice the difference between the vague version and the concrete specification.</a:t>
            </a:r>
          </a:p>
          <a:p>
            <a:r>
              <a:rPr lang="en-US" dirty="0"/>
              <a:t>The vague version doesn't tell you anything actionable — you can't design a study from it, evaluate whether it already exists, or reason about feasibility.</a:t>
            </a:r>
          </a:p>
          <a:p>
            <a:r>
              <a:rPr lang="en-US" dirty="0"/>
              <a:t>The concrete version gives you all of those things: a specific outcome, a specific population, a specific design, and a specific timeline.</a:t>
            </a:r>
          </a:p>
          <a:p>
            <a:r>
              <a:rPr lang="en-US" dirty="0"/>
              <a:t>Even if you can't run the study, the specification lets you see exactly what kind of evidence the claim depends on.</a:t>
            </a:r>
          </a:p>
          <a:p>
            <a:endParaRPr lang="en-US" dirty="0"/>
          </a:p>
          <a:p>
            <a:r>
              <a:rPr lang="en-US" dirty="0"/>
              <a:t>The outcome measure is the first thing to specify.</a:t>
            </a:r>
          </a:p>
          <a:p>
            <a:r>
              <a:rPr lang="en-US" dirty="0"/>
              <a:t>"Critical reasoning skills" needs to be operationalized — there are validated instruments like the Watson-Glaser Critical Thinking Appraisal, but choosing which aspects of reasoning to measure reflects theoretical commitments about what reasoning is.</a:t>
            </a:r>
          </a:p>
          <a:p>
            <a:r>
              <a:rPr lang="en-US" dirty="0"/>
              <a:t>Operationalization choices should be made transparent, not hidden inside general terms like "thinking" or "cognition."</a:t>
            </a:r>
          </a:p>
          <a:p>
            <a:r>
              <a:rPr lang="en-US" dirty="0"/>
              <a:t>Different operationalizations can give different answers — which is itself an important finding.</a:t>
            </a:r>
          </a:p>
          <a:p>
            <a:endParaRPr lang="en-US" dirty="0"/>
          </a:p>
          <a:p>
            <a:r>
              <a:rPr lang="en-US" dirty="0"/>
              <a:t>The feasibility constraint here is real and worth naming honestly.</a:t>
            </a:r>
          </a:p>
          <a:p>
            <a:r>
              <a:rPr lang="en-US" dirty="0"/>
              <a:t>Randomly assigning people to never use LLMs in their professional work is probably not practical in 2026, because LLMs are already deeply integrated into many workflows.</a:t>
            </a:r>
          </a:p>
          <a:p>
            <a:r>
              <a:rPr lang="en-US" dirty="0"/>
              <a:t>A natural experiment — studying populations where LLM adoption happened at different times due to logistical or policy reasons — might be the most tractable approach, but natural experiments have their own limitations for establishing causation.</a:t>
            </a:r>
          </a:p>
          <a:p>
            <a:r>
              <a:rPr lang="en-US" dirty="0"/>
              <a:t>What does it mean for our confidence in causal claims if the only feasible design is observational? That constraint belongs in your Step 5 analysis, not left implicit.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premise expresses a value, a conceptual commitment, or a normative claim, evidence alone won't resolve it.</a:t>
            </a:r>
          </a:p>
          <a:p>
            <a:r>
              <a:rPr lang="en-US" dirty="0"/>
              <a:t>But that doesn't mean you're stuck.</a:t>
            </a:r>
          </a:p>
          <a:p>
            <a:r>
              <a:rPr lang="en-US" dirty="0"/>
              <a:t>There are still things you can do with non-empirical premises besides throw up your hands.</a:t>
            </a:r>
          </a:p>
          <a:p>
            <a:endParaRPr lang="en-US" dirty="0"/>
          </a:p>
          <a:p>
            <a:r>
              <a:rPr lang="en-US" dirty="0"/>
              <a:t>The most useful move is to check for internal consistency.</a:t>
            </a:r>
          </a:p>
          <a:p>
            <a:r>
              <a:rPr lang="en-US" dirty="0"/>
              <a:t>A value doesn't have to be universally shared to be examined — you can ask whether the person who holds it applies it consistently.</a:t>
            </a:r>
          </a:p>
          <a:p>
            <a:r>
              <a:rPr lang="en-US" dirty="0"/>
              <a:t>If someone argues that AI-generated content violates intellectual property norms, do they apply that same framework consistently to other cases of remixing, synthesis, or inspiration?</a:t>
            </a:r>
          </a:p>
          <a:p>
            <a:r>
              <a:rPr lang="en-US" dirty="0"/>
              <a:t>Inconsistency is a real flaw even in purely normative reasoning.</a:t>
            </a:r>
          </a:p>
          <a:p>
            <a:endParaRPr lang="en-US" dirty="0"/>
          </a:p>
          <a:p>
            <a:r>
              <a:rPr lang="en-US" dirty="0"/>
              <a:t>The second move is to make the value disagreement explicit.</a:t>
            </a:r>
          </a:p>
          <a:p>
            <a:r>
              <a:rPr lang="en-US" dirty="0"/>
              <a:t>Many debates go in circles because participants are treating a values dispute as if it's a factual one.</a:t>
            </a:r>
          </a:p>
          <a:p>
            <a:r>
              <a:rPr lang="en-US" dirty="0"/>
              <a:t>Once you name the underlying value commitment — this argument assumes human cognitive autonomy is intrinsically valuable; that one assumes efficiency is the primary goal — you've clarified what the debate is actually about.</a:t>
            </a:r>
          </a:p>
          <a:p>
            <a:endParaRPr lang="en-US" dirty="0"/>
          </a:p>
          <a:p>
            <a:r>
              <a:rPr lang="en-US" dirty="0"/>
              <a:t>Finally, sometimes the honest conclusion is that reasonable people who are well-informed can and do disagree because they hold different foundational values.</a:t>
            </a:r>
          </a:p>
          <a:p>
            <a:r>
              <a:rPr lang="en-US" dirty="0"/>
              <a:t>That's not a failure of analysis — it's an accurate characterization of many real debates.</a:t>
            </a:r>
          </a:p>
          <a:p>
            <a:r>
              <a:rPr lang="en-US" dirty="0"/>
              <a:t>The framework doesn't promise to resolve everything; it promises to tell you why things are hard to resolve and exactly where the disagreement lives.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goal of a consistency check is not to defeat the value claim — it's to clarify and sharpen it.</a:t>
            </a:r>
          </a:p>
          <a:p>
            <a:r>
              <a:rPr lang="en-US" dirty="0"/>
              <a:t>Most people who hold that LLMs violate IP don't also think that all human artistic influence is a violation.</a:t>
            </a:r>
          </a:p>
          <a:p>
            <a:r>
              <a:rPr lang="en-US" dirty="0"/>
              <a:t>That means there's something about LLMs they believe is genuinely different.</a:t>
            </a:r>
          </a:p>
          <a:p>
            <a:r>
              <a:rPr lang="en-US" dirty="0"/>
              <a:t>The consistency check forces them to articulate what that difference is — which is more productive than simply asserting the original claim more forcefully.</a:t>
            </a:r>
          </a:p>
          <a:p>
            <a:endParaRPr lang="en-US" dirty="0"/>
          </a:p>
          <a:p>
            <a:r>
              <a:rPr lang="en-US" dirty="0"/>
              <a:t>The most common answers turn out to be: scale (LLMs trained on billions of documents in a way no human imitates), lack of consent (authors didn't agree to be training data), commercial exploitation (companies profit without compensating creators), or the nature of the output (LLMs can reproduce style in ways that directly substitute for the original).</a:t>
            </a:r>
          </a:p>
          <a:p>
            <a:r>
              <a:rPr lang="en-US" dirty="0"/>
              <a:t>Each of these is a more precise claim than the original value premise, and each has both empirical and normative components that can be further examined.</a:t>
            </a:r>
          </a:p>
          <a:p>
            <a:r>
              <a:rPr lang="en-US" dirty="0"/>
              <a:t>"LLMs violate IP because they train on data without consent and profit commercially" is a much more tractable claim to evaluate than "LLMs violate IP."</a:t>
            </a:r>
          </a:p>
          <a:p>
            <a:r>
              <a:rPr lang="en-US" dirty="0"/>
              <a:t>It also reveals where you'd disagree with someone who holds the same underlying value but draws the line differently.</a:t>
            </a:r>
          </a:p>
          <a:p>
            <a:endParaRPr lang="en-US" dirty="0"/>
          </a:p>
          <a:p>
            <a:r>
              <a:rPr lang="en-US" dirty="0"/>
              <a:t>Notice that reasonable people can come out in very different places after a consistency check.</a:t>
            </a:r>
          </a:p>
          <a:p>
            <a:r>
              <a:rPr lang="en-US" dirty="0"/>
              <a:t>One person might conclude: "I now think my principle is too broad — I need to revise it."</a:t>
            </a:r>
          </a:p>
          <a:p>
            <a:r>
              <a:rPr lang="en-US" dirty="0"/>
              <a:t>Another might conclude: "I think all of those cases ARE violations, and we've been too permissive."</a:t>
            </a:r>
          </a:p>
          <a:p>
            <a:r>
              <a:rPr lang="en-US" dirty="0"/>
              <a:t>Both responses are valid epistemic moves — the check does its job either way by clarifying the debate and surfacing the real commitments.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practically useful insights from this framework is that normative and empirical claims are often tangled together in ways that aren't immediately visible.</a:t>
            </a:r>
          </a:p>
          <a:p>
            <a:r>
              <a:rPr lang="en-US" dirty="0"/>
              <a:t>A statement that looks purely like a value judgment often rests on an empirical assumption that can be separated out and evaluated on its own.</a:t>
            </a:r>
          </a:p>
          <a:p>
            <a:endParaRPr lang="en-US" dirty="0"/>
          </a:p>
          <a:p>
            <a:r>
              <a:rPr lang="en-US" dirty="0"/>
              <a:t>The example on the slide illustrates this well.</a:t>
            </a:r>
          </a:p>
          <a:p>
            <a:r>
              <a:rPr lang="en-US" dirty="0"/>
              <a:t>"It is wrong to use LLMs in education because they harm students" looks like a moral claim.</a:t>
            </a:r>
          </a:p>
          <a:p>
            <a:r>
              <a:rPr lang="en-US" dirty="0"/>
              <a:t>But embedded in it is the empirical premise that LLMs actually do harm students.</a:t>
            </a:r>
          </a:p>
          <a:p>
            <a:r>
              <a:rPr lang="en-US" dirty="0"/>
              <a:t>That's a claim about the world, and it can be studied — what kinds of harm, how large, in what contexts, for which students, compared to what baseline?</a:t>
            </a:r>
          </a:p>
          <a:p>
            <a:endParaRPr lang="en-US" dirty="0"/>
          </a:p>
          <a:p>
            <a:r>
              <a:rPr lang="en-US" dirty="0"/>
              <a:t>Once you extract that empirical premise, you've made real progress.</a:t>
            </a:r>
          </a:p>
          <a:p>
            <a:r>
              <a:rPr lang="en-US" dirty="0"/>
              <a:t>If the empirical claim turns out to be well-supported, the moral argument gains traction.</a:t>
            </a:r>
          </a:p>
          <a:p>
            <a:r>
              <a:rPr lang="en-US" dirty="0"/>
              <a:t>If it turns out to be false or contested, the moral argument loses much of its force — even if you agreed with the underlying value about avoiding harm to students.</a:t>
            </a:r>
          </a:p>
          <a:p>
            <a:endParaRPr lang="en-US" dirty="0"/>
          </a:p>
          <a:p>
            <a:r>
              <a:rPr lang="en-US" dirty="0"/>
              <a:t>This move doesn't dissolve ethical questions, and it doesn't mean ethics reduces to empirics.</a:t>
            </a:r>
          </a:p>
          <a:p>
            <a:r>
              <a:rPr lang="en-US" dirty="0"/>
              <a:t>But it clarifies the structure of the debate.</a:t>
            </a:r>
          </a:p>
          <a:p>
            <a:r>
              <a:rPr lang="en-US" dirty="0"/>
              <a:t>People who appear to disagree on values often actually agree on values but disagree on the facts.</a:t>
            </a:r>
          </a:p>
          <a:p>
            <a:r>
              <a:rPr lang="en-US" dirty="0"/>
              <a:t>Finding and evaluating the hidden empirical premise reveals which kind of disagreement you're actually dealing with.</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cluster focuses on the most philosophically foundational questions in this unit.</a:t>
            </a:r>
          </a:p>
          <a:p>
            <a:r>
              <a:rPr lang="en-US" dirty="0"/>
              <a:t>What is intelligence, and do LLMs have it?</a:t>
            </a:r>
          </a:p>
          <a:p>
            <a:r>
              <a:rPr lang="en-US" dirty="0"/>
              <a:t>What is meaning, and can it arise from statistical patterns over language alone?</a:t>
            </a:r>
          </a:p>
          <a:p>
            <a:r>
              <a:rPr lang="en-US" dirty="0"/>
              <a:t>Is embodied experience necessary for genuine cognition, or can language-only learning get you most of the way there?</a:t>
            </a:r>
          </a:p>
          <a:p>
            <a:r>
              <a:rPr lang="en-US" dirty="0"/>
              <a:t>These questions long predate LLMs, but LLMs have made them much harder to dismiss as merely academic.</a:t>
            </a:r>
          </a:p>
          <a:p>
            <a:endParaRPr lang="en-US" dirty="0"/>
          </a:p>
          <a:p>
            <a:r>
              <a:rPr lang="en-US" dirty="0"/>
              <a:t>The debate topics in this cluster draw directly on classic literature in philosophy of mind and cognitive science.</a:t>
            </a:r>
          </a:p>
          <a:p>
            <a:r>
              <a:rPr lang="en-US" dirty="0"/>
              <a:t>The symbols debate connects to the Fodor-versus-connectionism arguments of the 1980s and 90s.</a:t>
            </a:r>
          </a:p>
          <a:p>
            <a:r>
              <a:rPr lang="en-US" dirty="0"/>
              <a:t>The grounding question draws on Harnad, Searle, and the broader grounding problem literature.</a:t>
            </a:r>
          </a:p>
          <a:p>
            <a:r>
              <a:rPr lang="en-US" dirty="0"/>
              <a:t>Marr's levels of explanation are central to the levels-of-analysis topic.</a:t>
            </a:r>
          </a:p>
          <a:p>
            <a:r>
              <a:rPr lang="en-US" dirty="0"/>
              <a:t>Your background in psychology gives you real purchase on these questions.</a:t>
            </a:r>
          </a:p>
          <a:p>
            <a:endParaRPr lang="en-US" dirty="0"/>
          </a:p>
          <a:p>
            <a:r>
              <a:rPr lang="en-US" dirty="0"/>
              <a:t>What LLMs add is a new kind of test case.</a:t>
            </a:r>
          </a:p>
          <a:p>
            <a:r>
              <a:rPr lang="en-US" dirty="0"/>
              <a:t>We've never before had systems that perform so well on language-based benchmarks while being so clearly different from biological minds in architecture, training, and embodiment.</a:t>
            </a:r>
          </a:p>
          <a:p>
            <a:r>
              <a:rPr lang="en-US" dirty="0"/>
              <a:t>They let us ask old questions in a new empirical register.</a:t>
            </a:r>
          </a:p>
          <a:p>
            <a:r>
              <a:rPr lang="en-US" dirty="0"/>
              <a:t>Is behavioral performance sufficient for intelligence? Is distributional learning sufficient for meaning? These are no longer just thought experiments.</a:t>
            </a:r>
          </a:p>
          <a:p>
            <a:endParaRPr lang="en-US" dirty="0"/>
          </a:p>
          <a:p>
            <a:r>
              <a:rPr lang="en-US" dirty="0"/>
              <a:t>On Wednesday, you'll form your group, choose a topic, and begin applying the framework.</a:t>
            </a:r>
          </a:p>
          <a:p>
            <a:r>
              <a:rPr lang="en-US" dirty="0"/>
              <a:t>Come ready to select based on what you find genuinely interesting — the analysis goes better when the question matters to you personally.</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pre-work goal is a genuine first draft, not a polished product.</a:t>
            </a:r>
          </a:p>
          <a:p>
            <a:r>
              <a:rPr lang="en-US" dirty="0"/>
              <a:t>Work through all six analysis questions for your chosen topic.</a:t>
            </a:r>
          </a:p>
          <a:p>
            <a:r>
              <a:rPr lang="en-US" dirty="0"/>
              <a:t>Some answers will be longer and more developed; others might just be a sentence or two noting where you're uncertain.</a:t>
            </a:r>
          </a:p>
          <a:p>
            <a:r>
              <a:rPr lang="en-US" dirty="0"/>
              <a:t>Both are useful — the point is to have something to bring to the conversation.</a:t>
            </a:r>
          </a:p>
          <a:p>
            <a:endParaRPr lang="en-US" dirty="0"/>
          </a:p>
          <a:p>
            <a:r>
              <a:rPr lang="en-US" dirty="0"/>
              <a:t>Use a mix of sources: the topic descriptions and starter arguments in the course materials, background readings you find yourself, and LLMs if you want — just disclose it in the designated section.</a:t>
            </a:r>
          </a:p>
          <a:p>
            <a:r>
              <a:rPr lang="en-US" dirty="0"/>
              <a:t>Using an LLM to help you think through a debate about LLMs is not just permitted — it's actually a meta-interesting thing to do.</a:t>
            </a:r>
          </a:p>
          <a:p>
            <a:r>
              <a:rPr lang="en-US" dirty="0"/>
              <a:t>Pay attention to how it responds and whether its answers reveal anything about the topic itself.</a:t>
            </a:r>
          </a:p>
          <a:p>
            <a:endParaRPr lang="en-US" dirty="0"/>
          </a:p>
          <a:p>
            <a:r>
              <a:rPr lang="en-US" dirty="0"/>
              <a:t>The topic descriptions, starter arguments, and a blank six-question analysis template will be posted to the course site tonight.</a:t>
            </a:r>
          </a:p>
          <a:p>
            <a:r>
              <a:rPr lang="en-US" dirty="0"/>
              <a:t>The template follows the six-question framework from the class discussion — one section per step.</a:t>
            </a:r>
          </a:p>
          <a:p>
            <a:r>
              <a:rPr lang="en-US" dirty="0"/>
              <a:t>If you're unsure how to approach any of the steps, the background logic readings and lecture slides from earlier in the semester are still available.</a:t>
            </a:r>
          </a:p>
          <a:p>
            <a:endParaRPr lang="en-US" dirty="0"/>
          </a:p>
          <a:p>
            <a:r>
              <a:rPr lang="en-US" dirty="0"/>
              <a:t>If anything from today's lecture was unclear, my office hours are Thursday 2–4 PM, or you can reach me by email.</a:t>
            </a:r>
          </a:p>
          <a:p>
            <a:r>
              <a:rPr lang="en-US" dirty="0"/>
              <a:t>It's better to ask a clarifying question now than to spend your pre-work time heading in the wrong direction.</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wrap up, a few logistical items.</a:t>
            </a:r>
          </a:p>
          <a:p>
            <a:r>
              <a:rPr lang="en-US" dirty="0"/>
              <a:t>Everything you need to do the pre-work — topic descriptions, starter arguments, the blank analysis template — will be on the course site by this evening.</a:t>
            </a:r>
          </a:p>
          <a:p>
            <a:r>
              <a:rPr lang="en-US" dirty="0"/>
              <a:t>The template is structured to walk you through all six steps, so you don't have to remember them from today's lecture.</a:t>
            </a:r>
          </a:p>
          <a:p>
            <a:endParaRPr lang="en-US" dirty="0"/>
          </a:p>
          <a:p>
            <a:r>
              <a:rPr lang="en-US" dirty="0"/>
              <a:t>If the validity and soundness material felt unfamiliar or rusty, the background logic readings and the three logic lecture slide decks from earlier in the semester are worth a review.</a:t>
            </a:r>
          </a:p>
          <a:p>
            <a:r>
              <a:rPr lang="en-US" dirty="0"/>
              <a:t>They cover everything we discussed today on argument structure, validity, soundness, and fallacies in more depth and with more worked examples.</a:t>
            </a:r>
          </a:p>
          <a:p>
            <a:r>
              <a:rPr lang="en-US" dirty="0"/>
              <a:t>Those materials are in the Background Readings folder in the course materials.</a:t>
            </a:r>
          </a:p>
          <a:p>
            <a:endParaRPr lang="en-US" dirty="0"/>
          </a:p>
          <a:p>
            <a:r>
              <a:rPr lang="en-US" dirty="0"/>
              <a:t>A note on the LLM disclosure policy: if you use any LLM — ChatGPT, Claude, Gemini, anything — in the course of your pre-work, you need to note it in your analysis document.</a:t>
            </a:r>
          </a:p>
          <a:p>
            <a:r>
              <a:rPr lang="en-US" dirty="0"/>
              <a:t>The only way to get into trouble in this course for using an LLM is not disclosing it.</a:t>
            </a:r>
          </a:p>
          <a:p>
            <a:r>
              <a:rPr lang="en-US" dirty="0"/>
              <a:t>Using one is fine, and as I said, it's actually interesting to do given what we're studying.</a:t>
            </a:r>
          </a:p>
          <a:p>
            <a:endParaRPr lang="en-US" dirty="0"/>
          </a:p>
          <a:p>
            <a:r>
              <a:rPr lang="en-US" dirty="0"/>
              <a:t>See you Wednesday.</a:t>
            </a:r>
          </a:p>
          <a:p>
            <a:r>
              <a:rPr lang="en-US" dirty="0"/>
              <a:t>Come with a draft — even a rough one is better than nothing.</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863840" y="4864608"/>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07372"/>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863840" y="4864608"/>
            <a:ext cx="800000" cy="300000"/>
          </a:xfrm>
          <a:prstGeom prst="rect">
            <a:avLst/>
          </a:prstGeom>
          <a:extLst>
            <a:ext uri="{C572A759-6A51-4108-AA02-DFA0A04FC94B}">
              <ma14:wrappingTextBoxFlag xmlns:ma14="http://schemas.microsoft.com/office/mac/drawingml/2011/main" xmlns="" val="0"/>
            </a:ext>
          </a:extLst>
        </p:spPr>
        <p:txBody>
          <a:bodyPr/>
          <a:lstStyle>
            <a:lvl1pPr>
              <a:defRPr sz="1200">
                <a:solidFill>
                  <a:srgbClr val="707372"/>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5F05"/>
        </a:solidFill>
        <a:effectLst/>
      </p:bgPr>
    </p:bg>
    <p:spTree>
      <p:nvGrpSpPr>
        <p:cNvPr id="1" name=""/>
        <p:cNvGrpSpPr/>
        <p:nvPr/>
      </p:nvGrpSpPr>
      <p:grpSpPr>
        <a:xfrm>
          <a:off x="0" y="0"/>
          <a:ext cx="0" cy="0"/>
          <a:chOff x="0" y="0"/>
          <a:chExt cx="0" cy="0"/>
        </a:xfrm>
      </p:grpSpPr>
      <p:sp>
        <p:nvSpPr>
          <p:cNvPr id="3" name="Text 0"/>
          <p:cNvSpPr/>
          <p:nvPr/>
        </p:nvSpPr>
        <p:spPr>
          <a:xfrm>
            <a:off x="754144" y="1054153"/>
            <a:ext cx="8056147" cy="1758099"/>
          </a:xfrm>
          <a:prstGeom prst="rect">
            <a:avLst/>
          </a:prstGeom>
          <a:noFill/>
          <a:ln/>
        </p:spPr>
        <p:txBody>
          <a:bodyPr wrap="square" rtlCol="0" anchor="ctr"/>
          <a:lstStyle/>
          <a:p>
            <a:pPr marL="0" indent="0" algn="l">
              <a:buNone/>
            </a:pPr>
            <a:r>
              <a:rPr lang="en-US" sz="5600" b="1" dirty="0">
                <a:solidFill>
                  <a:srgbClr val="FFFFFF"/>
                </a:solidFill>
                <a:latin typeface="Calibri" panose="020F0502020204030204" pitchFamily="34" charset="0"/>
                <a:ea typeface="Cambria" pitchFamily="34" charset="-122"/>
                <a:cs typeface="Calibri" panose="020F0502020204030204" pitchFamily="34" charset="0"/>
              </a:rPr>
              <a:t>Analyzing LLM Debates</a:t>
            </a:r>
            <a:endParaRPr lang="en-US" sz="5600" dirty="0">
              <a:latin typeface="Calibri" panose="020F0502020204030204" pitchFamily="34" charset="0"/>
              <a:cs typeface="Calibri" panose="020F0502020204030204" pitchFamily="34" charset="0"/>
            </a:endParaRPr>
          </a:p>
        </p:txBody>
      </p:sp>
      <p:sp>
        <p:nvSpPr>
          <p:cNvPr id="4" name="Text 1"/>
          <p:cNvSpPr/>
          <p:nvPr/>
        </p:nvSpPr>
        <p:spPr>
          <a:xfrm>
            <a:off x="838985" y="2469352"/>
            <a:ext cx="7673419" cy="685800"/>
          </a:xfrm>
          <a:prstGeom prst="rect">
            <a:avLst/>
          </a:prstGeom>
          <a:noFill/>
          <a:ln/>
        </p:spPr>
        <p:txBody>
          <a:bodyPr wrap="square" rtlCol="0" anchor="ctr"/>
          <a:lstStyle/>
          <a:p>
            <a:pPr marL="0" indent="0" algn="l">
              <a:buNone/>
            </a:pPr>
            <a:r>
              <a:rPr lang="en-US" sz="2800" b="1" dirty="0">
                <a:solidFill>
                  <a:srgbClr val="13294B"/>
                </a:solidFill>
                <a:latin typeface="Calibri" pitchFamily="34" charset="0"/>
                <a:ea typeface="Calibri" pitchFamily="34" charset="-122"/>
                <a:cs typeface="Calibri" pitchFamily="34" charset="-120"/>
              </a:rPr>
              <a:t>PSYC 496 — Spring 2026 | April 6, 2026</a:t>
            </a:r>
            <a:endParaRPr lang="en-US" sz="28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anose="020F0502020204030204" pitchFamily="34" charset="0"/>
                <a:ea typeface="Cambria" pitchFamily="34" charset="-122"/>
                <a:cs typeface="Calibri" panose="020F0502020204030204" pitchFamily="34" charset="0"/>
              </a:rPr>
              <a:t>Three Units, One Arc</a:t>
            </a:r>
            <a:endParaRPr lang="en-US" sz="4000" dirty="0">
              <a:latin typeface="Calibri" panose="020F0502020204030204" pitchFamily="34" charset="0"/>
              <a:cs typeface="Calibri" panose="020F0502020204030204" pitchFamily="34" charset="0"/>
            </a:endParaRPr>
          </a:p>
        </p:txBody>
      </p:sp>
      <p:sp>
        <p:nvSpPr>
          <p:cNvPr id="4" name="Text 2"/>
          <p:cNvSpPr/>
          <p:nvPr/>
        </p:nvSpPr>
        <p:spPr>
          <a:xfrm>
            <a:off x="274320" y="1005840"/>
            <a:ext cx="8412480" cy="3841200"/>
          </a:xfrm>
          <a:prstGeom prst="rect">
            <a:avLst/>
          </a:prstGeom>
          <a:noFill/>
          <a:ln/>
        </p:spPr>
        <p:txBody>
          <a:bodyPr wrap="square" rtlCol="0" anchor="t"/>
          <a:lstStyle/>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Unit 1: How LLMs Work — the mechanics, the training, the misconceptions</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Unit 2: Using LLMs — hands-on exploration of what they can and can’t do in practice</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Unit 3: Debates — what LLMs mean for intelligence, society, and the future</a:t>
            </a:r>
            <a:endParaRPr lang="en-US" sz="24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This Unit Is Different</a:t>
            </a:r>
            <a:endParaRPr lang="en-US" sz="4000" dirty="0"/>
          </a:p>
        </p:txBody>
      </p:sp>
      <p:sp>
        <p:nvSpPr>
          <p:cNvPr id="4" name="Text 2"/>
          <p:cNvSpPr/>
          <p:nvPr/>
        </p:nvSpPr>
        <p:spPr>
          <a:xfrm>
            <a:off x="180622" y="1005840"/>
            <a:ext cx="7857067"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No lectures — you do the intellectual work in class and before class</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Participation is the grade</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Groups self-select based on shared interest in a topic</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There are no correct answers, but there are better and worse ways to reason</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169332" y="0"/>
            <a:ext cx="8974667"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libri" panose="020F0502020204030204" pitchFamily="34" charset="0"/>
                <a:ea typeface="Cambria" pitchFamily="34" charset="-122"/>
                <a:cs typeface="Calibri" panose="020F0502020204030204" pitchFamily="34" charset="0"/>
              </a:rPr>
              <a:t>Four Clusters, Five Weeks</a:t>
            </a:r>
            <a:endParaRPr lang="en-US" sz="4000" dirty="0">
              <a:latin typeface="Calibri" panose="020F0502020204030204" pitchFamily="34" charset="0"/>
              <a:cs typeface="Calibri" panose="020F0502020204030204" pitchFamily="34" charset="0"/>
            </a:endParaRPr>
          </a:p>
        </p:txBody>
      </p:sp>
      <p:sp>
        <p:nvSpPr>
          <p:cNvPr id="4" name="Text 2"/>
          <p:cNvSpPr/>
          <p:nvPr/>
        </p:nvSpPr>
        <p:spPr>
          <a:xfrm>
            <a:off x="169332" y="1005840"/>
            <a:ext cx="8517468"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April 8–15: What Do LLMs Tell Us About the Nature of Intelligence, Human and Nonhuman?</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April 20–22: The Impact of LLMs on Human Cognition</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April 27–29: Ethical Issues Involving LLMs and AI</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May 4–6: Are LLMs Dangerous to Humanity?</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How Each Week Works</a:t>
            </a:r>
            <a:endParaRPr lang="en-US" sz="4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Before Monday: complete any individual pre-work using the assigned materials and your own research</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Monday: after a brief topical introduction by me, discuss with your group, compare analyses, update your notes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Wednesday: each group presents a 5-minute summary to the class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Each group member presents one of the six analysis questions</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Choosing Your Sub-Topic</a:t>
            </a:r>
            <a:endParaRPr lang="en-US" sz="4000" dirty="0"/>
          </a:p>
        </p:txBody>
      </p:sp>
      <p:sp>
        <p:nvSpPr>
          <p:cNvPr id="4" name="Text 2"/>
          <p:cNvSpPr/>
          <p:nvPr/>
        </p:nvSpPr>
        <p:spPr>
          <a:xfrm>
            <a:off x="90311" y="1005840"/>
            <a:ext cx="9053689"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At the start of Monday’s class, you’ll see the topic descriptions for that cluster</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Groups form around shared interest — find others who want to analyze the same topic</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If a group is too large, you may need to split or shift to your second choice</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You can change topics between the two weeks of a cluster if you want</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Starter Arguments</a:t>
            </a:r>
            <a:endParaRPr lang="en-US" sz="4000" dirty="0"/>
          </a:p>
        </p:txBody>
      </p:sp>
      <p:sp>
        <p:nvSpPr>
          <p:cNvPr id="4" name="Text 2"/>
          <p:cNvSpPr/>
          <p:nvPr/>
        </p:nvSpPr>
        <p:spPr>
          <a:xfrm>
            <a:off x="135467" y="1005840"/>
            <a:ext cx="8551333" cy="3841200"/>
          </a:xfrm>
          <a:prstGeom prst="rect">
            <a:avLst/>
          </a:prstGeom>
          <a:noFill/>
          <a:ln/>
        </p:spPr>
        <p:txBody>
          <a:bodyPr wrap="square" rtlCol="0" anchor="t"/>
          <a:lstStyle/>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Each topic comes with 2–3 pre-written arguments in normal language</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You can use these as your starting point or construct your own argument</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The goal is to have something concrete to analyze right away</a:t>
            </a:r>
            <a:endParaRPr lang="en-US" sz="24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The Problem With Most AI Debates</a:t>
            </a:r>
            <a:endParaRPr lang="en-US" sz="4000" dirty="0"/>
          </a:p>
        </p:txBody>
      </p:sp>
      <p:sp>
        <p:nvSpPr>
          <p:cNvPr id="4" name="Text 2"/>
          <p:cNvSpPr/>
          <p:nvPr/>
        </p:nvSpPr>
        <p:spPr>
          <a:xfrm>
            <a:off x="146756" y="1005840"/>
            <a:ext cx="8905804"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Most public AI discourse clusters into two camps: hype or doom</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These positions often function as tribal identities, not reasoned views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Claims are stated with far more confidence than the evidence warrants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This makes genuine learning and belief revision almost impossible</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A Better Goal: Calibrated Reasoning</a:t>
            </a:r>
            <a:endParaRPr lang="en-US" sz="4000" dirty="0"/>
          </a:p>
        </p:txBody>
      </p:sp>
      <p:sp>
        <p:nvSpPr>
          <p:cNvPr id="4" name="Text 2"/>
          <p:cNvSpPr/>
          <p:nvPr/>
        </p:nvSpPr>
        <p:spPr>
          <a:xfrm>
            <a:off x="0" y="1005840"/>
            <a:ext cx="91440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The goal is not to win — it is to reason well under uncertainty</a:t>
            </a:r>
          </a:p>
          <a:p>
            <a:pPr marL="342900" indent="-342900" algn="l">
              <a:buSzPct val="100000"/>
              <a:buChar char="•"/>
            </a:pPr>
            <a:endParaRPr lang="en-US" sz="1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Calibrated reasoning means your confidence tracks the strength of the evidence</a:t>
            </a:r>
          </a:p>
          <a:p>
            <a:pPr marL="342900" indent="-342900" algn="l">
              <a:buSzPct val="100000"/>
              <a:buChar char="•"/>
            </a:pPr>
            <a:endParaRPr lang="en-US" sz="1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This requires separating what we know, what we believe, and what we value</a:t>
            </a:r>
          </a:p>
          <a:p>
            <a:pPr marL="342900" indent="-342900" algn="l">
              <a:buSzPct val="100000"/>
              <a:buChar char="•"/>
            </a:pPr>
            <a:endParaRPr lang="en-US" sz="1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Good epistemic practice is compatible with having real, substantive positions</a:t>
            </a:r>
          </a:p>
          <a:p>
            <a:pPr marL="342900" indent="-342900" algn="l">
              <a:buSzPct val="100000"/>
              <a:buChar char="•"/>
            </a:pPr>
            <a:endParaRPr lang="en-US" sz="1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“AI will definitely replace all writers” vs. “AI tools are changing some writing workflows, but strong claims about complete replacement outrun the evidence”</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The Epistemic Analysis Framework</a:t>
            </a:r>
            <a:endParaRPr lang="en-US" sz="4000" dirty="0"/>
          </a:p>
        </p:txBody>
      </p:sp>
      <p:sp>
        <p:nvSpPr>
          <p:cNvPr id="4" name="Text 2"/>
          <p:cNvSpPr/>
          <p:nvPr/>
        </p:nvSpPr>
        <p:spPr>
          <a:xfrm>
            <a:off x="158044" y="1005840"/>
            <a:ext cx="8528756"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1: Identify the argument — write out premises and conclusion</a:t>
            </a: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2: Evaluate validity and soundness — check logical structure and premise quality</a:t>
            </a: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3: Classify the premises — empirical vs. non-empirical</a:t>
            </a: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4: Evaluate the existing evidence — quality, scope, and limitations</a:t>
            </a: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5: Specify the missing data — what would resolve the open empirical questions</a:t>
            </a: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Step 6: Address non-empirical premises — values, concepts, and how to handle disagreement</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Step 1: Identify the Argument</a:t>
            </a:r>
            <a:endParaRPr lang="en-US" sz="4000" dirty="0"/>
          </a:p>
        </p:txBody>
      </p:sp>
      <p:sp>
        <p:nvSpPr>
          <p:cNvPr id="4" name="Text 2"/>
          <p:cNvSpPr/>
          <p:nvPr/>
        </p:nvSpPr>
        <p:spPr>
          <a:xfrm>
            <a:off x="0" y="1005840"/>
            <a:ext cx="905256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Write out the argument in standard form — do not leave premises implicit</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Standard form: Premise 1, Premise 2, therefore Conclusion</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Draw an argument diagram to show which premises support which claims</a:t>
            </a:r>
            <a:endParaRPr lang="en-US" sz="2200" dirty="0"/>
          </a:p>
          <a:p>
            <a:pPr marL="342900" indent="-342900" algn="l">
              <a:buSzPct val="100000"/>
              <a:buChar char="•"/>
            </a:pPr>
            <a:endParaRPr lang="en-US" sz="22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Many apparent disagreements disappear once the argument is written down explicitly</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Step 1 in Action: Surfacing Hidden Premises</a:t>
            </a:r>
            <a:endParaRPr lang="en-US" sz="3000" dirty="0"/>
          </a:p>
        </p:txBody>
      </p:sp>
      <p:sp>
        <p:nvSpPr>
          <p:cNvPr id="4" name="Text 2"/>
          <p:cNvSpPr/>
          <p:nvPr/>
        </p:nvSpPr>
        <p:spPr>
          <a:xfrm>
            <a:off x="135467" y="1005840"/>
            <a:ext cx="8551333"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“AI keeps getting smarter every year. Eventually it will surpass us, and at that point we won’t be able to control it.”</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P1: AI capabilities have improved significantly in recent decades. [stated]</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P2: This rate of improvement will continue until AI surpasses human intelligence. [hidden]</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P3: A superintelligent AI will necessarily behave in ways humans cannot control. [hidden]</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 Therefore, AI will eventually become uncontrollable.</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12</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Step 2: Validity and Soundness</a:t>
            </a:r>
            <a:endParaRPr lang="en-US" sz="4000" dirty="0"/>
          </a:p>
        </p:txBody>
      </p:sp>
      <p:sp>
        <p:nvSpPr>
          <p:cNvPr id="4" name="Text 2"/>
          <p:cNvSpPr/>
          <p:nvPr/>
        </p:nvSpPr>
        <p:spPr>
          <a:xfrm>
            <a:off x="79022" y="1005840"/>
            <a:ext cx="8778240"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A valid argument: if all premises were true, the conclusion must follow</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A sound argument: valid AND has premises that are actually true</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Validity is about logical structure; soundness is about the real world</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In most LLM debates, checking soundness — not validity — is where the real work is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Example: “LLMs are trained on human text, so they reason the way humans do” — valid structure, but is the connection between training data and reasoning actually sound?</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Validity and Soundness in Practice</a:t>
            </a:r>
            <a:endParaRPr lang="en-US" sz="4000" dirty="0"/>
          </a:p>
        </p:txBody>
      </p:sp>
      <p:sp>
        <p:nvSpPr>
          <p:cNvPr id="4" name="Shape 2"/>
          <p:cNvSpPr/>
          <p:nvPr/>
        </p:nvSpPr>
        <p:spPr>
          <a:xfrm>
            <a:off x="4572000" y="1097280"/>
            <a:ext cx="0" cy="3383280"/>
          </a:xfrm>
          <a:prstGeom prst="line">
            <a:avLst/>
          </a:prstGeom>
          <a:noFill/>
          <a:ln w="12700">
            <a:solidFill>
              <a:srgbClr val="C8C6C7"/>
            </a:solidFill>
            <a:prstDash val="solid"/>
          </a:ln>
        </p:spPr>
        <p:txBody>
          <a:bodyPr/>
          <a:lstStyle/>
          <a:p>
            <a:endParaRPr lang="en-US"/>
          </a:p>
        </p:txBody>
      </p:sp>
      <p:sp>
        <p:nvSpPr>
          <p:cNvPr id="5" name="Text 3"/>
          <p:cNvSpPr/>
          <p:nvPr/>
        </p:nvSpPr>
        <p:spPr>
          <a:xfrm>
            <a:off x="3657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Valid but unsound</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P1: Any system that uses words in contextually appropriate ways understands language.</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P2: LLMs use words in contextually appropriate ways.</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 LLMs understand language. [Valid — but is P1 actually true?]</a:t>
            </a:r>
            <a:endParaRPr lang="en-US" sz="1900" dirty="0"/>
          </a:p>
        </p:txBody>
      </p:sp>
      <p:sp>
        <p:nvSpPr>
          <p:cNvPr id="6" name="Text 4"/>
          <p:cNvSpPr/>
          <p:nvPr/>
        </p:nvSpPr>
        <p:spPr>
          <a:xfrm>
            <a:off x="47091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Invalid</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P1: LLMs sometimes fail at simple logical reasoning tasks.</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 Therefore, LLMs cannot reason.</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[What premise would be needed to make this argument work?]</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Testing Validity: The Counterexample Method</a:t>
            </a:r>
            <a:endParaRPr lang="en-US" sz="3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To test validity, try to imagine a world where all premises are true but the conclusion is still false</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If you can describe such a scenario, the argument is invalid</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This is called the counterexample method — the most intuitive validity test</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Finding a counterexample shows the premises don’t guarantee the conclusion</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Testing Validity: Truth Tables</a:t>
            </a:r>
            <a:endParaRPr lang="en-US" sz="4000" dirty="0"/>
          </a:p>
        </p:txBody>
      </p:sp>
      <p:sp>
        <p:nvSpPr>
          <p:cNvPr id="4" name="Text 2"/>
          <p:cNvSpPr/>
          <p:nvPr/>
        </p:nvSpPr>
        <p:spPr>
          <a:xfrm>
            <a:off x="101600" y="1005840"/>
            <a:ext cx="85852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 truth table maps every possible combination of truth values for an argument’s premises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If any row has all true premises and a false conclusion, the argument is invalid</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No such row means the argument is valid</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Truth tables are most useful for short arguments with 2–3 premises</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Two Kinds of Fallacies</a:t>
            </a:r>
            <a:endParaRPr lang="en-US" sz="4000" dirty="0"/>
          </a:p>
        </p:txBody>
      </p:sp>
      <p:sp>
        <p:nvSpPr>
          <p:cNvPr id="4" name="Shape 2"/>
          <p:cNvSpPr/>
          <p:nvPr/>
        </p:nvSpPr>
        <p:spPr>
          <a:xfrm>
            <a:off x="4572000" y="1097280"/>
            <a:ext cx="0" cy="3383280"/>
          </a:xfrm>
          <a:prstGeom prst="line">
            <a:avLst/>
          </a:prstGeom>
          <a:noFill/>
          <a:ln w="12700">
            <a:solidFill>
              <a:srgbClr val="C8C6C7"/>
            </a:solidFill>
            <a:prstDash val="solid"/>
          </a:ln>
        </p:spPr>
        <p:txBody>
          <a:bodyPr/>
          <a:lstStyle/>
          <a:p>
            <a:endParaRPr lang="en-US"/>
          </a:p>
        </p:txBody>
      </p:sp>
      <p:sp>
        <p:nvSpPr>
          <p:cNvPr id="5" name="Text 3"/>
          <p:cNvSpPr/>
          <p:nvPr/>
        </p:nvSpPr>
        <p:spPr>
          <a:xfrm>
            <a:off x="365760" y="1005840"/>
            <a:ext cx="4069080" cy="3841200"/>
          </a:xfrm>
          <a:prstGeom prst="rect">
            <a:avLst/>
          </a:prstGeom>
          <a:noFill/>
          <a:ln/>
        </p:spPr>
        <p:txBody>
          <a:bodyPr wrap="square" rtlCol="0" anchor="t"/>
          <a:lstStyle/>
          <a:p>
            <a:pPr marL="0" indent="0" algn="l">
              <a:buNone/>
            </a:pPr>
            <a:r>
              <a:rPr lang="en-US" sz="2000" b="1" dirty="0">
                <a:solidFill>
                  <a:srgbClr val="13294B"/>
                </a:solidFill>
                <a:latin typeface="Calibri" pitchFamily="34" charset="0"/>
                <a:ea typeface="Calibri" pitchFamily="34" charset="-122"/>
                <a:cs typeface="Calibri" pitchFamily="34" charset="-120"/>
              </a:rPr>
              <a:t>Formal fallacies</a:t>
            </a:r>
            <a:endParaRPr lang="en-US" sz="2000" dirty="0"/>
          </a:p>
          <a:p>
            <a:pPr marL="0" indent="0" algn="l">
              <a:buNone/>
            </a:pPr>
            <a:r>
              <a:rPr lang="en-US" sz="900" dirty="0">
                <a:solidFill>
                  <a:srgbClr val="000000"/>
                </a:solidFill>
                <a:latin typeface="Calibri" pitchFamily="34" charset="0"/>
              </a:rPr>
              <a:t> </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Errors of logical structure</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The argument is invalid regardless of content</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Relatively rare in LLM debates</a:t>
            </a:r>
            <a:endParaRPr lang="en-US" sz="2000" dirty="0"/>
          </a:p>
        </p:txBody>
      </p:sp>
      <p:sp>
        <p:nvSpPr>
          <p:cNvPr id="6" name="Text 4"/>
          <p:cNvSpPr/>
          <p:nvPr/>
        </p:nvSpPr>
        <p:spPr>
          <a:xfrm>
            <a:off x="4709160" y="1005840"/>
            <a:ext cx="4069080" cy="3841200"/>
          </a:xfrm>
          <a:prstGeom prst="rect">
            <a:avLst/>
          </a:prstGeom>
          <a:noFill/>
          <a:ln/>
        </p:spPr>
        <p:txBody>
          <a:bodyPr wrap="square" rtlCol="0" anchor="t"/>
          <a:lstStyle/>
          <a:p>
            <a:pPr marL="0" indent="0" algn="l">
              <a:buNone/>
            </a:pPr>
            <a:r>
              <a:rPr lang="en-US" sz="2000" b="1" dirty="0">
                <a:solidFill>
                  <a:srgbClr val="13294B"/>
                </a:solidFill>
                <a:latin typeface="Calibri" pitchFamily="34" charset="0"/>
                <a:ea typeface="Calibri" pitchFamily="34" charset="-122"/>
                <a:cs typeface="Calibri" pitchFamily="34" charset="-120"/>
              </a:rPr>
              <a:t>Informal fallacies</a:t>
            </a:r>
            <a:endParaRPr lang="en-US" sz="2000" dirty="0"/>
          </a:p>
          <a:p>
            <a:pPr marL="0" indent="0" algn="l">
              <a:buNone/>
            </a:pPr>
            <a:r>
              <a:rPr lang="en-US" sz="900" dirty="0">
                <a:solidFill>
                  <a:srgbClr val="000000"/>
                </a:solidFill>
                <a:latin typeface="Calibri" pitchFamily="34" charset="0"/>
              </a:rPr>
              <a:t> </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Errors in the premises</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Argument may be valid but relies on bad premises</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The norm in LLM debates</a:t>
            </a: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Our framework focuses most attention here</a:t>
            </a:r>
            <a:endParaRPr lang="en-US" sz="20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3000" b="1" dirty="0">
                <a:solidFill>
                  <a:srgbClr val="FFFFFF"/>
                </a:solidFill>
                <a:latin typeface="Cambria" pitchFamily="34" charset="0"/>
                <a:ea typeface="Cambria" pitchFamily="34" charset="-122"/>
                <a:cs typeface="Cambria" pitchFamily="34" charset="-120"/>
              </a:rPr>
              <a:t>A Formal Fallacy: Affirming the Consequent</a:t>
            </a:r>
            <a:endParaRPr lang="en-US" sz="3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P1: If LLMs understand language, they can pass language tests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P2: LLMs can pass language tests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C: Therefore, LLMs understand language</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This argument is invalid — passing the test is consistent with many explanations, not just understanding</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Informal Fallacies in LLM Debates</a:t>
            </a:r>
            <a:endParaRPr lang="en-US" sz="4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b="1" dirty="0">
                <a:solidFill>
                  <a:srgbClr val="000000"/>
                </a:solidFill>
                <a:latin typeface="Calibri" pitchFamily="34" charset="0"/>
                <a:ea typeface="Calibri" pitchFamily="34" charset="-122"/>
                <a:cs typeface="Calibri" pitchFamily="34" charset="-120"/>
              </a:rPr>
              <a:t>Slippery slope</a:t>
            </a:r>
            <a:r>
              <a:rPr lang="en-US" sz="2200" dirty="0">
                <a:solidFill>
                  <a:srgbClr val="000000"/>
                </a:solidFill>
                <a:latin typeface="Calibri" pitchFamily="34" charset="0"/>
                <a:ea typeface="Calibri" pitchFamily="34" charset="-122"/>
                <a:cs typeface="Calibri" pitchFamily="34" charset="-120"/>
              </a:rPr>
              <a:t>: assumes a chain of consequences without evidence that each link holds</a:t>
            </a:r>
          </a:p>
          <a:p>
            <a:pPr marL="342900" indent="-342900" algn="l">
              <a:buSzPct val="100000"/>
              <a:buChar char="•"/>
            </a:pPr>
            <a:endParaRPr lang="en-US" sz="2200" dirty="0"/>
          </a:p>
          <a:p>
            <a:pPr marL="342900" indent="-342900" algn="l">
              <a:buSzPct val="100000"/>
              <a:buChar char="•"/>
            </a:pPr>
            <a:r>
              <a:rPr lang="en-US" sz="2200" b="1" dirty="0">
                <a:solidFill>
                  <a:srgbClr val="000000"/>
                </a:solidFill>
                <a:latin typeface="Calibri" pitchFamily="34" charset="0"/>
                <a:ea typeface="Calibri" pitchFamily="34" charset="-122"/>
                <a:cs typeface="Calibri" pitchFamily="34" charset="-120"/>
              </a:rPr>
              <a:t>False dilemma</a:t>
            </a:r>
            <a:r>
              <a:rPr lang="en-US" sz="2200" dirty="0">
                <a:solidFill>
                  <a:srgbClr val="000000"/>
                </a:solidFill>
                <a:latin typeface="Calibri" pitchFamily="34" charset="0"/>
                <a:ea typeface="Calibri" pitchFamily="34" charset="-122"/>
                <a:cs typeface="Calibri" pitchFamily="34" charset="-120"/>
              </a:rPr>
              <a:t>: collapses a complex issue into only two options</a:t>
            </a:r>
          </a:p>
          <a:p>
            <a:pPr marL="342900" indent="-342900" algn="l">
              <a:buSzPct val="100000"/>
              <a:buChar char="•"/>
            </a:pPr>
            <a:endParaRPr lang="en-US" sz="2200" dirty="0"/>
          </a:p>
          <a:p>
            <a:pPr marL="342900" indent="-342900" algn="l">
              <a:buSzPct val="100000"/>
              <a:buChar char="•"/>
            </a:pPr>
            <a:r>
              <a:rPr lang="en-US" sz="2200" b="1" dirty="0">
                <a:solidFill>
                  <a:srgbClr val="000000"/>
                </a:solidFill>
                <a:latin typeface="Calibri" pitchFamily="34" charset="0"/>
                <a:ea typeface="Calibri" pitchFamily="34" charset="-122"/>
                <a:cs typeface="Calibri" pitchFamily="34" charset="-120"/>
              </a:rPr>
              <a:t>Appeal to nature</a:t>
            </a:r>
            <a:r>
              <a:rPr lang="en-US" sz="2200" dirty="0">
                <a:solidFill>
                  <a:srgbClr val="000000"/>
                </a:solidFill>
                <a:latin typeface="Calibri" pitchFamily="34" charset="0"/>
                <a:ea typeface="Calibri" pitchFamily="34" charset="-122"/>
                <a:cs typeface="Calibri" pitchFamily="34" charset="-120"/>
              </a:rPr>
              <a:t>: treats natural cognition as superior simply</a:t>
            </a:r>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 because it is natural</a:t>
            </a:r>
          </a:p>
          <a:p>
            <a:pPr marL="342900" indent="-342900" algn="l">
              <a:buSzPct val="100000"/>
              <a:buChar char="•"/>
            </a:pPr>
            <a:endParaRPr lang="en-US" sz="2200" dirty="0"/>
          </a:p>
          <a:p>
            <a:pPr marL="342900" indent="-342900" algn="l">
              <a:buSzPct val="100000"/>
              <a:buChar char="•"/>
            </a:pPr>
            <a:r>
              <a:rPr lang="en-US" sz="2200" b="1" dirty="0">
                <a:solidFill>
                  <a:srgbClr val="000000"/>
                </a:solidFill>
                <a:latin typeface="Calibri" pitchFamily="34" charset="0"/>
                <a:ea typeface="Calibri" pitchFamily="34" charset="-122"/>
                <a:cs typeface="Calibri" pitchFamily="34" charset="-120"/>
              </a:rPr>
              <a:t>Begging the question</a:t>
            </a:r>
            <a:r>
              <a:rPr lang="en-US" sz="2200" dirty="0">
                <a:solidFill>
                  <a:srgbClr val="000000"/>
                </a:solidFill>
                <a:latin typeface="Calibri" pitchFamily="34" charset="0"/>
                <a:ea typeface="Calibri" pitchFamily="34" charset="-122"/>
                <a:cs typeface="Calibri" pitchFamily="34" charset="-120"/>
              </a:rPr>
              <a:t>: includes the conclusion as a hidden premise</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Slippery Slope in Practice</a:t>
            </a:r>
            <a:endParaRPr lang="en-US" sz="4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“Once we allow AI to write reports, it will write emails, then make decisions, then eventually replace human judgment entirely.”</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P1: Normalizing AI report-writing makes AI-assisted email writing more socially acceptable. [supported?]</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P2: Normalized AI email writing makes AI decision-making more acceptable. [supported?]</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P3: Normalized AI decision-making leads to replacing human judgment entirely. [supported?]</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 Allowing AI to write reports leads to AI replacing human judgment.</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Step 3: Classify the Premises</a:t>
            </a:r>
            <a:endParaRPr lang="en-US" sz="4000" dirty="0"/>
          </a:p>
        </p:txBody>
      </p:sp>
      <p:sp>
        <p:nvSpPr>
          <p:cNvPr id="4" name="Text 2"/>
          <p:cNvSpPr/>
          <p:nvPr/>
        </p:nvSpPr>
        <p:spPr>
          <a:xfrm>
            <a:off x="112889" y="1005840"/>
            <a:ext cx="8939671"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For each premise, ask: is this a claim about how the world is, or a value or conceptual claim?</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Empirical premises can in principle be tested — evidence could settle them</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Non-empirical premises express values, definitions, or conceptual commitments — evidence can’t directly settle them</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Knowing which is which tells you what kind of reasoning applies to each</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“Students who use LLMs write less well over time” [empirical] vs. “Students have a right to develop skills without AI assistance” [normative]</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Classifying Premises in Practice</a:t>
            </a:r>
            <a:endParaRPr lang="en-US" sz="4000" dirty="0"/>
          </a:p>
        </p:txBody>
      </p:sp>
      <p:sp>
        <p:nvSpPr>
          <p:cNvPr id="4" name="Text 2"/>
          <p:cNvSpPr/>
          <p:nvPr/>
        </p:nvSpPr>
        <p:spPr>
          <a:xfrm>
            <a:off x="135467" y="1005840"/>
            <a:ext cx="8917093" cy="3841200"/>
          </a:xfrm>
          <a:prstGeom prst="rect">
            <a:avLst/>
          </a:prstGeom>
          <a:noFill/>
          <a:ln/>
        </p:spPr>
        <p:txBody>
          <a:bodyPr wrap="square" rtlCol="0" anchor="t"/>
          <a:lstStyle/>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P1: AI capabilities have improved significantly in recent decades. [Empirical — check the historical record]</a:t>
            </a:r>
          </a:p>
          <a:p>
            <a:pPr marL="342900" indent="-342900" algn="l">
              <a:buSzPct val="100000"/>
              <a:buChar char="•"/>
            </a:pP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P2: This rate of improvement will continue until AI surpasses human intelligence. [Empirical — but a forecast; much more uncertain]</a:t>
            </a:r>
          </a:p>
          <a:p>
            <a:pPr marL="342900" indent="-342900" algn="l">
              <a:buSzPct val="100000"/>
              <a:buChar char="•"/>
            </a:pP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P3: A superintelligent AI will necessarily behave in ways humans cannot control. [Mixed — partly empirical, partly conceptual]</a:t>
            </a:r>
            <a:endParaRPr lang="en-US" sz="20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Step 4: Evaluate the Existing Evidence</a:t>
            </a:r>
            <a:endParaRPr lang="en-US" sz="4000" dirty="0"/>
          </a:p>
        </p:txBody>
      </p:sp>
      <p:sp>
        <p:nvSpPr>
          <p:cNvPr id="4" name="Text 2"/>
          <p:cNvSpPr/>
          <p:nvPr/>
        </p:nvSpPr>
        <p:spPr>
          <a:xfrm>
            <a:off x="124178" y="1005840"/>
            <a:ext cx="8562622"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For each empirical premise, take stock of what evidence currently exists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Assess quality: sample size, controls, replication, measurement validity, generalizability</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Watch for common problems: cherry-picked examples, anecdotal scaling, benchmark conflation</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The goal is accuracy about what the evidence actually shows — not dismissal, not overclaiming</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Evaluating Evidence in Practice</a:t>
            </a:r>
            <a:endParaRPr lang="en-US" sz="4000" dirty="0"/>
          </a:p>
        </p:txBody>
      </p:sp>
      <p:sp>
        <p:nvSpPr>
          <p:cNvPr id="4" name="Shape 2"/>
          <p:cNvSpPr/>
          <p:nvPr/>
        </p:nvSpPr>
        <p:spPr>
          <a:xfrm>
            <a:off x="4572000" y="1097280"/>
            <a:ext cx="0" cy="3383280"/>
          </a:xfrm>
          <a:prstGeom prst="line">
            <a:avLst/>
          </a:prstGeom>
          <a:noFill/>
          <a:ln w="12700">
            <a:solidFill>
              <a:srgbClr val="C8C6C7"/>
            </a:solidFill>
            <a:prstDash val="solid"/>
          </a:ln>
        </p:spPr>
        <p:txBody>
          <a:bodyPr/>
          <a:lstStyle/>
          <a:p>
            <a:endParaRPr lang="en-US"/>
          </a:p>
        </p:txBody>
      </p:sp>
      <p:sp>
        <p:nvSpPr>
          <p:cNvPr id="5" name="Text 3"/>
          <p:cNvSpPr/>
          <p:nvPr/>
        </p:nvSpPr>
        <p:spPr>
          <a:xfrm>
            <a:off x="3657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Weaker evidence</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Judges rate AI-assisted essays lower when told AI was used. [Confounded — responding to quality or to attitudes about AI?]</a:t>
            </a:r>
            <a:endParaRPr lang="en-US" sz="1900" dirty="0"/>
          </a:p>
          <a:p>
            <a:pPr marL="342900" indent="-342900" algn="l">
              <a:buSzPct val="100000"/>
              <a:buChar char="•"/>
            </a:pPr>
            <a:endParaRPr lang="en-US" sz="1900" dirty="0">
              <a:solidFill>
                <a:srgbClr val="000000"/>
              </a:solidFill>
              <a:latin typeface="Calibri" pitchFamily="34" charset="0"/>
              <a:ea typeface="Calibri" pitchFamily="34" charset="-122"/>
              <a:cs typeface="Calibri" pitchFamily="34" charset="-120"/>
            </a:endParaRPr>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Semester-long study: less writing improvement in frequent LLM users vs. non-users. [Better design — but one institution, limited generalizability]</a:t>
            </a:r>
            <a:endParaRPr lang="en-US" sz="1900" dirty="0"/>
          </a:p>
        </p:txBody>
      </p:sp>
      <p:sp>
        <p:nvSpPr>
          <p:cNvPr id="6" name="Text 4"/>
          <p:cNvSpPr/>
          <p:nvPr/>
        </p:nvSpPr>
        <p:spPr>
          <a:xfrm>
            <a:off x="47091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Stronger evidence</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Replicated across multiple institutions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Blind raters, multiple writing dimensions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Multi-year follow-up, consistent effect</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Still imperfect — but substantially more trustworthy</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Step 5: Specify What’s Missing</a:t>
            </a:r>
            <a:endParaRPr lang="en-US" sz="4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For unresolved empirical claims, describe what data would actually answer the question</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Be concrete: what is measured, how is it measured, in whom, over what time scale, in what context</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Consider feasibility: is this data ethical, practical, and possible to obtain?</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Naming what we’d need to know is more productive than pretending we already know it</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Specifying Missing Data in Practice</a:t>
            </a:r>
            <a:endParaRPr lang="en-US" sz="4000" dirty="0"/>
          </a:p>
        </p:txBody>
      </p:sp>
      <p:sp>
        <p:nvSpPr>
          <p:cNvPr id="4" name="Text 2"/>
          <p:cNvSpPr/>
          <p:nvPr/>
        </p:nvSpPr>
        <p:spPr>
          <a:xfrm>
            <a:off x="146756" y="1005840"/>
            <a:ext cx="8905804"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Claim: “Regular LLM use causes long-term decline in critical reasoning skills.”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Vague: “We need more research on how LLMs affect thinking.” [Not actionable — can’t design a study from this]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Concrete: Pre/post critical reasoning assessments (validated instrument), randomized to LLM-use vs. non-LLM-use conditions, measured at 1 and 3 years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Feasibility problem: randomly assigning people to “never use LLMs at work” is not feasible in 2026 — what does this mean for establishing causation?</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Step 6: Addressing Non-Empirical Premises</a:t>
            </a:r>
            <a:endParaRPr lang="en-US" sz="3200" dirty="0"/>
          </a:p>
        </p:txBody>
      </p:sp>
      <p:sp>
        <p:nvSpPr>
          <p:cNvPr id="4" name="Text 2"/>
          <p:cNvSpPr/>
          <p:nvPr/>
        </p:nvSpPr>
        <p:spPr>
          <a:xfrm>
            <a:off x="158044" y="1005840"/>
            <a:ext cx="8894516" cy="3841200"/>
          </a:xfrm>
          <a:prstGeom prst="rect">
            <a:avLst/>
          </a:prstGeom>
          <a:noFill/>
          <a:ln/>
        </p:spPr>
        <p:txBody>
          <a:bodyPr wrap="square" rtlCol="0" anchor="t"/>
          <a:lstStyle/>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Non-empirical premises can’t be settled by data — but they can still be evaluated</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Check for internal consistency: are the values applied coherently across cases?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Example: “If you object to LLMs reproducing human style, do you apply the same standard to human writers clearly influenced by others?”</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Make the disagreement explicit rather than pretending it’s purely factual</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Sometimes the right conclusion is: reasonable people disagree, and here is why</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A Consistency Check in Practice</a:t>
            </a:r>
            <a:endParaRPr lang="en-US" sz="4000" dirty="0"/>
          </a:p>
        </p:txBody>
      </p:sp>
      <p:sp>
        <p:nvSpPr>
          <p:cNvPr id="4" name="Shape 2"/>
          <p:cNvSpPr/>
          <p:nvPr/>
        </p:nvSpPr>
        <p:spPr>
          <a:xfrm>
            <a:off x="4572000" y="1097280"/>
            <a:ext cx="0" cy="3383280"/>
          </a:xfrm>
          <a:prstGeom prst="line">
            <a:avLst/>
          </a:prstGeom>
          <a:noFill/>
          <a:ln w="12700">
            <a:solidFill>
              <a:srgbClr val="C8C6C7"/>
            </a:solidFill>
            <a:prstDash val="solid"/>
          </a:ln>
        </p:spPr>
        <p:txBody>
          <a:bodyPr/>
          <a:lstStyle/>
          <a:p>
            <a:endParaRPr lang="en-US"/>
          </a:p>
        </p:txBody>
      </p:sp>
      <p:sp>
        <p:nvSpPr>
          <p:cNvPr id="5" name="Text 3"/>
          <p:cNvSpPr/>
          <p:nvPr/>
        </p:nvSpPr>
        <p:spPr>
          <a:xfrm>
            <a:off x="3657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The value premise</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“LLMs violate the intellectual property rights of the authors they trained on.”</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Consistency check: Does this apply equally to human imitation? To search engines that index copyrighted text? To academics building on prior work?</a:t>
            </a:r>
            <a:endParaRPr lang="en-US" sz="1900" dirty="0"/>
          </a:p>
        </p:txBody>
      </p:sp>
      <p:sp>
        <p:nvSpPr>
          <p:cNvPr id="6" name="Text 4"/>
          <p:cNvSpPr/>
          <p:nvPr/>
        </p:nvSpPr>
        <p:spPr>
          <a:xfrm>
            <a:off x="4709160" y="1005840"/>
            <a:ext cx="4069080" cy="3841200"/>
          </a:xfrm>
          <a:prstGeom prst="rect">
            <a:avLst/>
          </a:prstGeom>
          <a:noFill/>
          <a:ln/>
        </p:spPr>
        <p:txBody>
          <a:bodyPr wrap="square" rtlCol="0" anchor="t"/>
          <a:lstStyle/>
          <a:p>
            <a:pPr marL="0" indent="0" algn="l">
              <a:buNone/>
            </a:pPr>
            <a:r>
              <a:rPr lang="en-US" sz="1900" b="1" dirty="0">
                <a:solidFill>
                  <a:srgbClr val="13294B"/>
                </a:solidFill>
                <a:latin typeface="Calibri" pitchFamily="34" charset="0"/>
                <a:ea typeface="Calibri" pitchFamily="34" charset="-122"/>
                <a:cs typeface="Calibri" pitchFamily="34" charset="-120"/>
              </a:rPr>
              <a:t>What follows</a:t>
            </a:r>
            <a:endParaRPr lang="en-US" sz="1900" dirty="0"/>
          </a:p>
          <a:p>
            <a:pPr marL="0" indent="0" algn="l">
              <a:buNone/>
            </a:pPr>
            <a:r>
              <a:rPr lang="en-US" sz="900" dirty="0">
                <a:solidFill>
                  <a:srgbClr val="000000"/>
                </a:solidFill>
                <a:latin typeface="Calibri" pitchFamily="34" charset="0"/>
              </a:rPr>
              <a:t> </a:t>
            </a: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If yes to all: principle is consistent, but very demanding — most current practice would be in violation</a:t>
            </a:r>
          </a:p>
          <a:p>
            <a:pPr marL="342900" indent="-342900" algn="l">
              <a:buSzPct val="100000"/>
              <a:buChar char="•"/>
            </a:pPr>
            <a:endParaRPr lang="en-US" sz="1900" dirty="0"/>
          </a:p>
          <a:p>
            <a:pPr marL="342900" indent="-342900" algn="l">
              <a:buSzPct val="100000"/>
              <a:buChar char="•"/>
            </a:pPr>
            <a:r>
              <a:rPr lang="en-US" sz="1900" dirty="0">
                <a:solidFill>
                  <a:srgbClr val="000000"/>
                </a:solidFill>
                <a:latin typeface="Calibri" pitchFamily="34" charset="0"/>
                <a:ea typeface="Calibri" pitchFamily="34" charset="-122"/>
                <a:cs typeface="Calibri" pitchFamily="34" charset="-120"/>
              </a:rPr>
              <a:t>If no to most but yes to LLMs: what makes LLMs different? That distinction needs an explicit argument</a:t>
            </a:r>
            <a:endParaRPr lang="en-US" sz="19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3200" b="1" dirty="0">
                <a:solidFill>
                  <a:srgbClr val="FFFFFF"/>
                </a:solidFill>
                <a:latin typeface="Cambria" pitchFamily="34" charset="0"/>
                <a:ea typeface="Cambria" pitchFamily="34" charset="-122"/>
                <a:cs typeface="Cambria" pitchFamily="34" charset="-120"/>
              </a:rPr>
              <a:t>When Moral Claims Hide Empirical Premises</a:t>
            </a:r>
            <a:endParaRPr lang="en-US" sz="3200" dirty="0"/>
          </a:p>
        </p:txBody>
      </p:sp>
      <p:sp>
        <p:nvSpPr>
          <p:cNvPr id="4" name="Text 2"/>
          <p:cNvSpPr/>
          <p:nvPr/>
        </p:nvSpPr>
        <p:spPr>
          <a:xfrm>
            <a:off x="158044" y="1005840"/>
            <a:ext cx="8894516"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Some value claims contain hidden empirical components that can be extracted and tested</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Example: “It is wrong to use LLMs in education because they harm students”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The harm claim is empirical — what does the evidence actually show?</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Extracting hidden empirical premises often makes a debate more tractable</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Coming Up: What Is Intelligence?</a:t>
            </a:r>
            <a:endParaRPr lang="en-US" sz="4000" dirty="0"/>
          </a:p>
        </p:txBody>
      </p:sp>
      <p:sp>
        <p:nvSpPr>
          <p:cNvPr id="4" name="Text 2"/>
          <p:cNvSpPr/>
          <p:nvPr/>
        </p:nvSpPr>
        <p:spPr>
          <a:xfrm>
            <a:off x="101600" y="1005840"/>
            <a:ext cx="8585200" cy="3841200"/>
          </a:xfrm>
          <a:prstGeom prst="rect">
            <a:avLst/>
          </a:prstGeom>
          <a:noFill/>
          <a:ln/>
        </p:spPr>
        <p:txBody>
          <a:bodyPr wrap="square" rtlCol="0" anchor="t"/>
          <a:lstStyle/>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Topics this cluster: What Is Intelligence? Do Cognitive Systems Require Symbols? How Do LLMs Reason?</a:t>
            </a:r>
          </a:p>
          <a:p>
            <a:pPr marL="342900" indent="-342900" algn="l">
              <a:buSzPct val="100000"/>
              <a:buChar char="•"/>
            </a:pP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Also: Representation and Meaning, Agency and Intentionality, Embodiment, LLMs as Models of Cognition, Levels of Explanation</a:t>
            </a:r>
          </a:p>
          <a:p>
            <a:pPr marL="342900" indent="-342900" algn="l">
              <a:buSzPct val="100000"/>
              <a:buChar char="•"/>
            </a:pP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These are foundational debates in cognitive science — LLMs give us a new lens on old questions</a:t>
            </a:r>
          </a:p>
          <a:p>
            <a:pPr marL="342900" indent="-342900" algn="l">
              <a:buSzPct val="100000"/>
              <a:buChar char="•"/>
            </a:pPr>
            <a:endParaRPr lang="en-US" sz="2000" dirty="0"/>
          </a:p>
          <a:p>
            <a:pPr marL="342900" indent="-342900" algn="l">
              <a:buSzPct val="100000"/>
              <a:buChar char="•"/>
            </a:pPr>
            <a:r>
              <a:rPr lang="en-US" sz="2000" dirty="0">
                <a:solidFill>
                  <a:srgbClr val="000000"/>
                </a:solidFill>
                <a:latin typeface="Calibri" pitchFamily="34" charset="0"/>
                <a:ea typeface="Calibri" pitchFamily="34" charset="-122"/>
                <a:cs typeface="Calibri" pitchFamily="34" charset="-120"/>
              </a:rPr>
              <a:t>On Wednesday you’ll choose your topic and begin your group analysis</a:t>
            </a:r>
            <a:endParaRPr lang="en-US" sz="20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Before Wednesday</a:t>
            </a:r>
            <a:endParaRPr lang="en-US" sz="4000" dirty="0"/>
          </a:p>
        </p:txBody>
      </p:sp>
      <p:sp>
        <p:nvSpPr>
          <p:cNvPr id="4" name="Text 2"/>
          <p:cNvSpPr/>
          <p:nvPr/>
        </p:nvSpPr>
        <p:spPr>
          <a:xfrm>
            <a:off x="457200" y="1005840"/>
            <a:ext cx="8229600" cy="3841200"/>
          </a:xfrm>
          <a:prstGeom prst="rect">
            <a:avLst/>
          </a:prstGeom>
          <a:noFill/>
          <a:ln/>
        </p:spPr>
        <p:txBody>
          <a:bodyPr wrap="square" rtlCol="0" anchor="t"/>
          <a:lstStyle/>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Read the topic descriptions for this cluster in the course materials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Review the starter arguments for your chosen topic</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Begin drafting your individual answers to the six analysis questions</a:t>
            </a:r>
          </a:p>
          <a:p>
            <a:pPr marL="342900" indent="-342900" algn="l">
              <a:buSzPct val="100000"/>
              <a:buChar char="•"/>
            </a:pPr>
            <a:endParaRPr lang="en-US" sz="2200" dirty="0"/>
          </a:p>
          <a:p>
            <a:pPr marL="342900" indent="-342900" algn="l">
              <a:buSzPct val="100000"/>
              <a:buChar char="•"/>
            </a:pPr>
            <a:r>
              <a:rPr lang="en-US" sz="2200" dirty="0">
                <a:solidFill>
                  <a:srgbClr val="000000"/>
                </a:solidFill>
                <a:latin typeface="Calibri" pitchFamily="34" charset="0"/>
                <a:ea typeface="Calibri" pitchFamily="34" charset="-122"/>
                <a:cs typeface="Calibri" pitchFamily="34" charset="-120"/>
              </a:rPr>
              <a:t>Come to Wednesday’s class ready to compare your draft with your group</a:t>
            </a:r>
            <a:endParaRPr lang="en-US" sz="22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914400"/>
          </a:xfrm>
          <a:prstGeom prst="rect">
            <a:avLst/>
          </a:prstGeom>
          <a:solidFill>
            <a:srgbClr val="FF5F05"/>
          </a:solidFill>
          <a:ln w="12700">
            <a:solidFill>
              <a:srgbClr val="FF5F05"/>
            </a:solidFill>
            <a:prstDash val="solid"/>
          </a:ln>
        </p:spPr>
        <p:txBody>
          <a:bodyPr/>
          <a:lstStyle/>
          <a:p>
            <a:endParaRPr lang="en-US"/>
          </a:p>
        </p:txBody>
      </p:sp>
      <p:sp>
        <p:nvSpPr>
          <p:cNvPr id="3" name="Text 1"/>
          <p:cNvSpPr/>
          <p:nvPr/>
        </p:nvSpPr>
        <p:spPr>
          <a:xfrm>
            <a:off x="274320" y="0"/>
            <a:ext cx="8778240" cy="914400"/>
          </a:xfrm>
          <a:prstGeom prst="rect">
            <a:avLst/>
          </a:prstGeom>
          <a:noFill/>
          <a:ln/>
        </p:spPr>
        <p:txBody>
          <a:bodyPr wrap="square" lIns="0" tIns="0" rIns="0" bIns="0" rtlCol="0" anchor="ctr"/>
          <a:lstStyle/>
          <a:p>
            <a:pPr marL="0" indent="0" algn="l">
              <a:buNone/>
            </a:pPr>
            <a:r>
              <a:rPr lang="en-US" sz="4000" b="1" dirty="0">
                <a:solidFill>
                  <a:srgbClr val="FFFFFF"/>
                </a:solidFill>
                <a:latin typeface="Cambria" pitchFamily="34" charset="0"/>
                <a:ea typeface="Cambria" pitchFamily="34" charset="-122"/>
                <a:cs typeface="Cambria" pitchFamily="34" charset="-120"/>
              </a:rPr>
              <a:t>Questions?</a:t>
            </a:r>
            <a:endParaRPr lang="en-US" sz="4000" dirty="0"/>
          </a:p>
        </p:txBody>
      </p:sp>
      <p:sp>
        <p:nvSpPr>
          <p:cNvPr id="4" name="Text 2"/>
          <p:cNvSpPr/>
          <p:nvPr/>
        </p:nvSpPr>
        <p:spPr>
          <a:xfrm>
            <a:off x="79022" y="1005840"/>
            <a:ext cx="8607778" cy="3841200"/>
          </a:xfrm>
          <a:prstGeom prst="rect">
            <a:avLst/>
          </a:prstGeom>
          <a:noFill/>
          <a:ln/>
        </p:spPr>
        <p:txBody>
          <a:bodyPr wrap="square" rtlCol="0" anchor="t"/>
          <a:lstStyle/>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Framework handout and topic descriptions posted to the course site tonight</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Background logic lectures and readings are in the course materials</a:t>
            </a:r>
          </a:p>
          <a:p>
            <a:pPr marL="342900" indent="-342900" algn="l">
              <a:buSzPct val="100000"/>
              <a:buChar char="•"/>
            </a:pPr>
            <a:endParaRPr lang="en-US" sz="2400" dirty="0"/>
          </a:p>
          <a:p>
            <a:pPr marL="342900" indent="-342900" algn="l">
              <a:buSzPct val="100000"/>
              <a:buChar char="•"/>
            </a:pPr>
            <a:r>
              <a:rPr lang="en-US" sz="2400" dirty="0">
                <a:solidFill>
                  <a:srgbClr val="000000"/>
                </a:solidFill>
                <a:latin typeface="Calibri" pitchFamily="34" charset="0"/>
                <a:ea typeface="Calibri" pitchFamily="34" charset="-122"/>
                <a:cs typeface="Calibri" pitchFamily="34" charset="-120"/>
              </a:rPr>
              <a:t>Office hours: Thursday 2–4 PM, Psychology Building Room 811</a:t>
            </a:r>
            <a:endParaRPr lang="en-US" sz="2400" dirty="0"/>
          </a:p>
        </p:txBody>
      </p:sp>
      <p:sp>
        <p:nvSpPr>
          <p:cNvPr id="25" name="Slide Number Placeholder 0"/>
          <p:cNvSpPr>
            <a:spLocks noGrp="1"/>
          </p:cNvSpPr>
          <p:nvPr>
            <p:ph type="sldNum" sz="quarter" idx="4294967295"/>
          </p:nvPr>
        </p:nvSpPr>
        <p:spPr>
          <a:xfrm>
            <a:off x="7863840" y="4864608"/>
            <a:ext cx="800000" cy="300000"/>
          </a:xfrm>
          <a:prstGeom prst="rect">
            <a:avLst/>
          </a:prstGeom>
        </p:spPr>
        <p:txBody>
          <a:bodyPr/>
          <a:lstStyle>
            <a:lvl1pPr>
              <a:defRPr sz="1200">
                <a:solidFill>
                  <a:srgbClr val="707372"/>
                </a:solidFill>
                <a:latin typeface="Calibri"/>
              </a:defRPr>
            </a:lvl1pPr>
          </a:lstStyle>
          <a:p>
            <a:pPr algn="l"/>
            <a:fld id="{F7021451-1387-4CA6-816F-3879F97B5CBC}" type="slidenum">
              <a:rPr lang="en-US" b="0"/>
              <a:t>32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160</TotalTime>
  <Words>9840</Words>
  <Application>Microsoft Macintosh PowerPoint</Application>
  <PresentationFormat>On-screen Show (16:9)</PresentationFormat>
  <Paragraphs>780</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UIUC Lecture Template</dc:title>
  <dc:subject>PptxGenJS Presentation</dc:subject>
  <dc:creator>Dr. Jon Willits</dc:creator>
  <cp:lastModifiedBy>Willits, Jon Anthony</cp:lastModifiedBy>
  <cp:revision>3</cp:revision>
  <dcterms:created xsi:type="dcterms:W3CDTF">2026-04-06T17:55:37Z</dcterms:created>
  <dcterms:modified xsi:type="dcterms:W3CDTF">2026-04-06T20:57:20Z</dcterms:modified>
</cp:coreProperties>
</file>